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2.xml" ContentType="application/vnd.openxmlformats-officedocument.drawingml.chart+xml"/>
  <Override PartName="/ppt/notesSlides/notesSlide13.xml" ContentType="application/vnd.openxmlformats-officedocument.presentationml.notesSlide+xml"/>
  <Override PartName="/ppt/charts/chart3.xml" ContentType="application/vnd.openxmlformats-officedocument.drawingml.chart+xml"/>
  <Override PartName="/ppt/notesSlides/notesSlide14.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6.xml" ContentType="application/vnd.openxmlformats-officedocument.drawingml.chart+xml"/>
  <Override PartName="/ppt/notesSlides/notesSlide17.xml" ContentType="application/vnd.openxmlformats-officedocument.presentationml.notesSlide+xml"/>
  <Override PartName="/ppt/charts/chart7.xml" ContentType="application/vnd.openxmlformats-officedocument.drawingml.chart+xml"/>
  <Override PartName="/ppt/notesSlides/notesSlide18.xml" ContentType="application/vnd.openxmlformats-officedocument.presentationml.notesSlide+xml"/>
  <Override PartName="/ppt/charts/chart8.xml" ContentType="application/vnd.openxmlformats-officedocument.drawingml.chart+xml"/>
  <Override PartName="/ppt/notesSlides/notesSlide19.xml" ContentType="application/vnd.openxmlformats-officedocument.presentationml.notesSlide+xml"/>
  <Override PartName="/ppt/charts/chart9.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9" r:id="rId3"/>
    <p:sldId id="260" r:id="rId4"/>
    <p:sldId id="261" r:id="rId5"/>
    <p:sldId id="263" r:id="rId6"/>
    <p:sldId id="264" r:id="rId7"/>
    <p:sldId id="265" r:id="rId8"/>
    <p:sldId id="266" r:id="rId9"/>
    <p:sldId id="267" r:id="rId10"/>
    <p:sldId id="268" r:id="rId11"/>
    <p:sldId id="269" r:id="rId12"/>
    <p:sldId id="271" r:id="rId13"/>
    <p:sldId id="272" r:id="rId14"/>
    <p:sldId id="273" r:id="rId15"/>
    <p:sldId id="274" r:id="rId16"/>
    <p:sldId id="276" r:id="rId17"/>
    <p:sldId id="277" r:id="rId18"/>
    <p:sldId id="278" r:id="rId19"/>
    <p:sldId id="279" r:id="rId20"/>
    <p:sldId id="282" r:id="rId21"/>
    <p:sldId id="284"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6" d="100"/>
          <a:sy n="96" d="100"/>
        </p:scale>
        <p:origin x="149"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Weight</c:v>
                </c:pt>
              </c:strCache>
            </c:strRef>
          </c:tx>
          <c:spPr>
            <a:solidFill>
              <a:srgbClr val="21295C"/>
            </a:solidFill>
            <a:effectLst/>
          </c:spPr>
          <c:invertIfNegative val="0"/>
          <c:dLbls>
            <c:numFmt formatCode="0.00" sourceLinked="0"/>
            <c:spPr>
              <a:noFill/>
              <a:ln>
                <a:noFill/>
              </a:ln>
              <a:effectLst/>
            </c:spPr>
            <c:txPr>
              <a:bodyPr/>
              <a:lstStyle/>
              <a:p>
                <a:pPr>
                  <a:defRPr sz="1000" b="0" i="0" u="none" strike="noStrike">
                    <a:solidFill>
                      <a:srgbClr val="1A2233"/>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Diagnosis AUC</c:v>
                </c:pt>
                <c:pt idx="1">
                  <c:v>Kidney Dice</c:v>
                </c:pt>
                <c:pt idx="2">
                  <c:v>Lesion Dice (lesion images)</c:v>
                </c:pt>
                <c:pt idx="3">
                  <c:v>Local pathology AUC</c:v>
                </c:pt>
                <c:pt idx="4">
                  <c:v>Consistency</c:v>
                </c:pt>
              </c:strCache>
            </c:strRef>
          </c:cat>
          <c:val>
            <c:numRef>
              <c:f>Sheet1!$B$2:$B$6</c:f>
              <c:numCache>
                <c:formatCode>General</c:formatCode>
                <c:ptCount val="5"/>
                <c:pt idx="0">
                  <c:v>0.3</c:v>
                </c:pt>
                <c:pt idx="1">
                  <c:v>0.25</c:v>
                </c:pt>
                <c:pt idx="2">
                  <c:v>0.25</c:v>
                </c:pt>
                <c:pt idx="3">
                  <c:v>0.15</c:v>
                </c:pt>
                <c:pt idx="4">
                  <c:v>0.05</c:v>
                </c:pt>
              </c:numCache>
            </c:numRef>
          </c:val>
          <c:extLst>
            <c:ext xmlns:c16="http://schemas.microsoft.com/office/drawing/2014/chart" uri="{C3380CC4-5D6E-409C-BE32-E72D297353CC}">
              <c16:uniqueId val="{00000000-3556-47EF-AEDB-BF090E0828F9}"/>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DCE3E8"/>
            </a:solidFill>
            <a:prstDash val="solid"/>
            <a:round/>
          </a:ln>
        </c:spPr>
        <c:txPr>
          <a:bodyPr/>
          <a:lstStyle/>
          <a:p>
            <a:pPr>
              <a:defRPr sz="1150" b="0" i="0" u="none" strike="noStrike">
                <a:solidFill>
                  <a:srgbClr val="5B6B79"/>
                </a:solidFill>
                <a:latin typeface="Calibri"/>
              </a:defRPr>
            </a:pPr>
            <a:endParaRPr lang="en-US"/>
          </a:p>
        </c:txPr>
        <c:crossAx val="2094734552"/>
        <c:crosses val="autoZero"/>
        <c:auto val="1"/>
        <c:lblAlgn val="ctr"/>
        <c:lblOffset val="100"/>
        <c:noMultiLvlLbl val="1"/>
      </c:catAx>
      <c:valAx>
        <c:axId val="2094734552"/>
        <c:scaling>
          <c:orientation val="minMax"/>
          <c:max val="0.35"/>
        </c:scaling>
        <c:delete val="0"/>
        <c:axPos val="b"/>
        <c:majorGridlines>
          <c:spPr>
            <a:ln w="9525" cap="flat">
              <a:solidFill>
                <a:srgbClr val="DCE3E8"/>
              </a:solidFill>
              <a:prstDash val="solid"/>
              <a:round/>
            </a:ln>
          </c:spPr>
        </c:majorGridlines>
        <c:numFmt formatCode="0.00" sourceLinked="0"/>
        <c:majorTickMark val="out"/>
        <c:minorTickMark val="none"/>
        <c:tickLblPos val="low"/>
        <c:spPr>
          <a:ln w="12700" cap="flat">
            <a:noFill/>
            <a:prstDash val="solid"/>
            <a:round/>
          </a:ln>
        </c:spPr>
        <c:txPr>
          <a:bodyPr/>
          <a:lstStyle/>
          <a:p>
            <a:pPr>
              <a:defRPr sz="1000" b="0" i="0" u="none" strike="noStrike">
                <a:solidFill>
                  <a:srgbClr val="5B6B79"/>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All 298 test images</c:v>
                </c:pt>
              </c:strCache>
            </c:strRef>
          </c:tx>
          <c:spPr>
            <a:solidFill>
              <a:srgbClr val="A7B1BB"/>
            </a:solidFill>
            <a:effectLst/>
          </c:spPr>
          <c:invertIfNegative val="0"/>
          <c:dLbls>
            <c:numFmt formatCode="0.000" sourceLinked="0"/>
            <c:spPr>
              <a:noFill/>
              <a:ln>
                <a:noFill/>
              </a:ln>
              <a:effectLst/>
            </c:spPr>
            <c:txPr>
              <a:bodyPr/>
              <a:lstStyle/>
              <a:p>
                <a:pPr>
                  <a:defRPr sz="1000" b="0" i="0" u="none" strike="noStrike">
                    <a:solidFill>
                      <a:srgbClr val="1A2233"/>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Model with no lesion head</c:v>
                </c:pt>
                <c:pt idx="1">
                  <c:v>Phase 4 multi-task model</c:v>
                </c:pt>
              </c:strCache>
            </c:strRef>
          </c:cat>
          <c:val>
            <c:numRef>
              <c:f>Sheet1!$B$2:$B$3</c:f>
              <c:numCache>
                <c:formatCode>General</c:formatCode>
                <c:ptCount val="2"/>
                <c:pt idx="0">
                  <c:v>0.3187919557094574</c:v>
                </c:pt>
                <c:pt idx="1">
                  <c:v>0.34444981813430786</c:v>
                </c:pt>
              </c:numCache>
            </c:numRef>
          </c:val>
          <c:extLst>
            <c:ext xmlns:c16="http://schemas.microsoft.com/office/drawing/2014/chart" uri="{C3380CC4-5D6E-409C-BE32-E72D297353CC}">
              <c16:uniqueId val="{00000000-B812-4476-B807-3FCDF9E2D592}"/>
            </c:ext>
          </c:extLst>
        </c:ser>
        <c:ser>
          <c:idx val="1"/>
          <c:order val="1"/>
          <c:tx>
            <c:strRef>
              <c:f>Sheet1!$C$1</c:f>
              <c:strCache>
                <c:ptCount val="1"/>
                <c:pt idx="0">
                  <c:v>Only the 203 lesion-bearing images</c:v>
                </c:pt>
              </c:strCache>
            </c:strRef>
          </c:tx>
          <c:spPr>
            <a:solidFill>
              <a:srgbClr val="21295C"/>
            </a:solidFill>
            <a:effectLst/>
          </c:spPr>
          <c:invertIfNegative val="0"/>
          <c:dLbls>
            <c:numFmt formatCode="0.000" sourceLinked="0"/>
            <c:spPr>
              <a:noFill/>
              <a:ln>
                <a:noFill/>
              </a:ln>
              <a:effectLst/>
            </c:spPr>
            <c:txPr>
              <a:bodyPr/>
              <a:lstStyle/>
              <a:p>
                <a:pPr>
                  <a:defRPr sz="1000" b="0" i="0" u="none" strike="noStrike">
                    <a:solidFill>
                      <a:srgbClr val="1A2233"/>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Model with no lesion head</c:v>
                </c:pt>
                <c:pt idx="1">
                  <c:v>Phase 4 multi-task model</c:v>
                </c:pt>
              </c:strCache>
            </c:strRef>
          </c:cat>
          <c:val>
            <c:numRef>
              <c:f>Sheet1!$C$2:$C$3</c:f>
              <c:numCache>
                <c:formatCode>General</c:formatCode>
                <c:ptCount val="2"/>
                <c:pt idx="0">
                  <c:v>5.2041115861101161E-10</c:v>
                </c:pt>
                <c:pt idx="1">
                  <c:v>0.5056455135345459</c:v>
                </c:pt>
              </c:numCache>
            </c:numRef>
          </c:val>
          <c:extLst>
            <c:ext xmlns:c16="http://schemas.microsoft.com/office/drawing/2014/chart" uri="{C3380CC4-5D6E-409C-BE32-E72D297353CC}">
              <c16:uniqueId val="{00000001-B812-4476-B807-3FCDF9E2D592}"/>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DCE3E8"/>
            </a:solidFill>
            <a:prstDash val="solid"/>
            <a:round/>
          </a:ln>
        </c:spPr>
        <c:txPr>
          <a:bodyPr/>
          <a:lstStyle/>
          <a:p>
            <a:pPr>
              <a:defRPr sz="1250" b="0" i="0" u="none" strike="noStrike">
                <a:solidFill>
                  <a:srgbClr val="5B6B79"/>
                </a:solidFill>
                <a:latin typeface="Calibri"/>
              </a:defRPr>
            </a:pPr>
            <a:endParaRPr lang="en-US"/>
          </a:p>
        </c:txPr>
        <c:crossAx val="2094734552"/>
        <c:crosses val="autoZero"/>
        <c:auto val="1"/>
        <c:lblAlgn val="ctr"/>
        <c:lblOffset val="100"/>
        <c:noMultiLvlLbl val="1"/>
      </c:catAx>
      <c:valAx>
        <c:axId val="2094734552"/>
        <c:scaling>
          <c:orientation val="minMax"/>
          <c:max val="0.6"/>
          <c:min val="0"/>
        </c:scaling>
        <c:delete val="0"/>
        <c:axPos val="l"/>
        <c:majorGridlines>
          <c:spPr>
            <a:ln w="9525" cap="flat">
              <a:solidFill>
                <a:srgbClr val="DCE3E8"/>
              </a:solidFill>
              <a:prstDash val="solid"/>
              <a:round/>
            </a:ln>
          </c:spPr>
        </c:majorGridlines>
        <c:numFmt formatCode="0.0" sourceLinked="0"/>
        <c:majorTickMark val="out"/>
        <c:minorTickMark val="none"/>
        <c:tickLblPos val="nextTo"/>
        <c:spPr>
          <a:ln w="12700" cap="flat">
            <a:noFill/>
            <a:prstDash val="solid"/>
            <a:round/>
          </a:ln>
        </c:spPr>
        <c:txPr>
          <a:bodyPr/>
          <a:lstStyle/>
          <a:p>
            <a:pPr>
              <a:defRPr sz="1000" b="0" i="0" u="none" strike="noStrike">
                <a:solidFill>
                  <a:srgbClr val="5B6B79"/>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1A2233"/>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Violation rate</c:v>
                </c:pt>
              </c:strCache>
            </c:strRef>
          </c:tx>
          <c:spPr>
            <a:solidFill>
              <a:srgbClr val="21295C"/>
            </a:solidFill>
            <a:effectLst/>
          </c:spPr>
          <c:invertIfNegative val="0"/>
          <c:dLbls>
            <c:numFmt formatCode="0.000" sourceLinked="0"/>
            <c:spPr>
              <a:noFill/>
              <a:ln>
                <a:noFill/>
              </a:ln>
              <a:effectLst/>
            </c:spPr>
            <c:txPr>
              <a:bodyPr/>
              <a:lstStyle/>
              <a:p>
                <a:pPr>
                  <a:defRPr sz="1000" b="0" i="0" u="none" strike="noStrike">
                    <a:solidFill>
                      <a:srgbClr val="1A2233"/>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Phase 4
no constraint</c:v>
                </c:pt>
                <c:pt idx="1">
                  <c:v>Phase 5
absolute form</c:v>
                </c:pt>
                <c:pt idx="2">
                  <c:v>Phase 5b
ratio form</c:v>
                </c:pt>
              </c:strCache>
            </c:strRef>
          </c:cat>
          <c:val>
            <c:numRef>
              <c:f>Sheet1!$B$2:$B$4</c:f>
              <c:numCache>
                <c:formatCode>General</c:formatCode>
                <c:ptCount val="3"/>
                <c:pt idx="0">
                  <c:v>0.23313094675540924</c:v>
                </c:pt>
                <c:pt idx="1">
                  <c:v>0.28169849514961243</c:v>
                </c:pt>
                <c:pt idx="2">
                  <c:v>5.4333925247192383E-2</c:v>
                </c:pt>
              </c:numCache>
            </c:numRef>
          </c:val>
          <c:extLst>
            <c:ext xmlns:c16="http://schemas.microsoft.com/office/drawing/2014/chart" uri="{C3380CC4-5D6E-409C-BE32-E72D297353CC}">
              <c16:uniqueId val="{00000000-B60C-41D7-9607-34968038216C}"/>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DCE3E8"/>
            </a:solidFill>
            <a:prstDash val="solid"/>
            <a:round/>
          </a:ln>
        </c:spPr>
        <c:txPr>
          <a:bodyPr/>
          <a:lstStyle/>
          <a:p>
            <a:pPr>
              <a:defRPr sz="1250" b="0" i="0" u="none" strike="noStrike">
                <a:solidFill>
                  <a:srgbClr val="5B6B79"/>
                </a:solidFill>
                <a:latin typeface="Calibri"/>
              </a:defRPr>
            </a:pPr>
            <a:endParaRPr lang="en-US"/>
          </a:p>
        </c:txPr>
        <c:crossAx val="2094734552"/>
        <c:crosses val="autoZero"/>
        <c:auto val="1"/>
        <c:lblAlgn val="ctr"/>
        <c:lblOffset val="100"/>
        <c:noMultiLvlLbl val="1"/>
      </c:catAx>
      <c:valAx>
        <c:axId val="2094734552"/>
        <c:scaling>
          <c:orientation val="minMax"/>
          <c:max val="0.35"/>
          <c:min val="0"/>
        </c:scaling>
        <c:delete val="0"/>
        <c:axPos val="l"/>
        <c:majorGridlines>
          <c:spPr>
            <a:ln w="9525" cap="flat">
              <a:solidFill>
                <a:srgbClr val="DCE3E8"/>
              </a:solidFill>
              <a:prstDash val="solid"/>
              <a:round/>
            </a:ln>
          </c:spPr>
        </c:majorGridlines>
        <c:numFmt formatCode="0.00" sourceLinked="0"/>
        <c:majorTickMark val="out"/>
        <c:minorTickMark val="none"/>
        <c:tickLblPos val="nextTo"/>
        <c:spPr>
          <a:ln w="12700" cap="flat">
            <a:noFill/>
            <a:prstDash val="solid"/>
            <a:round/>
          </a:ln>
        </c:spPr>
        <c:txPr>
          <a:bodyPr/>
          <a:lstStyle/>
          <a:p>
            <a:pPr>
              <a:defRPr sz="1000" b="0" i="0" u="none" strike="noStrike">
                <a:solidFill>
                  <a:srgbClr val="5B6B79"/>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Phase 4: none</c:v>
                </c:pt>
              </c:strCache>
            </c:strRef>
          </c:tx>
          <c:spPr>
            <a:ln w="28575" cap="flat">
              <a:solidFill>
                <a:srgbClr val="A7B1BB"/>
              </a:solidFill>
              <a:prstDash val="solid"/>
              <a:round/>
            </a:ln>
            <a:effectLst/>
          </c:spPr>
          <c:marker>
            <c:symbol val="none"/>
          </c:marker>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Sheet1!$B$2:$B$16</c:f>
              <c:numCache>
                <c:formatCode>General</c:formatCode>
                <c:ptCount val="15"/>
                <c:pt idx="0">
                  <c:v>0</c:v>
                </c:pt>
                <c:pt idx="1">
                  <c:v>0.10994286835193634</c:v>
                </c:pt>
                <c:pt idx="2">
                  <c:v>0.18369132280349731</c:v>
                </c:pt>
                <c:pt idx="3">
                  <c:v>0.29779478907585144</c:v>
                </c:pt>
                <c:pt idx="4">
                  <c:v>0.21870683133602142</c:v>
                </c:pt>
                <c:pt idx="5">
                  <c:v>0.30443271994590759</c:v>
                </c:pt>
                <c:pt idx="6">
                  <c:v>0.176207035779953</c:v>
                </c:pt>
                <c:pt idx="7">
                  <c:v>0.34697294235229492</c:v>
                </c:pt>
                <c:pt idx="8">
                  <c:v>0.25201678276062012</c:v>
                </c:pt>
                <c:pt idx="9">
                  <c:v>0.2720196545124054</c:v>
                </c:pt>
                <c:pt idx="10">
                  <c:v>0.3000190258026123</c:v>
                </c:pt>
                <c:pt idx="11">
                  <c:v>0.28110206127166748</c:v>
                </c:pt>
                <c:pt idx="12">
                  <c:v>0.16958677768707275</c:v>
                </c:pt>
                <c:pt idx="13">
                  <c:v>0.25522097945213318</c:v>
                </c:pt>
                <c:pt idx="14">
                  <c:v>0.24881426990032196</c:v>
                </c:pt>
              </c:numCache>
            </c:numRef>
          </c:val>
          <c:smooth val="0"/>
          <c:extLst>
            <c:ext xmlns:c16="http://schemas.microsoft.com/office/drawing/2014/chart" uri="{C3380CC4-5D6E-409C-BE32-E72D297353CC}">
              <c16:uniqueId val="{00000000-7B30-4A0F-A6A1-FE4A41B6AF60}"/>
            </c:ext>
          </c:extLst>
        </c:ser>
        <c:ser>
          <c:idx val="1"/>
          <c:order val="1"/>
          <c:tx>
            <c:strRef>
              <c:f>Sheet1!$C$1</c:f>
              <c:strCache>
                <c:ptCount val="1"/>
                <c:pt idx="0">
                  <c:v>Phase 5: absolute</c:v>
                </c:pt>
              </c:strCache>
            </c:strRef>
          </c:tx>
          <c:spPr>
            <a:ln w="28575" cap="flat">
              <a:solidFill>
                <a:srgbClr val="D9912B"/>
              </a:solidFill>
              <a:prstDash val="solid"/>
              <a:round/>
            </a:ln>
            <a:effectLst/>
          </c:spPr>
          <c:marker>
            <c:symbol val="none"/>
          </c:marker>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Sheet1!$C$2:$C$16</c:f>
              <c:numCache>
                <c:formatCode>General</c:formatCode>
                <c:ptCount val="15"/>
                <c:pt idx="0">
                  <c:v>0</c:v>
                </c:pt>
                <c:pt idx="1">
                  <c:v>0</c:v>
                </c:pt>
                <c:pt idx="2">
                  <c:v>0.53760504722595215</c:v>
                </c:pt>
                <c:pt idx="3">
                  <c:v>0.70257270336151123</c:v>
                </c:pt>
                <c:pt idx="4">
                  <c:v>0.68653959035873413</c:v>
                </c:pt>
                <c:pt idx="5">
                  <c:v>0.64599412679672241</c:v>
                </c:pt>
                <c:pt idx="6">
                  <c:v>0.54821264743804932</c:v>
                </c:pt>
                <c:pt idx="7">
                  <c:v>0.51395666599273682</c:v>
                </c:pt>
                <c:pt idx="8">
                  <c:v>0.4271756112575531</c:v>
                </c:pt>
                <c:pt idx="9">
                  <c:v>0.40013068914413452</c:v>
                </c:pt>
                <c:pt idx="10">
                  <c:v>0.45763841271400452</c:v>
                </c:pt>
                <c:pt idx="11">
                  <c:v>0.33850395679473877</c:v>
                </c:pt>
                <c:pt idx="12">
                  <c:v>0.19712507724761963</c:v>
                </c:pt>
                <c:pt idx="13">
                  <c:v>0.27716183662414551</c:v>
                </c:pt>
                <c:pt idx="14">
                  <c:v>0.24821843206882477</c:v>
                </c:pt>
              </c:numCache>
            </c:numRef>
          </c:val>
          <c:smooth val="0"/>
          <c:extLst>
            <c:ext xmlns:c16="http://schemas.microsoft.com/office/drawing/2014/chart" uri="{C3380CC4-5D6E-409C-BE32-E72D297353CC}">
              <c16:uniqueId val="{00000001-7B30-4A0F-A6A1-FE4A41B6AF60}"/>
            </c:ext>
          </c:extLst>
        </c:ser>
        <c:ser>
          <c:idx val="2"/>
          <c:order val="2"/>
          <c:tx>
            <c:strRef>
              <c:f>Sheet1!$D$1</c:f>
              <c:strCache>
                <c:ptCount val="1"/>
                <c:pt idx="0">
                  <c:v>Phase 5b: ratio</c:v>
                </c:pt>
              </c:strCache>
            </c:strRef>
          </c:tx>
          <c:spPr>
            <a:ln w="28575" cap="flat">
              <a:solidFill>
                <a:srgbClr val="21295C"/>
              </a:solidFill>
              <a:prstDash val="solid"/>
              <a:round/>
            </a:ln>
            <a:effectLst/>
          </c:spPr>
          <c:marker>
            <c:symbol val="none"/>
          </c:marker>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Sheet1!$D$2:$D$16</c:f>
              <c:numCache>
                <c:formatCode>General</c:formatCode>
                <c:ptCount val="15"/>
                <c:pt idx="0">
                  <c:v>4.3303515762090683E-2</c:v>
                </c:pt>
                <c:pt idx="1">
                  <c:v>0.28530526161193848</c:v>
                </c:pt>
                <c:pt idx="2">
                  <c:v>0.27249088883399963</c:v>
                </c:pt>
                <c:pt idx="3">
                  <c:v>0.27040627598762512</c:v>
                </c:pt>
                <c:pt idx="4">
                  <c:v>0.23956629633903503</c:v>
                </c:pt>
                <c:pt idx="5">
                  <c:v>0.25577446818351746</c:v>
                </c:pt>
                <c:pt idx="6">
                  <c:v>0.24841810762882233</c:v>
                </c:pt>
                <c:pt idx="7">
                  <c:v>0.28110340237617493</c:v>
                </c:pt>
                <c:pt idx="8">
                  <c:v>0.19863542914390564</c:v>
                </c:pt>
                <c:pt idx="9">
                  <c:v>0.15990962088108063</c:v>
                </c:pt>
                <c:pt idx="10">
                  <c:v>0.13073082268238068</c:v>
                </c:pt>
                <c:pt idx="11">
                  <c:v>9.869743138551712E-2</c:v>
                </c:pt>
                <c:pt idx="12">
                  <c:v>8.1368699669837952E-2</c:v>
                </c:pt>
                <c:pt idx="13">
                  <c:v>7.3113314807415009E-2</c:v>
                </c:pt>
                <c:pt idx="14">
                  <c:v>5.7699970901012421E-2</c:v>
                </c:pt>
              </c:numCache>
            </c:numRef>
          </c:val>
          <c:smooth val="0"/>
          <c:extLst>
            <c:ext xmlns:c16="http://schemas.microsoft.com/office/drawing/2014/chart" uri="{C3380CC4-5D6E-409C-BE32-E72D297353CC}">
              <c16:uniqueId val="{00000002-7B30-4A0F-A6A1-FE4A41B6AF60}"/>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DCE3E8"/>
            </a:solidFill>
            <a:prstDash val="solid"/>
            <a:round/>
          </a:ln>
        </c:spPr>
        <c:txPr>
          <a:bodyPr/>
          <a:lstStyle/>
          <a:p>
            <a:pPr>
              <a:defRPr sz="1100" b="0" i="0" u="none" strike="noStrike">
                <a:solidFill>
                  <a:srgbClr val="5B6B79"/>
                </a:solidFill>
                <a:latin typeface="Calibri"/>
              </a:defRPr>
            </a:pPr>
            <a:endParaRPr lang="en-US"/>
          </a:p>
        </c:txPr>
        <c:crossAx val="2094734552"/>
        <c:crosses val="autoZero"/>
        <c:auto val="1"/>
        <c:lblAlgn val="ctr"/>
        <c:lblOffset val="100"/>
        <c:noMultiLvlLbl val="1"/>
      </c:catAx>
      <c:valAx>
        <c:axId val="2094734552"/>
        <c:scaling>
          <c:orientation val="minMax"/>
          <c:max val="0.8"/>
          <c:min val="0"/>
        </c:scaling>
        <c:delete val="0"/>
        <c:axPos val="l"/>
        <c:majorGridlines>
          <c:spPr>
            <a:ln w="9525" cap="flat">
              <a:solidFill>
                <a:srgbClr val="DCE3E8"/>
              </a:solidFill>
              <a:prstDash val="solid"/>
              <a:round/>
            </a:ln>
          </c:spPr>
        </c:majorGridlines>
        <c:numFmt formatCode="0.0" sourceLinked="0"/>
        <c:majorTickMark val="out"/>
        <c:minorTickMark val="none"/>
        <c:tickLblPos val="nextTo"/>
        <c:spPr>
          <a:ln w="12700" cap="flat">
            <a:noFill/>
            <a:prstDash val="solid"/>
            <a:round/>
          </a:ln>
        </c:spPr>
        <c:txPr>
          <a:bodyPr/>
          <a:lstStyle/>
          <a:p>
            <a:pPr>
              <a:defRPr sz="1000" b="0" i="0" u="none" strike="noStrike">
                <a:solidFill>
                  <a:srgbClr val="5B6B79"/>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1A2233"/>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Phase 4: none</c:v>
                </c:pt>
              </c:strCache>
            </c:strRef>
          </c:tx>
          <c:spPr>
            <a:ln w="28575" cap="flat">
              <a:solidFill>
                <a:srgbClr val="A7B1BB"/>
              </a:solidFill>
              <a:prstDash val="solid"/>
              <a:round/>
            </a:ln>
            <a:effectLst/>
          </c:spPr>
          <c:marker>
            <c:symbol val="none"/>
          </c:marker>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Sheet1!$B$2:$B$16</c:f>
              <c:numCache>
                <c:formatCode>General</c:formatCode>
                <c:ptCount val="15"/>
                <c:pt idx="0">
                  <c:v>0.20990154147148132</c:v>
                </c:pt>
                <c:pt idx="1">
                  <c:v>0.31155931949615479</c:v>
                </c:pt>
                <c:pt idx="2">
                  <c:v>0.36780604720115662</c:v>
                </c:pt>
                <c:pt idx="3">
                  <c:v>0.3883325457572937</c:v>
                </c:pt>
                <c:pt idx="4">
                  <c:v>0.3456682562828064</c:v>
                </c:pt>
                <c:pt idx="5">
                  <c:v>0.46133309602737427</c:v>
                </c:pt>
                <c:pt idx="6">
                  <c:v>0.46286618709564209</c:v>
                </c:pt>
                <c:pt idx="7">
                  <c:v>0.49472472071647644</c:v>
                </c:pt>
                <c:pt idx="8">
                  <c:v>0.50715857744216919</c:v>
                </c:pt>
                <c:pt idx="9">
                  <c:v>0.53254151344299316</c:v>
                </c:pt>
                <c:pt idx="10">
                  <c:v>0.48260024189949036</c:v>
                </c:pt>
                <c:pt idx="11">
                  <c:v>0.52825218439102173</c:v>
                </c:pt>
                <c:pt idx="12">
                  <c:v>0.53992384672164917</c:v>
                </c:pt>
                <c:pt idx="13">
                  <c:v>0.54740840196609497</c:v>
                </c:pt>
                <c:pt idx="14">
                  <c:v>0.51128828525543213</c:v>
                </c:pt>
              </c:numCache>
            </c:numRef>
          </c:val>
          <c:smooth val="0"/>
          <c:extLst>
            <c:ext xmlns:c16="http://schemas.microsoft.com/office/drawing/2014/chart" uri="{C3380CC4-5D6E-409C-BE32-E72D297353CC}">
              <c16:uniqueId val="{00000000-4814-4623-9DCB-3964FB12B74A}"/>
            </c:ext>
          </c:extLst>
        </c:ser>
        <c:ser>
          <c:idx val="1"/>
          <c:order val="1"/>
          <c:tx>
            <c:strRef>
              <c:f>Sheet1!$C$1</c:f>
              <c:strCache>
                <c:ptCount val="1"/>
                <c:pt idx="0">
                  <c:v>Phase 5: absolute</c:v>
                </c:pt>
              </c:strCache>
            </c:strRef>
          </c:tx>
          <c:spPr>
            <a:ln w="28575" cap="flat">
              <a:solidFill>
                <a:srgbClr val="D9912B"/>
              </a:solidFill>
              <a:prstDash val="solid"/>
              <a:round/>
            </a:ln>
            <a:effectLst/>
          </c:spPr>
          <c:marker>
            <c:symbol val="none"/>
          </c:marker>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Sheet1!$C$2:$C$16</c:f>
              <c:numCache>
                <c:formatCode>General</c:formatCode>
                <c:ptCount val="15"/>
                <c:pt idx="0">
                  <c:v>0.31232380867004395</c:v>
                </c:pt>
                <c:pt idx="1">
                  <c:v>0.37663483619689941</c:v>
                </c:pt>
                <c:pt idx="2">
                  <c:v>0.40776896476745605</c:v>
                </c:pt>
                <c:pt idx="3">
                  <c:v>0.40699464082717896</c:v>
                </c:pt>
                <c:pt idx="4">
                  <c:v>0.44821715354919434</c:v>
                </c:pt>
                <c:pt idx="5">
                  <c:v>0.44862541556358337</c:v>
                </c:pt>
                <c:pt idx="6">
                  <c:v>0.45365798473358154</c:v>
                </c:pt>
                <c:pt idx="7">
                  <c:v>0.4830397367477417</c:v>
                </c:pt>
                <c:pt idx="8">
                  <c:v>0.49904152750968933</c:v>
                </c:pt>
                <c:pt idx="9">
                  <c:v>0.50568282604217529</c:v>
                </c:pt>
                <c:pt idx="10">
                  <c:v>0.53013014793395996</c:v>
                </c:pt>
                <c:pt idx="11">
                  <c:v>0.52597099542617798</c:v>
                </c:pt>
                <c:pt idx="12">
                  <c:v>0.53829646110534668</c:v>
                </c:pt>
                <c:pt idx="13">
                  <c:v>0.53439062833786011</c:v>
                </c:pt>
                <c:pt idx="14">
                  <c:v>0.53725308179855347</c:v>
                </c:pt>
              </c:numCache>
            </c:numRef>
          </c:val>
          <c:smooth val="0"/>
          <c:extLst>
            <c:ext xmlns:c16="http://schemas.microsoft.com/office/drawing/2014/chart" uri="{C3380CC4-5D6E-409C-BE32-E72D297353CC}">
              <c16:uniqueId val="{00000001-4814-4623-9DCB-3964FB12B74A}"/>
            </c:ext>
          </c:extLst>
        </c:ser>
        <c:ser>
          <c:idx val="2"/>
          <c:order val="2"/>
          <c:tx>
            <c:strRef>
              <c:f>Sheet1!$D$1</c:f>
              <c:strCache>
                <c:ptCount val="1"/>
                <c:pt idx="0">
                  <c:v>Phase 5b: ratio</c:v>
                </c:pt>
              </c:strCache>
            </c:strRef>
          </c:tx>
          <c:spPr>
            <a:ln w="28575" cap="flat">
              <a:solidFill>
                <a:srgbClr val="21295C"/>
              </a:solidFill>
              <a:prstDash val="solid"/>
              <a:round/>
            </a:ln>
            <a:effectLst/>
          </c:spPr>
          <c:marker>
            <c:symbol val="none"/>
          </c:marker>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Sheet1!$D$2:$D$16</c:f>
              <c:numCache>
                <c:formatCode>General</c:formatCode>
                <c:ptCount val="15"/>
                <c:pt idx="0">
                  <c:v>0.21394166350364685</c:v>
                </c:pt>
                <c:pt idx="1">
                  <c:v>0.27520537376403809</c:v>
                </c:pt>
                <c:pt idx="2">
                  <c:v>0.36084958910942078</c:v>
                </c:pt>
                <c:pt idx="3">
                  <c:v>0.34694474935531616</c:v>
                </c:pt>
                <c:pt idx="4">
                  <c:v>0.41198685765266418</c:v>
                </c:pt>
                <c:pt idx="5">
                  <c:v>0.40272882580757141</c:v>
                </c:pt>
                <c:pt idx="6">
                  <c:v>0.39955571293830872</c:v>
                </c:pt>
                <c:pt idx="7">
                  <c:v>0.4216657280921936</c:v>
                </c:pt>
                <c:pt idx="8">
                  <c:v>0.42692038416862488</c:v>
                </c:pt>
                <c:pt idx="9">
                  <c:v>0.45695847272872925</c:v>
                </c:pt>
                <c:pt idx="10">
                  <c:v>0.47186529636383057</c:v>
                </c:pt>
                <c:pt idx="11">
                  <c:v>0.47123175859451294</c:v>
                </c:pt>
                <c:pt idx="12">
                  <c:v>0.49012371897697449</c:v>
                </c:pt>
                <c:pt idx="13">
                  <c:v>0.49611207842826843</c:v>
                </c:pt>
                <c:pt idx="14">
                  <c:v>0.53613215684890747</c:v>
                </c:pt>
              </c:numCache>
            </c:numRef>
          </c:val>
          <c:smooth val="0"/>
          <c:extLst>
            <c:ext xmlns:c16="http://schemas.microsoft.com/office/drawing/2014/chart" uri="{C3380CC4-5D6E-409C-BE32-E72D297353CC}">
              <c16:uniqueId val="{00000002-4814-4623-9DCB-3964FB12B74A}"/>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DCE3E8"/>
            </a:solidFill>
            <a:prstDash val="solid"/>
            <a:round/>
          </a:ln>
        </c:spPr>
        <c:txPr>
          <a:bodyPr/>
          <a:lstStyle/>
          <a:p>
            <a:pPr>
              <a:defRPr sz="1100" b="0" i="0" u="none" strike="noStrike">
                <a:solidFill>
                  <a:srgbClr val="5B6B79"/>
                </a:solidFill>
                <a:latin typeface="Calibri"/>
              </a:defRPr>
            </a:pPr>
            <a:endParaRPr lang="en-US"/>
          </a:p>
        </c:txPr>
        <c:crossAx val="2094734552"/>
        <c:crosses val="autoZero"/>
        <c:auto val="1"/>
        <c:lblAlgn val="ctr"/>
        <c:lblOffset val="100"/>
        <c:noMultiLvlLbl val="1"/>
      </c:catAx>
      <c:valAx>
        <c:axId val="2094734552"/>
        <c:scaling>
          <c:orientation val="minMax"/>
          <c:max val="0.6"/>
          <c:min val="0"/>
        </c:scaling>
        <c:delete val="0"/>
        <c:axPos val="l"/>
        <c:majorGridlines>
          <c:spPr>
            <a:ln w="9525" cap="flat">
              <a:solidFill>
                <a:srgbClr val="DCE3E8"/>
              </a:solidFill>
              <a:prstDash val="solid"/>
              <a:round/>
            </a:ln>
          </c:spPr>
        </c:majorGridlines>
        <c:numFmt formatCode="0.0" sourceLinked="0"/>
        <c:majorTickMark val="out"/>
        <c:minorTickMark val="none"/>
        <c:tickLblPos val="nextTo"/>
        <c:spPr>
          <a:ln w="12700" cap="flat">
            <a:noFill/>
            <a:prstDash val="solid"/>
            <a:round/>
          </a:ln>
        </c:spPr>
        <c:txPr>
          <a:bodyPr/>
          <a:lstStyle/>
          <a:p>
            <a:pPr>
              <a:defRPr sz="1000" b="0" i="0" u="none" strike="noStrike">
                <a:solidFill>
                  <a:srgbClr val="5B6B79"/>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1A2233"/>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COA</c:v>
                </c:pt>
              </c:strCache>
            </c:strRef>
          </c:tx>
          <c:spPr>
            <a:solidFill>
              <a:srgbClr val="21295C"/>
            </a:solidFill>
            <a:effectLst/>
          </c:spPr>
          <c:invertIfNegative val="0"/>
          <c:dLbls>
            <c:numFmt formatCode="0.0" sourceLinked="0"/>
            <c:spPr>
              <a:noFill/>
              <a:ln>
                <a:noFill/>
              </a:ln>
              <a:effectLst/>
            </c:spPr>
            <c:txPr>
              <a:bodyPr/>
              <a:lstStyle/>
              <a:p>
                <a:pPr>
                  <a:defRPr sz="850" b="0" i="0" u="none" strike="noStrike">
                    <a:solidFill>
                      <a:srgbClr val="1A2233"/>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Diagnosis</c:v>
                </c:pt>
                <c:pt idx="1">
                  <c:v>Global path.</c:v>
                </c:pt>
                <c:pt idx="2">
                  <c:v>Local path.</c:v>
                </c:pt>
                <c:pt idx="3">
                  <c:v>Kidney seg.</c:v>
                </c:pt>
                <c:pt idx="4">
                  <c:v>Lesion seg.</c:v>
                </c:pt>
                <c:pt idx="5">
                  <c:v>Consistency</c:v>
                </c:pt>
              </c:strCache>
            </c:strRef>
          </c:cat>
          <c:val>
            <c:numRef>
              <c:f>Sheet1!$B$2:$B$7</c:f>
              <c:numCache>
                <c:formatCode>General</c:formatCode>
                <c:ptCount val="6"/>
                <c:pt idx="0">
                  <c:v>0.1</c:v>
                </c:pt>
                <c:pt idx="1">
                  <c:v>0.1</c:v>
                </c:pt>
                <c:pt idx="2">
                  <c:v>3.9756370471166864</c:v>
                </c:pt>
                <c:pt idx="3">
                  <c:v>3.055203538806138</c:v>
                </c:pt>
                <c:pt idx="4">
                  <c:v>1.5444309684956541</c:v>
                </c:pt>
                <c:pt idx="5">
                  <c:v>4.1866991371300362</c:v>
                </c:pt>
              </c:numCache>
            </c:numRef>
          </c:val>
          <c:extLst>
            <c:ext xmlns:c16="http://schemas.microsoft.com/office/drawing/2014/chart" uri="{C3380CC4-5D6E-409C-BE32-E72D297353CC}">
              <c16:uniqueId val="{00000000-18E3-4B79-AB60-B52B6CB5A24E}"/>
            </c:ext>
          </c:extLst>
        </c:ser>
        <c:ser>
          <c:idx val="1"/>
          <c:order val="1"/>
          <c:tx>
            <c:strRef>
              <c:f>Sheet1!$C$1</c:f>
              <c:strCache>
                <c:ptCount val="1"/>
                <c:pt idx="0">
                  <c:v>WOA</c:v>
                </c:pt>
              </c:strCache>
            </c:strRef>
          </c:tx>
          <c:spPr>
            <a:solidFill>
              <a:srgbClr val="D9912B"/>
            </a:solidFill>
            <a:effectLst/>
          </c:spPr>
          <c:invertIfNegative val="0"/>
          <c:dLbls>
            <c:numFmt formatCode="0.0" sourceLinked="0"/>
            <c:spPr>
              <a:noFill/>
              <a:ln>
                <a:noFill/>
              </a:ln>
              <a:effectLst/>
            </c:spPr>
            <c:txPr>
              <a:bodyPr/>
              <a:lstStyle/>
              <a:p>
                <a:pPr>
                  <a:defRPr sz="850" b="0" i="0" u="none" strike="noStrike">
                    <a:solidFill>
                      <a:srgbClr val="1A2233"/>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Diagnosis</c:v>
                </c:pt>
                <c:pt idx="1">
                  <c:v>Global path.</c:v>
                </c:pt>
                <c:pt idx="2">
                  <c:v>Local path.</c:v>
                </c:pt>
                <c:pt idx="3">
                  <c:v>Kidney seg.</c:v>
                </c:pt>
                <c:pt idx="4">
                  <c:v>Lesion seg.</c:v>
                </c:pt>
                <c:pt idx="5">
                  <c:v>Consistency</c:v>
                </c:pt>
              </c:strCache>
            </c:strRef>
          </c:cat>
          <c:val>
            <c:numRef>
              <c:f>Sheet1!$C$2:$C$7</c:f>
              <c:numCache>
                <c:formatCode>General</c:formatCode>
                <c:ptCount val="6"/>
                <c:pt idx="0">
                  <c:v>0.34044745301119472</c:v>
                </c:pt>
                <c:pt idx="1">
                  <c:v>0.10798490134291715</c:v>
                </c:pt>
                <c:pt idx="2">
                  <c:v>4.3920929006487457</c:v>
                </c:pt>
                <c:pt idx="3">
                  <c:v>2.6511196674845006</c:v>
                </c:pt>
                <c:pt idx="4">
                  <c:v>2.0505479832927991</c:v>
                </c:pt>
                <c:pt idx="5">
                  <c:v>0.1</c:v>
                </c:pt>
              </c:numCache>
            </c:numRef>
          </c:val>
          <c:extLst>
            <c:ext xmlns:c16="http://schemas.microsoft.com/office/drawing/2014/chart" uri="{C3380CC4-5D6E-409C-BE32-E72D297353CC}">
              <c16:uniqueId val="{00000001-18E3-4B79-AB60-B52B6CB5A24E}"/>
            </c:ext>
          </c:extLst>
        </c:ser>
        <c:ser>
          <c:idx val="2"/>
          <c:order val="2"/>
          <c:tx>
            <c:strRef>
              <c:f>Sheet1!$D$1</c:f>
              <c:strCache>
                <c:ptCount val="1"/>
                <c:pt idx="0">
                  <c:v>GWO</c:v>
                </c:pt>
              </c:strCache>
            </c:strRef>
          </c:tx>
          <c:spPr>
            <a:solidFill>
              <a:srgbClr val="1C7293"/>
            </a:solidFill>
            <a:effectLst/>
          </c:spPr>
          <c:invertIfNegative val="0"/>
          <c:dLbls>
            <c:numFmt formatCode="0.0" sourceLinked="0"/>
            <c:spPr>
              <a:noFill/>
              <a:ln>
                <a:noFill/>
              </a:ln>
              <a:effectLst/>
            </c:spPr>
            <c:txPr>
              <a:bodyPr/>
              <a:lstStyle/>
              <a:p>
                <a:pPr>
                  <a:defRPr sz="850" b="0" i="0" u="none" strike="noStrike">
                    <a:solidFill>
                      <a:srgbClr val="1A2233"/>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Diagnosis</c:v>
                </c:pt>
                <c:pt idx="1">
                  <c:v>Global path.</c:v>
                </c:pt>
                <c:pt idx="2">
                  <c:v>Local path.</c:v>
                </c:pt>
                <c:pt idx="3">
                  <c:v>Kidney seg.</c:v>
                </c:pt>
                <c:pt idx="4">
                  <c:v>Lesion seg.</c:v>
                </c:pt>
                <c:pt idx="5">
                  <c:v>Consistency</c:v>
                </c:pt>
              </c:strCache>
            </c:strRef>
          </c:cat>
          <c:val>
            <c:numRef>
              <c:f>Sheet1!$D$2:$D$7</c:f>
              <c:numCache>
                <c:formatCode>General</c:formatCode>
                <c:ptCount val="6"/>
                <c:pt idx="0">
                  <c:v>2.8995765887927512</c:v>
                </c:pt>
                <c:pt idx="1">
                  <c:v>1.7830150987097042</c:v>
                </c:pt>
                <c:pt idx="2">
                  <c:v>5</c:v>
                </c:pt>
                <c:pt idx="3">
                  <c:v>5</c:v>
                </c:pt>
                <c:pt idx="4">
                  <c:v>2.1036849745243478</c:v>
                </c:pt>
                <c:pt idx="5">
                  <c:v>1.1483341608138582</c:v>
                </c:pt>
              </c:numCache>
            </c:numRef>
          </c:val>
          <c:extLst>
            <c:ext xmlns:c16="http://schemas.microsoft.com/office/drawing/2014/chart" uri="{C3380CC4-5D6E-409C-BE32-E72D297353CC}">
              <c16:uniqueId val="{00000002-18E3-4B79-AB60-B52B6CB5A24E}"/>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DCE3E8"/>
            </a:solidFill>
            <a:prstDash val="solid"/>
            <a:round/>
          </a:ln>
        </c:spPr>
        <c:txPr>
          <a:bodyPr/>
          <a:lstStyle/>
          <a:p>
            <a:pPr>
              <a:defRPr sz="1100" b="0" i="0" u="none" strike="noStrike">
                <a:solidFill>
                  <a:srgbClr val="5B6B79"/>
                </a:solidFill>
                <a:latin typeface="Calibri"/>
              </a:defRPr>
            </a:pPr>
            <a:endParaRPr lang="en-US"/>
          </a:p>
        </c:txPr>
        <c:crossAx val="2094734552"/>
        <c:crosses val="autoZero"/>
        <c:auto val="1"/>
        <c:lblAlgn val="ctr"/>
        <c:lblOffset val="100"/>
        <c:noMultiLvlLbl val="1"/>
      </c:catAx>
      <c:valAx>
        <c:axId val="2094734552"/>
        <c:scaling>
          <c:orientation val="minMax"/>
          <c:max val="5.5"/>
          <c:min val="0"/>
        </c:scaling>
        <c:delete val="0"/>
        <c:axPos val="l"/>
        <c:majorGridlines>
          <c:spPr>
            <a:ln w="9525" cap="flat">
              <a:solidFill>
                <a:srgbClr val="DCE3E8"/>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5B6B79"/>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1A2233"/>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Equal weights (Phase 5b)</c:v>
                </c:pt>
              </c:strCache>
            </c:strRef>
          </c:tx>
          <c:spPr>
            <a:solidFill>
              <a:srgbClr val="A7B1BB"/>
            </a:solidFill>
            <a:effectLst/>
          </c:spPr>
          <c:invertIfNegative val="0"/>
          <c:dLbls>
            <c:numFmt formatCode="0.000" sourceLinked="0"/>
            <c:spPr>
              <a:noFill/>
              <a:ln>
                <a:noFill/>
              </a:ln>
              <a:effectLst/>
            </c:spPr>
            <c:txPr>
              <a:bodyPr/>
              <a:lstStyle/>
              <a:p>
                <a:pPr>
                  <a:defRPr sz="900" b="0" i="0" u="none" strike="noStrike">
                    <a:solidFill>
                      <a:srgbClr val="1A2233"/>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Diagnosis AUC</c:v>
                </c:pt>
                <c:pt idx="1">
                  <c:v>Kidney Dice</c:v>
                </c:pt>
                <c:pt idx="2">
                  <c:v>Lesion Dice
(lesion images)</c:v>
                </c:pt>
                <c:pt idx="3">
                  <c:v>1 - violation rate</c:v>
                </c:pt>
              </c:strCache>
            </c:strRef>
          </c:cat>
          <c:val>
            <c:numRef>
              <c:f>Sheet1!$B$2:$B$5</c:f>
              <c:numCache>
                <c:formatCode>General</c:formatCode>
                <c:ptCount val="4"/>
                <c:pt idx="0">
                  <c:v>0.90140664961636818</c:v>
                </c:pt>
                <c:pt idx="1">
                  <c:v>0.8954128623008728</c:v>
                </c:pt>
                <c:pt idx="2">
                  <c:v>0.4880979061126709</c:v>
                </c:pt>
                <c:pt idx="3">
                  <c:v>0.94566607475280762</c:v>
                </c:pt>
              </c:numCache>
            </c:numRef>
          </c:val>
          <c:extLst>
            <c:ext xmlns:c16="http://schemas.microsoft.com/office/drawing/2014/chart" uri="{C3380CC4-5D6E-409C-BE32-E72D297353CC}">
              <c16:uniqueId val="{00000000-F606-4E4D-8607-95C46AE03745}"/>
            </c:ext>
          </c:extLst>
        </c:ser>
        <c:ser>
          <c:idx val="1"/>
          <c:order val="1"/>
          <c:tx>
            <c:strRef>
              <c:f>Sheet1!$C$1</c:f>
              <c:strCache>
                <c:ptCount val="1"/>
                <c:pt idx="0">
                  <c:v>COA-optimized (Phase 6)</c:v>
                </c:pt>
              </c:strCache>
            </c:strRef>
          </c:tx>
          <c:spPr>
            <a:solidFill>
              <a:srgbClr val="21295C"/>
            </a:solidFill>
            <a:effectLst/>
          </c:spPr>
          <c:invertIfNegative val="0"/>
          <c:dLbls>
            <c:numFmt formatCode="0.000" sourceLinked="0"/>
            <c:spPr>
              <a:noFill/>
              <a:ln>
                <a:noFill/>
              </a:ln>
              <a:effectLst/>
            </c:spPr>
            <c:txPr>
              <a:bodyPr/>
              <a:lstStyle/>
              <a:p>
                <a:pPr>
                  <a:defRPr sz="900" b="0" i="0" u="none" strike="noStrike">
                    <a:solidFill>
                      <a:srgbClr val="1A2233"/>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Diagnosis AUC</c:v>
                </c:pt>
                <c:pt idx="1">
                  <c:v>Kidney Dice</c:v>
                </c:pt>
                <c:pt idx="2">
                  <c:v>Lesion Dice
(lesion images)</c:v>
                </c:pt>
                <c:pt idx="3">
                  <c:v>1 - violation rate</c:v>
                </c:pt>
              </c:strCache>
            </c:strRef>
          </c:cat>
          <c:val>
            <c:numRef>
              <c:f>Sheet1!$C$2:$C$5</c:f>
              <c:numCache>
                <c:formatCode>General</c:formatCode>
                <c:ptCount val="4"/>
                <c:pt idx="0">
                  <c:v>0.87525575447570325</c:v>
                </c:pt>
                <c:pt idx="1">
                  <c:v>0.90809106826782227</c:v>
                </c:pt>
                <c:pt idx="2">
                  <c:v>0.41797164082527161</c:v>
                </c:pt>
                <c:pt idx="3">
                  <c:v>0.94548590108752251</c:v>
                </c:pt>
              </c:numCache>
            </c:numRef>
          </c:val>
          <c:extLst>
            <c:ext xmlns:c16="http://schemas.microsoft.com/office/drawing/2014/chart" uri="{C3380CC4-5D6E-409C-BE32-E72D297353CC}">
              <c16:uniqueId val="{00000001-F606-4E4D-8607-95C46AE03745}"/>
            </c:ext>
          </c:extLst>
        </c:ser>
        <c:ser>
          <c:idx val="2"/>
          <c:order val="2"/>
          <c:tx>
            <c:strRef>
              <c:f>Sheet1!$D$1</c:f>
              <c:strCache>
                <c:ptCount val="1"/>
                <c:pt idx="0">
                  <c:v>COA weights, no enhancement</c:v>
                </c:pt>
              </c:strCache>
            </c:strRef>
          </c:tx>
          <c:spPr>
            <a:solidFill>
              <a:srgbClr val="1C7293"/>
            </a:solidFill>
            <a:effectLst/>
          </c:spPr>
          <c:invertIfNegative val="0"/>
          <c:dLbls>
            <c:numFmt formatCode="0.000" sourceLinked="0"/>
            <c:spPr>
              <a:noFill/>
              <a:ln>
                <a:noFill/>
              </a:ln>
              <a:effectLst/>
            </c:spPr>
            <c:txPr>
              <a:bodyPr/>
              <a:lstStyle/>
              <a:p>
                <a:pPr>
                  <a:defRPr sz="900" b="0" i="0" u="none" strike="noStrike">
                    <a:solidFill>
                      <a:srgbClr val="1A2233"/>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Diagnosis AUC</c:v>
                </c:pt>
                <c:pt idx="1">
                  <c:v>Kidney Dice</c:v>
                </c:pt>
                <c:pt idx="2">
                  <c:v>Lesion Dice
(lesion images)</c:v>
                </c:pt>
                <c:pt idx="3">
                  <c:v>1 - violation rate</c:v>
                </c:pt>
              </c:strCache>
            </c:strRef>
          </c:cat>
          <c:val>
            <c:numRef>
              <c:f>Sheet1!$D$2:$D$5</c:f>
              <c:numCache>
                <c:formatCode>General</c:formatCode>
                <c:ptCount val="4"/>
                <c:pt idx="0">
                  <c:v>0.89507672634271107</c:v>
                </c:pt>
                <c:pt idx="1">
                  <c:v>0.9115149974822998</c:v>
                </c:pt>
                <c:pt idx="2">
                  <c:v>0.42389824986457825</c:v>
                </c:pt>
                <c:pt idx="3">
                  <c:v>0.92604748159646988</c:v>
                </c:pt>
              </c:numCache>
            </c:numRef>
          </c:val>
          <c:extLst>
            <c:ext xmlns:c16="http://schemas.microsoft.com/office/drawing/2014/chart" uri="{C3380CC4-5D6E-409C-BE32-E72D297353CC}">
              <c16:uniqueId val="{00000002-F606-4E4D-8607-95C46AE03745}"/>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DCE3E8"/>
            </a:solidFill>
            <a:prstDash val="solid"/>
            <a:round/>
          </a:ln>
        </c:spPr>
        <c:txPr>
          <a:bodyPr/>
          <a:lstStyle/>
          <a:p>
            <a:pPr>
              <a:defRPr sz="1200" b="0" i="0" u="none" strike="noStrike">
                <a:solidFill>
                  <a:srgbClr val="5B6B79"/>
                </a:solidFill>
                <a:latin typeface="Calibri"/>
              </a:defRPr>
            </a:pPr>
            <a:endParaRPr lang="en-US"/>
          </a:p>
        </c:txPr>
        <c:crossAx val="2094734552"/>
        <c:crosses val="autoZero"/>
        <c:auto val="1"/>
        <c:lblAlgn val="ctr"/>
        <c:lblOffset val="100"/>
        <c:noMultiLvlLbl val="1"/>
      </c:catAx>
      <c:valAx>
        <c:axId val="2094734552"/>
        <c:scaling>
          <c:orientation val="minMax"/>
          <c:max val="1.05"/>
          <c:min val="0"/>
        </c:scaling>
        <c:delete val="0"/>
        <c:axPos val="l"/>
        <c:majorGridlines>
          <c:spPr>
            <a:ln w="9525" cap="flat">
              <a:solidFill>
                <a:srgbClr val="DCE3E8"/>
              </a:solidFill>
              <a:prstDash val="solid"/>
              <a:round/>
            </a:ln>
          </c:spPr>
        </c:majorGridlines>
        <c:numFmt formatCode="0.0" sourceLinked="0"/>
        <c:majorTickMark val="out"/>
        <c:minorTickMark val="none"/>
        <c:tickLblPos val="nextTo"/>
        <c:spPr>
          <a:ln w="12700" cap="flat">
            <a:noFill/>
            <a:prstDash val="solid"/>
            <a:round/>
          </a:ln>
        </c:spPr>
        <c:txPr>
          <a:bodyPr/>
          <a:lstStyle/>
          <a:p>
            <a:pPr>
              <a:defRPr sz="1000" b="0" i="0" u="none" strike="noStrike">
                <a:solidFill>
                  <a:srgbClr val="5B6B79"/>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1A2233"/>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Single-task model</c:v>
                </c:pt>
              </c:strCache>
            </c:strRef>
          </c:tx>
          <c:spPr>
            <a:solidFill>
              <a:srgbClr val="A7B1BB"/>
            </a:solidFill>
            <a:effectLst/>
          </c:spPr>
          <c:invertIfNegative val="0"/>
          <c:dLbls>
            <c:numFmt formatCode="0.000" sourceLinked="0"/>
            <c:spPr>
              <a:noFill/>
              <a:ln>
                <a:noFill/>
              </a:ln>
              <a:effectLst/>
            </c:spPr>
            <c:txPr>
              <a:bodyPr/>
              <a:lstStyle/>
              <a:p>
                <a:pPr>
                  <a:defRPr sz="1000" b="0" i="0" u="none" strike="noStrike">
                    <a:solidFill>
                      <a:srgbClr val="1A2233"/>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Diagnosis AUC</c:v>
                </c:pt>
                <c:pt idx="1">
                  <c:v>Kidney Dice</c:v>
                </c:pt>
                <c:pt idx="2">
                  <c:v>Lesion Dice
(lesion images)</c:v>
                </c:pt>
              </c:strCache>
            </c:strRef>
          </c:cat>
          <c:val>
            <c:numRef>
              <c:f>Sheet1!$B$2:$B$4</c:f>
              <c:numCache>
                <c:formatCode>General</c:formatCode>
                <c:ptCount val="3"/>
                <c:pt idx="0">
                  <c:v>0.84360613810741691</c:v>
                </c:pt>
                <c:pt idx="1">
                  <c:v>0.91615539789199829</c:v>
                </c:pt>
                <c:pt idx="2">
                  <c:v>0.4959779679775238</c:v>
                </c:pt>
              </c:numCache>
            </c:numRef>
          </c:val>
          <c:extLst>
            <c:ext xmlns:c16="http://schemas.microsoft.com/office/drawing/2014/chart" uri="{C3380CC4-5D6E-409C-BE32-E72D297353CC}">
              <c16:uniqueId val="{00000000-C23F-40AC-A004-F32BF6EBFC11}"/>
            </c:ext>
          </c:extLst>
        </c:ser>
        <c:ser>
          <c:idx val="1"/>
          <c:order val="1"/>
          <c:tx>
            <c:strRef>
              <c:f>Sheet1!$C$1</c:f>
              <c:strCache>
                <c:ptCount val="1"/>
                <c:pt idx="0">
                  <c:v>Multi-task model (Phase 5b)</c:v>
                </c:pt>
              </c:strCache>
            </c:strRef>
          </c:tx>
          <c:spPr>
            <a:solidFill>
              <a:srgbClr val="21295C"/>
            </a:solidFill>
            <a:effectLst/>
          </c:spPr>
          <c:invertIfNegative val="0"/>
          <c:dLbls>
            <c:numFmt formatCode="0.000" sourceLinked="0"/>
            <c:spPr>
              <a:noFill/>
              <a:ln>
                <a:noFill/>
              </a:ln>
              <a:effectLst/>
            </c:spPr>
            <c:txPr>
              <a:bodyPr/>
              <a:lstStyle/>
              <a:p>
                <a:pPr>
                  <a:defRPr sz="1000" b="0" i="0" u="none" strike="noStrike">
                    <a:solidFill>
                      <a:srgbClr val="1A2233"/>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Diagnosis AUC</c:v>
                </c:pt>
                <c:pt idx="1">
                  <c:v>Kidney Dice</c:v>
                </c:pt>
                <c:pt idx="2">
                  <c:v>Lesion Dice
(lesion images)</c:v>
                </c:pt>
              </c:strCache>
            </c:strRef>
          </c:cat>
          <c:val>
            <c:numRef>
              <c:f>Sheet1!$C$2:$C$4</c:f>
              <c:numCache>
                <c:formatCode>General</c:formatCode>
                <c:ptCount val="3"/>
                <c:pt idx="0">
                  <c:v>0.90140664961636818</c:v>
                </c:pt>
                <c:pt idx="1">
                  <c:v>0.8954128623008728</c:v>
                </c:pt>
                <c:pt idx="2">
                  <c:v>0.4880979061126709</c:v>
                </c:pt>
              </c:numCache>
            </c:numRef>
          </c:val>
          <c:extLst>
            <c:ext xmlns:c16="http://schemas.microsoft.com/office/drawing/2014/chart" uri="{C3380CC4-5D6E-409C-BE32-E72D297353CC}">
              <c16:uniqueId val="{00000001-C23F-40AC-A004-F32BF6EBFC11}"/>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DCE3E8"/>
            </a:solidFill>
            <a:prstDash val="solid"/>
            <a:round/>
          </a:ln>
        </c:spPr>
        <c:txPr>
          <a:bodyPr/>
          <a:lstStyle/>
          <a:p>
            <a:pPr>
              <a:defRPr sz="1250" b="0" i="0" u="none" strike="noStrike">
                <a:solidFill>
                  <a:srgbClr val="5B6B79"/>
                </a:solidFill>
                <a:latin typeface="Calibri"/>
              </a:defRPr>
            </a:pPr>
            <a:endParaRPr lang="en-US"/>
          </a:p>
        </c:txPr>
        <c:crossAx val="2094734552"/>
        <c:crosses val="autoZero"/>
        <c:auto val="1"/>
        <c:lblAlgn val="ctr"/>
        <c:lblOffset val="100"/>
        <c:noMultiLvlLbl val="1"/>
      </c:catAx>
      <c:valAx>
        <c:axId val="2094734552"/>
        <c:scaling>
          <c:orientation val="minMax"/>
          <c:max val="1.05"/>
          <c:min val="0"/>
        </c:scaling>
        <c:delete val="0"/>
        <c:axPos val="l"/>
        <c:majorGridlines>
          <c:spPr>
            <a:ln w="9525" cap="flat">
              <a:solidFill>
                <a:srgbClr val="DCE3E8"/>
              </a:solidFill>
              <a:prstDash val="solid"/>
              <a:round/>
            </a:ln>
          </c:spPr>
        </c:majorGridlines>
        <c:numFmt formatCode="0.0" sourceLinked="0"/>
        <c:majorTickMark val="out"/>
        <c:minorTickMark val="none"/>
        <c:tickLblPos val="nextTo"/>
        <c:spPr>
          <a:ln w="12700" cap="flat">
            <a:noFill/>
            <a:prstDash val="solid"/>
            <a:round/>
          </a:ln>
        </c:spPr>
        <c:txPr>
          <a:bodyPr/>
          <a:lstStyle/>
          <a:p>
            <a:pPr>
              <a:defRPr sz="1000" b="0" i="0" u="none" strike="noStrike">
                <a:solidFill>
                  <a:srgbClr val="5B6B79"/>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1A2233"/>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Phase 4</c:v>
                </c:pt>
              </c:strCache>
            </c:strRef>
          </c:tx>
          <c:spPr>
            <a:solidFill>
              <a:srgbClr val="A7B1BB"/>
            </a:solidFill>
            <a:effectLst/>
          </c:spPr>
          <c:invertIfNegative val="0"/>
          <c:dLbls>
            <c:numFmt formatCode="0.00" sourceLinked="0"/>
            <c:spPr>
              <a:noFill/>
              <a:ln>
                <a:noFill/>
              </a:ln>
              <a:effectLst/>
            </c:spPr>
            <c:txPr>
              <a:bodyPr/>
              <a:lstStyle/>
              <a:p>
                <a:pPr>
                  <a:defRPr sz="850" b="0" i="0" u="none" strike="noStrike">
                    <a:solidFill>
                      <a:srgbClr val="1A2233"/>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1 (9)</c:v>
                </c:pt>
                <c:pt idx="1">
                  <c:v>2 (97)</c:v>
                </c:pt>
                <c:pt idx="2">
                  <c:v>3 (10)</c:v>
                </c:pt>
                <c:pt idx="3">
                  <c:v>4 (21)</c:v>
                </c:pt>
                <c:pt idx="4">
                  <c:v>5 (4)</c:v>
                </c:pt>
                <c:pt idx="5">
                  <c:v>6 (2)</c:v>
                </c:pt>
                <c:pt idx="6">
                  <c:v>7 (65)</c:v>
                </c:pt>
                <c:pt idx="7">
                  <c:v>8 (22)</c:v>
                </c:pt>
                <c:pt idx="8">
                  <c:v>9 (11)</c:v>
                </c:pt>
              </c:strCache>
            </c:strRef>
          </c:cat>
          <c:val>
            <c:numRef>
              <c:f>Sheet1!$B$2:$B$10</c:f>
              <c:numCache>
                <c:formatCode>General</c:formatCode>
                <c:ptCount val="9"/>
                <c:pt idx="0">
                  <c:v>0.76201460976547486</c:v>
                </c:pt>
                <c:pt idx="1">
                  <c:v>0.800148740831923</c:v>
                </c:pt>
                <c:pt idx="2">
                  <c:v>0.91284722222222214</c:v>
                </c:pt>
                <c:pt idx="3">
                  <c:v>0.82826199071686435</c:v>
                </c:pt>
                <c:pt idx="4">
                  <c:v>0.62159863945578231</c:v>
                </c:pt>
                <c:pt idx="5">
                  <c:v>0.77871621621621634</c:v>
                </c:pt>
                <c:pt idx="6">
                  <c:v>0.94701221525255863</c:v>
                </c:pt>
                <c:pt idx="7">
                  <c:v>0.69277009222661401</c:v>
                </c:pt>
                <c:pt idx="8">
                  <c:v>0.59011719987329747</c:v>
                </c:pt>
              </c:numCache>
            </c:numRef>
          </c:val>
          <c:extLst>
            <c:ext xmlns:c16="http://schemas.microsoft.com/office/drawing/2014/chart" uri="{C3380CC4-5D6E-409C-BE32-E72D297353CC}">
              <c16:uniqueId val="{00000000-0E3B-4799-90EE-AE8B7EAF619C}"/>
            </c:ext>
          </c:extLst>
        </c:ser>
        <c:ser>
          <c:idx val="1"/>
          <c:order val="1"/>
          <c:tx>
            <c:strRef>
              <c:f>Sheet1!$C$1</c:f>
              <c:strCache>
                <c:ptCount val="1"/>
                <c:pt idx="0">
                  <c:v>Phase 5b</c:v>
                </c:pt>
              </c:strCache>
            </c:strRef>
          </c:tx>
          <c:spPr>
            <a:solidFill>
              <a:srgbClr val="21295C"/>
            </a:solidFill>
            <a:effectLst/>
          </c:spPr>
          <c:invertIfNegative val="0"/>
          <c:dLbls>
            <c:numFmt formatCode="0.00" sourceLinked="0"/>
            <c:spPr>
              <a:noFill/>
              <a:ln>
                <a:noFill/>
              </a:ln>
              <a:effectLst/>
            </c:spPr>
            <c:txPr>
              <a:bodyPr/>
              <a:lstStyle/>
              <a:p>
                <a:pPr>
                  <a:defRPr sz="850" b="0" i="0" u="none" strike="noStrike">
                    <a:solidFill>
                      <a:srgbClr val="1A2233"/>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1 (9)</c:v>
                </c:pt>
                <c:pt idx="1">
                  <c:v>2 (97)</c:v>
                </c:pt>
                <c:pt idx="2">
                  <c:v>3 (10)</c:v>
                </c:pt>
                <c:pt idx="3">
                  <c:v>4 (21)</c:v>
                </c:pt>
                <c:pt idx="4">
                  <c:v>5 (4)</c:v>
                </c:pt>
                <c:pt idx="5">
                  <c:v>6 (2)</c:v>
                </c:pt>
                <c:pt idx="6">
                  <c:v>7 (65)</c:v>
                </c:pt>
                <c:pt idx="7">
                  <c:v>8 (22)</c:v>
                </c:pt>
                <c:pt idx="8">
                  <c:v>9 (11)</c:v>
                </c:pt>
              </c:strCache>
            </c:strRef>
          </c:cat>
          <c:val>
            <c:numRef>
              <c:f>Sheet1!$C$2:$C$10</c:f>
              <c:numCache>
                <c:formatCode>General</c:formatCode>
                <c:ptCount val="9"/>
                <c:pt idx="0">
                  <c:v>0.74663590926566703</c:v>
                </c:pt>
                <c:pt idx="1">
                  <c:v>0.8202543981125302</c:v>
                </c:pt>
                <c:pt idx="2">
                  <c:v>0.85347222222222219</c:v>
                </c:pt>
                <c:pt idx="3">
                  <c:v>0.76379577101598761</c:v>
                </c:pt>
                <c:pt idx="4">
                  <c:v>0.59863945578231292</c:v>
                </c:pt>
                <c:pt idx="5">
                  <c:v>0.95777027027027017</c:v>
                </c:pt>
                <c:pt idx="6">
                  <c:v>0.91340376361835607</c:v>
                </c:pt>
                <c:pt idx="7">
                  <c:v>0.59527338603425561</c:v>
                </c:pt>
                <c:pt idx="8">
                  <c:v>0.42540386442825473</c:v>
                </c:pt>
              </c:numCache>
            </c:numRef>
          </c:val>
          <c:extLst>
            <c:ext xmlns:c16="http://schemas.microsoft.com/office/drawing/2014/chart" uri="{C3380CC4-5D6E-409C-BE32-E72D297353CC}">
              <c16:uniqueId val="{00000001-0E3B-4799-90EE-AE8B7EAF619C}"/>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DCE3E8"/>
            </a:solidFill>
            <a:prstDash val="solid"/>
            <a:round/>
          </a:ln>
        </c:spPr>
        <c:txPr>
          <a:bodyPr/>
          <a:lstStyle/>
          <a:p>
            <a:pPr>
              <a:defRPr sz="1150" b="0" i="0" u="none" strike="noStrike">
                <a:solidFill>
                  <a:srgbClr val="5B6B79"/>
                </a:solidFill>
                <a:latin typeface="Calibri"/>
              </a:defRPr>
            </a:pPr>
            <a:endParaRPr lang="en-US"/>
          </a:p>
        </c:txPr>
        <c:crossAx val="2094734552"/>
        <c:crosses val="autoZero"/>
        <c:auto val="1"/>
        <c:lblAlgn val="ctr"/>
        <c:lblOffset val="100"/>
        <c:noMultiLvlLbl val="1"/>
      </c:catAx>
      <c:valAx>
        <c:axId val="2094734552"/>
        <c:scaling>
          <c:orientation val="minMax"/>
          <c:max val="1"/>
          <c:min val="0.3"/>
        </c:scaling>
        <c:delete val="0"/>
        <c:axPos val="l"/>
        <c:majorGridlines>
          <c:spPr>
            <a:ln w="9525" cap="flat">
              <a:solidFill>
                <a:srgbClr val="DCE3E8"/>
              </a:solidFill>
              <a:prstDash val="solid"/>
              <a:round/>
            </a:ln>
          </c:spPr>
        </c:majorGridlines>
        <c:numFmt formatCode="0.0" sourceLinked="0"/>
        <c:majorTickMark val="out"/>
        <c:minorTickMark val="none"/>
        <c:tickLblPos val="nextTo"/>
        <c:spPr>
          <a:ln w="12700" cap="flat">
            <a:noFill/>
            <a:prstDash val="solid"/>
            <a:round/>
          </a:ln>
        </c:spPr>
        <c:txPr>
          <a:bodyPr/>
          <a:lstStyle/>
          <a:p>
            <a:pPr>
              <a:defRPr sz="1000" b="0" i="0" u="none" strike="noStrike">
                <a:solidFill>
                  <a:srgbClr val="5B6B79"/>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1A2233"/>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61934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Anubhav Rawat:
Good morning, everyone. I'm Anubhav Rawat, and I'm presenting with Kaustubh. Our project, guided by Sudharson S, is an optimization-based deep learning framework for detecting and segmenting kidney disease in ultrasound images.
At our last review we had finished five of our nine phases. Since then we have retrained every phase under matched conditions, completed the full metaheuristic optimization study, and run most of our ablation experiments. We'll show you all of it, including the results that did not go the way we expected, because those turned out to be some of our most useful findings.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Anubhav Rawat:
Our reference point is URI-CADS, a public, peer-reviewed renal ultrasound benchmark, together with its published system. That system uses two heavy detection networks, a Mask R-CNN and a Faster R-CNN on a ResNet-50 backbone. It reports an AUC of 0.8741 for healthy versus pathological, and 0.8190 for multi-pathology, both using five-fold cross-validation.
Reading their methodology closely, we confirmed five gaps. Their task losses are simply added with equal weight. Preprocessing is never tuned. Lesions are annotated only as bounding boxes, with no pixel masks. Validation stays within their own dataset. And the cost of running two detection networks is not discussed. Each of our contributions targets one of these gaps.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Anubhav Rawat:
These are our six contributions. First, instead of equal loss weights, we search for the weights. Second, we tune the image enhancement parameters jointly with those weights. Third, we compare three metaheuristics, the Coati, Whale and Grey Wolf optimizers, under an equal budget. Fourth, an anatomical constraint that keeps lesion predictions inside the kidney. Fifth, a lightweight single-encoder design. And sixth, validation beyond a single split.
The status labels are honest: the first five are implemented and evaluated, and the validation work is scripted but still to run.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Anubhav Rawat:
The dataset contains 1,985 ultrasound images: 450 healthy and 1,535 pathological. It is imbalanced toward disease, which is why our splits are stratified by diagnosis.
Every image has a pixel-level kidney mask, shown here as the teal outline. Lesions are annotated as bounding boxes, shown in orange, across nine local pathology categories. We split the data 70, 15 and 15 percent into 1,389 training, 298 validation and 298 test images, with a fixed seed, so every phase sees exactly the same data.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Anubhav Rawat:
This is the whole pipeline. An image is resized to 512 by 512 pixels and passed through an enhancement stage: contrast-limited adaptive histogram equalization, or CLAHE, then denoising, then gamma correction. A single ResNet-34 encoder extracts features, and all five task heads read that same feature map. Their losses are combined into one weighted multi-task loss.
The bottom row is what makes the framework optimization-driven. A metaheuristic optimizer proposes the enhancement parameters and the six loss weights, a model is trained with them, and its validation performance is fed back to the optimizer as a fitness score.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Anubhav Rawat:
Here are the five heads in detail. Three are classifiers trained with binary cross-entropy: the diagnosis head, the head for the two global pathologies, and the head for the nine local pathology categories. Two are segmentation decoders trained with Dice loss: one for the kidney, and one for lesions, where the target is the union of the annotated lesion boxes. On top of those sits the anatomical consistency term.
We deliberately avoided Mask R-CNN and U-Net. The whole network has 24.4 million parameters and trained in 0.81 gigabytes of GPU memory. That is the evidence behind our lightweight claim.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Anubhav Rawat:
The training objective is a weighted sum of six losses. Through Phases 2 to 5 every weight is 1, which mirrors the URI-CADS design and gives us a fair baseline. In Phase 6, each weight is searched between 0.1 and 5.
The right side needs a little care, because it became one of our key findings. Our first consistency loss penalized the absolute amount of lesion probability lying outside the kidney. But the quantity we report is the fraction of lesion probability outside the kidney. The absolute version can be lowered just by predicting less lesion everywhere, which leaves that fraction unchanged. The corrected ratio version can only be lowered by moving predictions inside the kidney. Kaustubh will show you what that difference did in practice.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Anubhav Rawat:
This slide shows the enhancement stage on two test images. The middle column uses the hand-picked settings from Phase 3, and the right column uses the settings the Coati optimizer found.
There are four parameters. The CLAHE clip limit caps how much local contrast is amplified. The tile grid sets the size of the neighbourhood that contrast is computed over. The denoising strength controls non-local-means filtering. And gamma reshapes the brightness curve. Non-local-means denoising costs about 0.6 seconds per image, so for each configuration we compute the enhanced images once, across 12 CPU workers, and reuse them for every epoch.</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Anubhav Rawat:
The optimizer searches ten parameters at once: six loss weights and four enhancement settings. Every candidate is scored with one fitness value on the validation set: 30 percent diagnosis AUC, 15 percent local pathology AUC, 25 percent each for kidney and lesion Dice, and 5 percent for anatomical consistency. We use lesion Dice on lesion-bearing images only, for a reason Kaustubh will explain shortly.
Every candidate means training a model, so we scored each one after 3 epochs at 256 by 256 pixels, which takes about two minutes. To keep the comparison fair, each optimizer received exactly 60 trainings, and all three started from the same six random candidates. Every evaluation was also cached, so an interrupted run could resume without repeating work.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Anubhav Rawat:
The three optimizers search in different ways. The Coati algorithm splits its population: half moves toward the best solution and half toward a random point, and then it runs a local search whose radius shrinks every iteration. The Whale algorithm encircles the best solution and uses a spiral update. The Grey Wolf optimizer moves every candidate toward the three best solutions found so far.
Before trusting them on the real problem, we checked all three on two standard test functions, with 1,000 evaluations each. Grey Wolf was best on the smooth sphere function, and Coati was best on Rastrigin, which is full of local optima. With that, I'll hand over to Kaustubh for the results.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Kaustubh:
Thank you, Anubhav. Before we show any results, a word on how trustworthy they are. Every phase uses the same data split, the same seed, 15 epochs, the same batch size and learning rate, on the same GPU. We also moved the whole pipeline from Colab to local hardware, so the first thing we did was re-evaluate our earlier checkpoints with the new code. As the table shows, every metric reproduces within 0.0024.
A quick note on the metrics we'll use. AUC measures how well the model ranks cases, where 0.5 is chance. Dice measures overlap with the ground truth, where 1 is perfect. And the violation rate is the share of predicted lesion probability that falls outside the kidney, so lower is better.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Kaustubh:
This finding changed how we evaluate lesions. Our earlier lesion Dice was about 0.34, which looked weak. But a third of the test images contain no lesion, and on those images a correct empty prediction scores almost 1.
To measure the effect, we evaluated a model with no lesion head at all, which predicts nothing anywhere. It scores 0.319, barely below our Phase 4 model's 0.344. Restricting to the 203 test images that actually contain a lesion separates them clearly: zero for the empty model, and 0.506 for ours. So the lesion decoder was working all along; the metric was hiding it. We now report both numbers, and the optimizer only ever sees the second one.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Kaustubh:
Here is what the change in formulation that Anubhav described actually did. Without any constraint, 23.3% of predicted lesion probability fell outside the kidney. Adding the original absolute-mass loss made it worse, 28.2%, the opposite of its purpose, and our earlier checkpoints showed the same thing.
The corrected ratio loss cut it to 5.4%, a 77 percent reduction, while giving the best diagnosis AUC of any model, 0.9014. The cost is small: lesion Dice on lesion-bearing images went from 0.506 to 0.488, which is expected when annotated lesion boxes extend slightly past the kidney outline.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Kaustubh:
These curves show the effect is systematic across training rather than a lucky final epoch. On the left is the validation violation rate at every epoch. The original absolute form, in orange, spikes to about 0.70 at epoch 4 and only recovers to the unconstrained level by the end. The ratio form, in navy, holds around 0.25 for the first eight epochs and then falls steadily, reaching 0.058 at epoch 15, and it is still falling, which suggests longer training could reduce it further.
On the right, lesion Dice on lesion-bearing images climbs along a similar path for all three models, which fits the small cost we saw on the previous slide.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Kaustubh:
This table brings all six configurations together on the same 298 test images, with the best value in each column in bold green. The corrected anatomical model, Phase 5b, has the lowest violation rate, and its diagnosis AUC of 0.9014 is effectively tied with the baseline's 0.9013. Phase 4 gives the best lesion Dice on lesion-bearing images, and the COA-optimized model gives the best kidney Dice.
One important caveat. URI-CADS reports 0.8741 AUC under five-fold cross-validation, while these numbers come from a single split. Our 0.90 looks stronger, but the like-for-like comparison is Phase 8, which is next on our list.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Kaustubh:
What did the optimizers choose? All three raised the local pathology and kidney segmentation weights well above the baseline value of 1. Coati and Whale cut the diagnosis and global pathology weights to near the minimum of 0.1, while Grey Wolf kept diagnosis high, at 2.9.
For enhancement, all three chose a gamma below 1 and a larger CLAHE tile grid than our hand-picked settings, and Coati and Whale almost switched denoising off. When three different algorithms converge on similar enhancement settings, that suggests those settings reflect a real signal rather than noise.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Kaustubh:
The most important question is whether the optimized configuration holds up after full training. We retrained Coati's winner for 15 epochs at full resolution. Kidney Dice improved, from 0.895 to 0.908. But diagnosis AUC fell from 0.901 to 0.875, and lesion Dice on lesion-bearing images fell from 0.488 to 0.418. Keeping Coati's weights but removing enhancement shows the same lesion drop, so the weights are driving it, not the enhancement.
Our explanation is that the search judged candidates after only 3 epochs, when segmentation improves fastest, so it learned to starve the classification heads. We report this as it is, because it tells us precisely how to fix the search.</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Kaustubh:
The single-task ablation asks whether sharing one encoder actually helps. Each single-task model was trained with exactly one loss term active, under identical conditions. For diagnosis the answer is clearly yes: trained alone it reaches 0.844 AUC, and in the multi-task model 0.901.
For segmentation, not really. The kidney-only model reaches 0.916 Dice against 0.895, and the lesion-only model 0.496 against 0.488. So the multi-task design mainly strengthens classification, and one network replaces three at a small segmentation cost. These are single runs, so the small segmentation gaps still need to be confirmed with cross-validation.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Kaustubh:
Breaking local pathology down by category shows where the model is reliable, and where the numbers cannot be trusted. The two most common categories, 2 and 7, with 97 and 65 test images, reach AUCs of about 0.80 to 0.95. Categories 8 and 9 are the weakest, with category 9 near or below chance.
The counts under each category label matter. Categories 5 and 6 have only 4 and 2 test images, so their very high AUCs are not meaningful. For the paper, we will report per-category results with these counts shown, rather than relying on the mean alone.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Kaustubh:
In terms of status, six of our nine phases are complete. Phase 7 is in progress, with four of its five ablation runs done. Phase 8, which is cross-validation and external validation, is fully scripted and ready to run. And Phase 9 is the write-up.</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Anubhav Rawat:
To conclude. One lightweight network gives strong diagnosis, accurate kidney segmentation and real lesion localization. A correctly formulated anatomical constraint cuts out-of-kidney lesion predictions by 77 percent without hurting diagnosis. The optimizer study is complete and fair, and it showed us that the search setup matters as much as the algorithm. And the remaining work is already scripted and ready to run.
Thank you. We're happy to take your questions.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chart" Target="../charts/char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a:effectLst/>
      </p:bgPr>
    </p:bg>
    <p:spTree>
      <p:nvGrpSpPr>
        <p:cNvPr id="1" name=""/>
        <p:cNvGrpSpPr/>
        <p:nvPr/>
      </p:nvGrpSpPr>
      <p:grpSpPr>
        <a:xfrm>
          <a:off x="0" y="0"/>
          <a:ext cx="0" cy="0"/>
          <a:chOff x="0" y="0"/>
          <a:chExt cx="0" cy="0"/>
        </a:xfrm>
      </p:grpSpPr>
      <p:sp>
        <p:nvSpPr>
          <p:cNvPr id="3" name="Text 0"/>
          <p:cNvSpPr txBox="1"/>
          <p:nvPr/>
        </p:nvSpPr>
        <p:spPr>
          <a:xfrm>
            <a:off x="731520" y="891540"/>
            <a:ext cx="7315200" cy="320040"/>
          </a:xfrm>
          <a:prstGeom prst="rect">
            <a:avLst/>
          </a:prstGeom>
          <a:noFill/>
          <a:ln/>
        </p:spPr>
        <p:txBody>
          <a:bodyPr wrap="square" lIns="0" tIns="0" rIns="0" bIns="0" rtlCol="0" anchor="t"/>
          <a:lstStyle/>
          <a:p>
            <a:pPr marL="0" indent="0">
              <a:buNone/>
            </a:pPr>
            <a:r>
              <a:rPr lang="en-US" sz="1300" b="1" kern="0" spc="300" dirty="0">
                <a:solidFill>
                  <a:srgbClr val="CADCFC"/>
                </a:solidFill>
                <a:latin typeface="Calibri" pitchFamily="34" charset="0"/>
                <a:ea typeface="Calibri" pitchFamily="34" charset="-122"/>
                <a:cs typeface="Calibri" pitchFamily="34" charset="-120"/>
              </a:rPr>
              <a:t>REVIEW - III</a:t>
            </a:r>
            <a:endParaRPr lang="en-US" sz="1300" dirty="0"/>
          </a:p>
        </p:txBody>
      </p:sp>
      <p:sp>
        <p:nvSpPr>
          <p:cNvPr id="4" name="Text 1"/>
          <p:cNvSpPr txBox="1"/>
          <p:nvPr/>
        </p:nvSpPr>
        <p:spPr>
          <a:xfrm>
            <a:off x="731520" y="1417320"/>
            <a:ext cx="10698480" cy="2011680"/>
          </a:xfrm>
          <a:prstGeom prst="rect">
            <a:avLst/>
          </a:prstGeom>
          <a:noFill/>
          <a:ln/>
        </p:spPr>
        <p:txBody>
          <a:bodyPr wrap="square" lIns="0" tIns="0" rIns="0" bIns="0"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Optimization-Based Deep Learning Framework for Kidney Disease Detection and Segmentation from Ultrasound Images</a:t>
            </a:r>
            <a:endParaRPr lang="en-US" sz="3800" dirty="0"/>
          </a:p>
        </p:txBody>
      </p:sp>
      <p:sp>
        <p:nvSpPr>
          <p:cNvPr id="6" name="Text 3"/>
          <p:cNvSpPr txBox="1"/>
          <p:nvPr/>
        </p:nvSpPr>
        <p:spPr>
          <a:xfrm>
            <a:off x="731520" y="4892040"/>
            <a:ext cx="3474720" cy="274320"/>
          </a:xfrm>
          <a:prstGeom prst="rect">
            <a:avLst/>
          </a:prstGeom>
          <a:noFill/>
          <a:ln/>
        </p:spPr>
        <p:txBody>
          <a:bodyPr wrap="square" lIns="0" tIns="0" rIns="0" bIns="0" rtlCol="0" anchor="t"/>
          <a:lstStyle/>
          <a:p>
            <a:pPr marL="0" indent="0">
              <a:buNone/>
            </a:pPr>
            <a:r>
              <a:rPr lang="en-US" sz="1100" b="1" kern="0" spc="200" dirty="0">
                <a:solidFill>
                  <a:srgbClr val="CADCFC"/>
                </a:solidFill>
                <a:latin typeface="Calibri" pitchFamily="34" charset="0"/>
                <a:ea typeface="Calibri" pitchFamily="34" charset="-122"/>
                <a:cs typeface="Calibri" pitchFamily="34" charset="-120"/>
              </a:rPr>
              <a:t>PRESENTED BY</a:t>
            </a:r>
            <a:endParaRPr lang="en-US" sz="1100" dirty="0"/>
          </a:p>
        </p:txBody>
      </p:sp>
      <p:sp>
        <p:nvSpPr>
          <p:cNvPr id="7" name="Text 4"/>
          <p:cNvSpPr txBox="1"/>
          <p:nvPr/>
        </p:nvSpPr>
        <p:spPr>
          <a:xfrm>
            <a:off x="731520" y="5212080"/>
            <a:ext cx="3840480" cy="822960"/>
          </a:xfrm>
          <a:prstGeom prst="rect">
            <a:avLst/>
          </a:prstGeom>
          <a:noFill/>
          <a:ln/>
        </p:spPr>
        <p:txBody>
          <a:bodyPr wrap="square" lIns="0" tIns="0" rIns="0" bIns="0" rtlCol="0" anchor="t"/>
          <a:lstStyle/>
          <a:p>
            <a:pPr marL="0" indent="0">
              <a:buNone/>
            </a:pPr>
            <a:r>
              <a:rPr lang="en-US" sz="1600" dirty="0">
                <a:solidFill>
                  <a:srgbClr val="FFFFFF"/>
                </a:solidFill>
                <a:latin typeface="Calibri" pitchFamily="34" charset="0"/>
                <a:ea typeface="Calibri" pitchFamily="34" charset="-122"/>
                <a:cs typeface="Calibri" pitchFamily="34" charset="-120"/>
              </a:rPr>
              <a:t>Anubhav Rawat (23BCE1471)</a:t>
            </a:r>
            <a:endParaRPr lang="en-US" sz="1600" dirty="0"/>
          </a:p>
          <a:p>
            <a:pPr marL="0" indent="0">
              <a:buNone/>
            </a:pPr>
            <a:r>
              <a:rPr lang="en-US" sz="1600" dirty="0">
                <a:solidFill>
                  <a:srgbClr val="FFFFFF"/>
                </a:solidFill>
                <a:latin typeface="Calibri" pitchFamily="34" charset="0"/>
                <a:ea typeface="Calibri" pitchFamily="34" charset="-122"/>
                <a:cs typeface="Calibri" pitchFamily="34" charset="-120"/>
              </a:rPr>
              <a:t>Kaustubh (23BCE1555)</a:t>
            </a:r>
            <a:endParaRPr lang="en-US" sz="1600" dirty="0"/>
          </a:p>
        </p:txBody>
      </p:sp>
      <p:sp>
        <p:nvSpPr>
          <p:cNvPr id="8" name="Text 5"/>
          <p:cNvSpPr txBox="1"/>
          <p:nvPr/>
        </p:nvSpPr>
        <p:spPr>
          <a:xfrm>
            <a:off x="5120640" y="4892040"/>
            <a:ext cx="3474720" cy="274320"/>
          </a:xfrm>
          <a:prstGeom prst="rect">
            <a:avLst/>
          </a:prstGeom>
          <a:noFill/>
          <a:ln/>
        </p:spPr>
        <p:txBody>
          <a:bodyPr wrap="square" lIns="0" tIns="0" rIns="0" bIns="0" rtlCol="0" anchor="t"/>
          <a:lstStyle/>
          <a:p>
            <a:pPr marL="0" indent="0">
              <a:buNone/>
            </a:pPr>
            <a:r>
              <a:rPr lang="en-US" sz="1100" b="1" kern="0" spc="200" dirty="0">
                <a:solidFill>
                  <a:srgbClr val="CADCFC"/>
                </a:solidFill>
                <a:latin typeface="Calibri" pitchFamily="34" charset="0"/>
                <a:ea typeface="Calibri" pitchFamily="34" charset="-122"/>
                <a:cs typeface="Calibri" pitchFamily="34" charset="-120"/>
              </a:rPr>
              <a:t>GUIDE</a:t>
            </a:r>
            <a:endParaRPr lang="en-US" sz="1100" dirty="0"/>
          </a:p>
        </p:txBody>
      </p:sp>
      <p:sp>
        <p:nvSpPr>
          <p:cNvPr id="9" name="Text 6"/>
          <p:cNvSpPr txBox="1"/>
          <p:nvPr/>
        </p:nvSpPr>
        <p:spPr>
          <a:xfrm>
            <a:off x="5120640" y="5212080"/>
            <a:ext cx="3840480" cy="822960"/>
          </a:xfrm>
          <a:prstGeom prst="rect">
            <a:avLst/>
          </a:prstGeom>
          <a:noFill/>
          <a:ln/>
        </p:spPr>
        <p:txBody>
          <a:bodyPr wrap="square" lIns="0" tIns="0" rIns="0" bIns="0" rtlCol="0" anchor="t"/>
          <a:lstStyle/>
          <a:p>
            <a:pPr marL="0" indent="0">
              <a:buNone/>
            </a:pPr>
            <a:r>
              <a:rPr lang="en-US" sz="1600" dirty="0">
                <a:solidFill>
                  <a:srgbClr val="FFFFFF"/>
                </a:solidFill>
                <a:latin typeface="Calibri" pitchFamily="34" charset="0"/>
                <a:ea typeface="Calibri" pitchFamily="34" charset="-122"/>
                <a:cs typeface="Calibri" pitchFamily="34" charset="-120"/>
              </a:rPr>
              <a:t>Sudharson S</a:t>
            </a:r>
            <a:endParaRPr lang="en-US" sz="1600" dirty="0"/>
          </a:p>
        </p:txBody>
      </p:sp>
      <p:sp>
        <p:nvSpPr>
          <p:cNvPr id="10" name="Text 7"/>
          <p:cNvSpPr txBox="1"/>
          <p:nvPr/>
        </p:nvSpPr>
        <p:spPr>
          <a:xfrm>
            <a:off x="8229600" y="4892040"/>
            <a:ext cx="3474720" cy="274320"/>
          </a:xfrm>
          <a:prstGeom prst="rect">
            <a:avLst/>
          </a:prstGeom>
          <a:noFill/>
          <a:ln/>
        </p:spPr>
        <p:txBody>
          <a:bodyPr wrap="square" lIns="0" tIns="0" rIns="0" bIns="0" rtlCol="0" anchor="t"/>
          <a:lstStyle/>
          <a:p>
            <a:pPr marL="0" indent="0">
              <a:buNone/>
            </a:pPr>
            <a:r>
              <a:rPr lang="en-US" sz="1100" b="1" kern="0" spc="200" dirty="0">
                <a:solidFill>
                  <a:srgbClr val="CADCFC"/>
                </a:solidFill>
                <a:latin typeface="Calibri" pitchFamily="34" charset="0"/>
                <a:ea typeface="Calibri" pitchFamily="34" charset="-122"/>
                <a:cs typeface="Calibri" pitchFamily="34" charset="-120"/>
              </a:rPr>
              <a:t>DATE</a:t>
            </a:r>
            <a:endParaRPr lang="en-US" sz="1100" dirty="0"/>
          </a:p>
        </p:txBody>
      </p:sp>
      <p:sp>
        <p:nvSpPr>
          <p:cNvPr id="11" name="Text 8"/>
          <p:cNvSpPr txBox="1"/>
          <p:nvPr/>
        </p:nvSpPr>
        <p:spPr>
          <a:xfrm>
            <a:off x="8229600" y="5212080"/>
            <a:ext cx="3840480" cy="822960"/>
          </a:xfrm>
          <a:prstGeom prst="rect">
            <a:avLst/>
          </a:prstGeom>
          <a:noFill/>
          <a:ln/>
        </p:spPr>
        <p:txBody>
          <a:bodyPr wrap="square" lIns="0" tIns="0" rIns="0" bIns="0" rtlCol="0" anchor="t"/>
          <a:lstStyle/>
          <a:p>
            <a:pPr marL="0" indent="0">
              <a:buNone/>
            </a:pPr>
            <a:r>
              <a:rPr lang="en-US" sz="1600" dirty="0">
                <a:solidFill>
                  <a:srgbClr val="FFFFFF"/>
                </a:solidFill>
                <a:latin typeface="Calibri" pitchFamily="34" charset="0"/>
                <a:ea typeface="Calibri" pitchFamily="34" charset="-122"/>
                <a:cs typeface="Calibri" pitchFamily="34" charset="-120"/>
              </a:rPr>
              <a:t>16 September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BACKGROUND</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Benchmark System and the Gaps We Target</a:t>
            </a:r>
            <a:endParaRPr lang="en-US" sz="3000" dirty="0"/>
          </a:p>
        </p:txBody>
      </p:sp>
      <p:sp>
        <p:nvSpPr>
          <p:cNvPr id="7" name="Shape 4"/>
          <p:cNvSpPr/>
          <p:nvPr/>
        </p:nvSpPr>
        <p:spPr>
          <a:xfrm>
            <a:off x="548640" y="1920240"/>
            <a:ext cx="4206240" cy="4206240"/>
          </a:xfrm>
          <a:prstGeom prst="roundRect">
            <a:avLst>
              <a:gd name="adj" fmla="val 1304"/>
            </a:avLst>
          </a:prstGeom>
          <a:solidFill>
            <a:srgbClr val="21295C"/>
          </a:solidFill>
          <a:ln w="9525">
            <a:solidFill>
              <a:srgbClr val="21295C"/>
            </a:solidFill>
            <a:prstDash val="solid"/>
          </a:ln>
        </p:spPr>
      </p:sp>
      <p:sp>
        <p:nvSpPr>
          <p:cNvPr id="8" name="Text 5"/>
          <p:cNvSpPr txBox="1"/>
          <p:nvPr/>
        </p:nvSpPr>
        <p:spPr>
          <a:xfrm>
            <a:off x="868680" y="2148840"/>
            <a:ext cx="3657600" cy="274320"/>
          </a:xfrm>
          <a:prstGeom prst="rect">
            <a:avLst/>
          </a:prstGeom>
          <a:noFill/>
          <a:ln/>
        </p:spPr>
        <p:txBody>
          <a:bodyPr wrap="square" lIns="0" tIns="0" rIns="0" bIns="0" rtlCol="0" anchor="t"/>
          <a:lstStyle/>
          <a:p>
            <a:pPr marL="0" indent="0">
              <a:buNone/>
            </a:pPr>
            <a:r>
              <a:rPr lang="en-US" sz="1100" b="1" kern="0" spc="200" dirty="0">
                <a:solidFill>
                  <a:srgbClr val="CADCFC"/>
                </a:solidFill>
                <a:latin typeface="Calibri" pitchFamily="34" charset="0"/>
                <a:ea typeface="Calibri" pitchFamily="34" charset="-122"/>
                <a:cs typeface="Calibri" pitchFamily="34" charset="-120"/>
              </a:rPr>
              <a:t>REFERENCE SYSTEM</a:t>
            </a:r>
            <a:endParaRPr lang="en-US" sz="1100" dirty="0"/>
          </a:p>
        </p:txBody>
      </p:sp>
      <p:sp>
        <p:nvSpPr>
          <p:cNvPr id="9" name="Text 6"/>
          <p:cNvSpPr txBox="1"/>
          <p:nvPr/>
        </p:nvSpPr>
        <p:spPr>
          <a:xfrm>
            <a:off x="868680" y="2468880"/>
            <a:ext cx="3657600" cy="411480"/>
          </a:xfrm>
          <a:prstGeom prst="rect">
            <a:avLst/>
          </a:prstGeom>
          <a:noFill/>
          <a:ln/>
        </p:spPr>
        <p:txBody>
          <a:bodyPr wrap="square" lIns="0" tIns="0" rIns="0" bIns="0" rtlCol="0" anchor="t"/>
          <a:lstStyle/>
          <a:p>
            <a:pPr marL="0" indent="0">
              <a:buNone/>
            </a:pPr>
            <a:r>
              <a:rPr lang="en-US" sz="1900" b="1" dirty="0">
                <a:solidFill>
                  <a:srgbClr val="FFFFFF"/>
                </a:solidFill>
                <a:latin typeface="Cambria" pitchFamily="34" charset="0"/>
                <a:ea typeface="Cambria" pitchFamily="34" charset="-122"/>
                <a:cs typeface="Cambria" pitchFamily="34" charset="-120"/>
              </a:rPr>
              <a:t>URI-CADS (Molina-Cabello et al.)</a:t>
            </a:r>
            <a:endParaRPr lang="en-US" sz="1900" dirty="0"/>
          </a:p>
        </p:txBody>
      </p:sp>
      <p:sp>
        <p:nvSpPr>
          <p:cNvPr id="10" name="Text 7"/>
          <p:cNvSpPr txBox="1"/>
          <p:nvPr/>
        </p:nvSpPr>
        <p:spPr>
          <a:xfrm>
            <a:off x="868680" y="2971800"/>
            <a:ext cx="3657600" cy="1097280"/>
          </a:xfrm>
          <a:prstGeom prst="rect">
            <a:avLst/>
          </a:prstGeom>
          <a:noFill/>
          <a:ln/>
        </p:spPr>
        <p:txBody>
          <a:bodyPr wrap="square" lIns="0" tIns="0" rIns="0" bIns="0" rtlCol="0" anchor="t"/>
          <a:lstStyle/>
          <a:p>
            <a:pPr marL="177800" indent="-177800">
              <a:spcAft>
                <a:spcPts val="500"/>
              </a:spcAft>
              <a:buSzPct val="100000"/>
              <a:buChar char="•"/>
            </a:pPr>
            <a:r>
              <a:rPr lang="en-US" sz="1350" dirty="0">
                <a:solidFill>
                  <a:srgbClr val="FFFFFF"/>
                </a:solidFill>
                <a:latin typeface="Calibri" pitchFamily="34" charset="0"/>
                <a:ea typeface="Calibri" pitchFamily="34" charset="-122"/>
                <a:cs typeface="Calibri" pitchFamily="34" charset="-120"/>
              </a:rPr>
              <a:t>Dual Mask R-CNN + Faster R-CNN</a:t>
            </a:r>
            <a:endParaRPr lang="en-US" sz="1400" dirty="0"/>
          </a:p>
          <a:p>
            <a:pPr marL="177800" indent="-177800">
              <a:spcAft>
                <a:spcPts val="500"/>
              </a:spcAft>
              <a:buSzPct val="100000"/>
              <a:buChar char="•"/>
            </a:pPr>
            <a:r>
              <a:rPr lang="en-US" sz="1350" dirty="0">
                <a:solidFill>
                  <a:srgbClr val="FFFFFF"/>
                </a:solidFill>
                <a:latin typeface="Calibri" pitchFamily="34" charset="0"/>
                <a:ea typeface="Calibri" pitchFamily="34" charset="-122"/>
                <a:cs typeface="Calibri" pitchFamily="34" charset="-120"/>
              </a:rPr>
              <a:t>ResNet-50 backbone</a:t>
            </a:r>
            <a:endParaRPr lang="en-US" sz="1400" dirty="0"/>
          </a:p>
          <a:p>
            <a:pPr marL="177800" indent="-177800">
              <a:spcAft>
                <a:spcPts val="500"/>
              </a:spcAft>
              <a:buSzPct val="100000"/>
              <a:buChar char="•"/>
            </a:pPr>
            <a:r>
              <a:rPr lang="en-US" sz="1350" dirty="0">
                <a:solidFill>
                  <a:srgbClr val="FFFFFF"/>
                </a:solidFill>
                <a:latin typeface="Calibri" pitchFamily="34" charset="0"/>
                <a:ea typeface="Calibri" pitchFamily="34" charset="-122"/>
                <a:cs typeface="Calibri" pitchFamily="34" charset="-120"/>
              </a:rPr>
              <a:t>Five-fold cross-validation on its own data</a:t>
            </a:r>
            <a:endParaRPr lang="en-US" sz="1400" dirty="0"/>
          </a:p>
        </p:txBody>
      </p:sp>
      <p:sp>
        <p:nvSpPr>
          <p:cNvPr id="11" name="Text 8"/>
          <p:cNvSpPr txBox="1"/>
          <p:nvPr/>
        </p:nvSpPr>
        <p:spPr>
          <a:xfrm>
            <a:off x="868680" y="4206240"/>
            <a:ext cx="1828800" cy="566928"/>
          </a:xfrm>
          <a:prstGeom prst="rect">
            <a:avLst/>
          </a:prstGeom>
          <a:noFill/>
          <a:ln/>
        </p:spPr>
        <p:txBody>
          <a:bodyPr wrap="square" lIns="0" tIns="0" rIns="0" bIns="0" rtlCol="0" anchor="b"/>
          <a:lstStyle/>
          <a:p>
            <a:pPr marL="0" indent="0">
              <a:buNone/>
            </a:pPr>
            <a:r>
              <a:rPr lang="en-US" sz="3000" b="1" dirty="0">
                <a:solidFill>
                  <a:srgbClr val="FFFFFF"/>
                </a:solidFill>
                <a:latin typeface="Cambria" pitchFamily="34" charset="0"/>
                <a:ea typeface="Cambria" pitchFamily="34" charset="-122"/>
                <a:cs typeface="Cambria" pitchFamily="34" charset="-120"/>
              </a:rPr>
              <a:t>0.8741</a:t>
            </a:r>
            <a:endParaRPr lang="en-US" sz="3000" dirty="0"/>
          </a:p>
        </p:txBody>
      </p:sp>
      <p:sp>
        <p:nvSpPr>
          <p:cNvPr id="12" name="Text 9"/>
          <p:cNvSpPr txBox="1"/>
          <p:nvPr/>
        </p:nvSpPr>
        <p:spPr>
          <a:xfrm>
            <a:off x="868680" y="4809744"/>
            <a:ext cx="1828800" cy="502920"/>
          </a:xfrm>
          <a:prstGeom prst="rect">
            <a:avLst/>
          </a:prstGeom>
          <a:noFill/>
          <a:ln/>
        </p:spPr>
        <p:txBody>
          <a:bodyPr wrap="square" lIns="0" tIns="0" rIns="0" bIns="0" rtlCol="0" anchor="t"/>
          <a:lstStyle/>
          <a:p>
            <a:pPr marL="0" indent="0">
              <a:buNone/>
            </a:pPr>
            <a:r>
              <a:rPr lang="en-US" sz="1200" dirty="0">
                <a:solidFill>
                  <a:srgbClr val="CADCFC"/>
                </a:solidFill>
                <a:latin typeface="Calibri" pitchFamily="34" charset="0"/>
                <a:ea typeface="Calibri" pitchFamily="34" charset="-122"/>
                <a:cs typeface="Calibri" pitchFamily="34" charset="-120"/>
              </a:rPr>
              <a:t>AUC, healthy vs pathological</a:t>
            </a:r>
            <a:endParaRPr lang="en-US" sz="1200" dirty="0"/>
          </a:p>
        </p:txBody>
      </p:sp>
      <p:sp>
        <p:nvSpPr>
          <p:cNvPr id="13" name="Text 10"/>
          <p:cNvSpPr txBox="1"/>
          <p:nvPr/>
        </p:nvSpPr>
        <p:spPr>
          <a:xfrm>
            <a:off x="2788920" y="4206240"/>
            <a:ext cx="1828800" cy="566928"/>
          </a:xfrm>
          <a:prstGeom prst="rect">
            <a:avLst/>
          </a:prstGeom>
          <a:noFill/>
          <a:ln/>
        </p:spPr>
        <p:txBody>
          <a:bodyPr wrap="square" lIns="0" tIns="0" rIns="0" bIns="0" rtlCol="0" anchor="b"/>
          <a:lstStyle/>
          <a:p>
            <a:pPr marL="0" indent="0">
              <a:buNone/>
            </a:pPr>
            <a:r>
              <a:rPr lang="en-US" sz="3000" b="1" dirty="0">
                <a:solidFill>
                  <a:srgbClr val="FFFFFF"/>
                </a:solidFill>
                <a:latin typeface="Cambria" pitchFamily="34" charset="0"/>
                <a:ea typeface="Cambria" pitchFamily="34" charset="-122"/>
                <a:cs typeface="Cambria" pitchFamily="34" charset="-120"/>
              </a:rPr>
              <a:t>0.8190</a:t>
            </a:r>
            <a:endParaRPr lang="en-US" sz="3000" dirty="0"/>
          </a:p>
        </p:txBody>
      </p:sp>
      <p:sp>
        <p:nvSpPr>
          <p:cNvPr id="14" name="Text 11"/>
          <p:cNvSpPr txBox="1"/>
          <p:nvPr/>
        </p:nvSpPr>
        <p:spPr>
          <a:xfrm>
            <a:off x="2788920" y="4809744"/>
            <a:ext cx="1828800" cy="502920"/>
          </a:xfrm>
          <a:prstGeom prst="rect">
            <a:avLst/>
          </a:prstGeom>
          <a:noFill/>
          <a:ln/>
        </p:spPr>
        <p:txBody>
          <a:bodyPr wrap="square" lIns="0" tIns="0" rIns="0" bIns="0" rtlCol="0" anchor="t"/>
          <a:lstStyle/>
          <a:p>
            <a:pPr marL="0" indent="0">
              <a:buNone/>
            </a:pPr>
            <a:r>
              <a:rPr lang="en-US" sz="1200" dirty="0">
                <a:solidFill>
                  <a:srgbClr val="CADCFC"/>
                </a:solidFill>
                <a:latin typeface="Calibri" pitchFamily="34" charset="0"/>
                <a:ea typeface="Calibri" pitchFamily="34" charset="-122"/>
                <a:cs typeface="Calibri" pitchFamily="34" charset="-120"/>
              </a:rPr>
              <a:t>AUC, multi-pathological</a:t>
            </a:r>
            <a:endParaRPr lang="en-US" sz="1200" dirty="0"/>
          </a:p>
        </p:txBody>
      </p:sp>
      <p:sp>
        <p:nvSpPr>
          <p:cNvPr id="15" name="Shape 12"/>
          <p:cNvSpPr/>
          <p:nvPr/>
        </p:nvSpPr>
        <p:spPr>
          <a:xfrm>
            <a:off x="5120640" y="1920240"/>
            <a:ext cx="420624" cy="420624"/>
          </a:xfrm>
          <a:prstGeom prst="roundRect">
            <a:avLst>
              <a:gd name="adj" fmla="val 17391"/>
            </a:avLst>
          </a:prstGeom>
          <a:solidFill>
            <a:srgbClr val="21295C"/>
          </a:solidFill>
          <a:ln/>
        </p:spPr>
      </p:sp>
      <p:sp>
        <p:nvSpPr>
          <p:cNvPr id="16" name="Text 13"/>
          <p:cNvSpPr txBox="1"/>
          <p:nvPr/>
        </p:nvSpPr>
        <p:spPr>
          <a:xfrm>
            <a:off x="5120640" y="192024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01</a:t>
            </a:r>
            <a:endParaRPr lang="en-US" sz="1300" dirty="0"/>
          </a:p>
        </p:txBody>
      </p:sp>
      <p:sp>
        <p:nvSpPr>
          <p:cNvPr id="17" name="Text 14"/>
          <p:cNvSpPr txBox="1"/>
          <p:nvPr/>
        </p:nvSpPr>
        <p:spPr>
          <a:xfrm>
            <a:off x="5687568" y="1901952"/>
            <a:ext cx="5952744" cy="329184"/>
          </a:xfrm>
          <a:prstGeom prst="rect">
            <a:avLst/>
          </a:prstGeom>
          <a:noFill/>
          <a:ln/>
        </p:spPr>
        <p:txBody>
          <a:bodyPr wrap="square" lIns="0" tIns="0" rIns="0" bIns="0" rtlCol="0" anchor="t"/>
          <a:lstStyle/>
          <a:p>
            <a:pPr marL="0" indent="0">
              <a:buNone/>
            </a:pPr>
            <a:r>
              <a:rPr lang="en-US" sz="1500" b="1" dirty="0">
                <a:solidFill>
                  <a:srgbClr val="1A2233"/>
                </a:solidFill>
                <a:latin typeface="Calibri" pitchFamily="34" charset="0"/>
                <a:ea typeface="Calibri" pitchFamily="34" charset="-122"/>
                <a:cs typeface="Calibri" pitchFamily="34" charset="-120"/>
              </a:rPr>
              <a:t>Unweighted loss sum</a:t>
            </a:r>
            <a:endParaRPr lang="en-US" sz="1500" dirty="0"/>
          </a:p>
        </p:txBody>
      </p:sp>
      <p:sp>
        <p:nvSpPr>
          <p:cNvPr id="18" name="Text 15"/>
          <p:cNvSpPr txBox="1"/>
          <p:nvPr/>
        </p:nvSpPr>
        <p:spPr>
          <a:xfrm>
            <a:off x="5687568" y="2231136"/>
            <a:ext cx="5952744" cy="411480"/>
          </a:xfrm>
          <a:prstGeom prst="rect">
            <a:avLst/>
          </a:prstGeom>
          <a:noFill/>
          <a:ln/>
        </p:spPr>
        <p:txBody>
          <a:bodyPr wrap="square" lIns="0" tIns="0" rIns="0" bIns="0" rtlCol="0" anchor="t"/>
          <a:lstStyle/>
          <a:p>
            <a:pPr marL="0" indent="0">
              <a:buNone/>
            </a:pPr>
            <a:r>
              <a:rPr lang="en-US" sz="1250" dirty="0">
                <a:solidFill>
                  <a:srgbClr val="5B6B79"/>
                </a:solidFill>
                <a:latin typeface="Calibri" pitchFamily="34" charset="0"/>
                <a:ea typeface="Calibri" pitchFamily="34" charset="-122"/>
                <a:cs typeface="Calibri" pitchFamily="34" charset="-120"/>
              </a:rPr>
              <a:t>Task losses are added with equal weight; no tuned or learned weighting.</a:t>
            </a:r>
            <a:endParaRPr lang="en-US" sz="1250" dirty="0"/>
          </a:p>
        </p:txBody>
      </p:sp>
      <p:sp>
        <p:nvSpPr>
          <p:cNvPr id="19" name="Shape 16"/>
          <p:cNvSpPr/>
          <p:nvPr/>
        </p:nvSpPr>
        <p:spPr>
          <a:xfrm>
            <a:off x="5120640" y="2770632"/>
            <a:ext cx="420624" cy="420624"/>
          </a:xfrm>
          <a:prstGeom prst="roundRect">
            <a:avLst>
              <a:gd name="adj" fmla="val 17391"/>
            </a:avLst>
          </a:prstGeom>
          <a:solidFill>
            <a:srgbClr val="21295C"/>
          </a:solidFill>
          <a:ln/>
        </p:spPr>
      </p:sp>
      <p:sp>
        <p:nvSpPr>
          <p:cNvPr id="20" name="Text 17"/>
          <p:cNvSpPr txBox="1"/>
          <p:nvPr/>
        </p:nvSpPr>
        <p:spPr>
          <a:xfrm>
            <a:off x="5120640" y="2770632"/>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02</a:t>
            </a:r>
            <a:endParaRPr lang="en-US" sz="1300" dirty="0"/>
          </a:p>
        </p:txBody>
      </p:sp>
      <p:sp>
        <p:nvSpPr>
          <p:cNvPr id="21" name="Text 18"/>
          <p:cNvSpPr txBox="1"/>
          <p:nvPr/>
        </p:nvSpPr>
        <p:spPr>
          <a:xfrm>
            <a:off x="5687568" y="2752344"/>
            <a:ext cx="5952744" cy="329184"/>
          </a:xfrm>
          <a:prstGeom prst="rect">
            <a:avLst/>
          </a:prstGeom>
          <a:noFill/>
          <a:ln/>
        </p:spPr>
        <p:txBody>
          <a:bodyPr wrap="square" lIns="0" tIns="0" rIns="0" bIns="0" rtlCol="0" anchor="t"/>
          <a:lstStyle/>
          <a:p>
            <a:pPr marL="0" indent="0">
              <a:buNone/>
            </a:pPr>
            <a:r>
              <a:rPr lang="en-US" sz="1500" b="1" dirty="0">
                <a:solidFill>
                  <a:srgbClr val="1A2233"/>
                </a:solidFill>
                <a:latin typeface="Calibri" pitchFamily="34" charset="0"/>
                <a:ea typeface="Calibri" pitchFamily="34" charset="-122"/>
                <a:cs typeface="Calibri" pitchFamily="34" charset="-120"/>
              </a:rPr>
              <a:t>No optimized preprocessing</a:t>
            </a:r>
            <a:endParaRPr lang="en-US" sz="1500" dirty="0"/>
          </a:p>
        </p:txBody>
      </p:sp>
      <p:sp>
        <p:nvSpPr>
          <p:cNvPr id="22" name="Text 19"/>
          <p:cNvSpPr txBox="1"/>
          <p:nvPr/>
        </p:nvSpPr>
        <p:spPr>
          <a:xfrm>
            <a:off x="5687568" y="3081528"/>
            <a:ext cx="5952744" cy="411480"/>
          </a:xfrm>
          <a:prstGeom prst="rect">
            <a:avLst/>
          </a:prstGeom>
          <a:noFill/>
          <a:ln/>
        </p:spPr>
        <p:txBody>
          <a:bodyPr wrap="square" lIns="0" tIns="0" rIns="0" bIns="0" rtlCol="0" anchor="t"/>
          <a:lstStyle/>
          <a:p>
            <a:pPr marL="0" indent="0">
              <a:buNone/>
            </a:pPr>
            <a:r>
              <a:rPr lang="en-US" sz="1250" dirty="0">
                <a:solidFill>
                  <a:srgbClr val="5B6B79"/>
                </a:solidFill>
                <a:latin typeface="Calibri" pitchFamily="34" charset="0"/>
                <a:ea typeface="Calibri" pitchFamily="34" charset="-122"/>
                <a:cs typeface="Calibri" pitchFamily="34" charset="-120"/>
              </a:rPr>
              <a:t>Standard augmentation only; image enhancement is never tuned.</a:t>
            </a:r>
            <a:endParaRPr lang="en-US" sz="1250" dirty="0"/>
          </a:p>
        </p:txBody>
      </p:sp>
      <p:sp>
        <p:nvSpPr>
          <p:cNvPr id="23" name="Shape 20"/>
          <p:cNvSpPr/>
          <p:nvPr/>
        </p:nvSpPr>
        <p:spPr>
          <a:xfrm>
            <a:off x="5120640" y="3621024"/>
            <a:ext cx="420624" cy="420624"/>
          </a:xfrm>
          <a:prstGeom prst="roundRect">
            <a:avLst>
              <a:gd name="adj" fmla="val 17391"/>
            </a:avLst>
          </a:prstGeom>
          <a:solidFill>
            <a:srgbClr val="21295C"/>
          </a:solidFill>
          <a:ln/>
        </p:spPr>
      </p:sp>
      <p:sp>
        <p:nvSpPr>
          <p:cNvPr id="24" name="Text 21"/>
          <p:cNvSpPr txBox="1"/>
          <p:nvPr/>
        </p:nvSpPr>
        <p:spPr>
          <a:xfrm>
            <a:off x="5120640" y="3621024"/>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03</a:t>
            </a:r>
            <a:endParaRPr lang="en-US" sz="1300" dirty="0"/>
          </a:p>
        </p:txBody>
      </p:sp>
      <p:sp>
        <p:nvSpPr>
          <p:cNvPr id="25" name="Text 22"/>
          <p:cNvSpPr txBox="1"/>
          <p:nvPr/>
        </p:nvSpPr>
        <p:spPr>
          <a:xfrm>
            <a:off x="5687568" y="3602736"/>
            <a:ext cx="5952744" cy="329184"/>
          </a:xfrm>
          <a:prstGeom prst="rect">
            <a:avLst/>
          </a:prstGeom>
          <a:noFill/>
          <a:ln/>
        </p:spPr>
        <p:txBody>
          <a:bodyPr wrap="square" lIns="0" tIns="0" rIns="0" bIns="0" rtlCol="0" anchor="t"/>
          <a:lstStyle/>
          <a:p>
            <a:pPr marL="0" indent="0">
              <a:buNone/>
            </a:pPr>
            <a:r>
              <a:rPr lang="en-US" sz="1500" b="1" dirty="0">
                <a:solidFill>
                  <a:srgbClr val="1A2233"/>
                </a:solidFill>
                <a:latin typeface="Calibri" pitchFamily="34" charset="0"/>
                <a:ea typeface="Calibri" pitchFamily="34" charset="-122"/>
                <a:cs typeface="Calibri" pitchFamily="34" charset="-120"/>
              </a:rPr>
              <a:t>No pixel-level lesion masks</a:t>
            </a:r>
            <a:endParaRPr lang="en-US" sz="1500" dirty="0"/>
          </a:p>
        </p:txBody>
      </p:sp>
      <p:sp>
        <p:nvSpPr>
          <p:cNvPr id="26" name="Text 23"/>
          <p:cNvSpPr txBox="1"/>
          <p:nvPr/>
        </p:nvSpPr>
        <p:spPr>
          <a:xfrm>
            <a:off x="5687568" y="3931920"/>
            <a:ext cx="5952744" cy="411480"/>
          </a:xfrm>
          <a:prstGeom prst="rect">
            <a:avLst/>
          </a:prstGeom>
          <a:noFill/>
          <a:ln/>
        </p:spPr>
        <p:txBody>
          <a:bodyPr wrap="square" lIns="0" tIns="0" rIns="0" bIns="0" rtlCol="0" anchor="t"/>
          <a:lstStyle/>
          <a:p>
            <a:pPr marL="0" indent="0">
              <a:buNone/>
            </a:pPr>
            <a:r>
              <a:rPr lang="en-US" sz="1250" dirty="0">
                <a:solidFill>
                  <a:srgbClr val="5B6B79"/>
                </a:solidFill>
                <a:latin typeface="Calibri" pitchFamily="34" charset="0"/>
                <a:ea typeface="Calibri" pitchFamily="34" charset="-122"/>
                <a:cs typeface="Calibri" pitchFamily="34" charset="-120"/>
              </a:rPr>
              <a:t>Lesions exist only as bounding boxes, so lesion segmentation is not addressed.</a:t>
            </a:r>
            <a:endParaRPr lang="en-US" sz="1250" dirty="0"/>
          </a:p>
        </p:txBody>
      </p:sp>
      <p:sp>
        <p:nvSpPr>
          <p:cNvPr id="27" name="Shape 24"/>
          <p:cNvSpPr/>
          <p:nvPr/>
        </p:nvSpPr>
        <p:spPr>
          <a:xfrm>
            <a:off x="5120640" y="4471416"/>
            <a:ext cx="420624" cy="420624"/>
          </a:xfrm>
          <a:prstGeom prst="roundRect">
            <a:avLst>
              <a:gd name="adj" fmla="val 17391"/>
            </a:avLst>
          </a:prstGeom>
          <a:solidFill>
            <a:srgbClr val="21295C"/>
          </a:solidFill>
          <a:ln/>
        </p:spPr>
      </p:sp>
      <p:sp>
        <p:nvSpPr>
          <p:cNvPr id="28" name="Text 25"/>
          <p:cNvSpPr txBox="1"/>
          <p:nvPr/>
        </p:nvSpPr>
        <p:spPr>
          <a:xfrm>
            <a:off x="5120640" y="4471416"/>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04</a:t>
            </a:r>
            <a:endParaRPr lang="en-US" sz="1300" dirty="0"/>
          </a:p>
        </p:txBody>
      </p:sp>
      <p:sp>
        <p:nvSpPr>
          <p:cNvPr id="29" name="Text 26"/>
          <p:cNvSpPr txBox="1"/>
          <p:nvPr/>
        </p:nvSpPr>
        <p:spPr>
          <a:xfrm>
            <a:off x="5687568" y="4453128"/>
            <a:ext cx="5952744" cy="329184"/>
          </a:xfrm>
          <a:prstGeom prst="rect">
            <a:avLst/>
          </a:prstGeom>
          <a:noFill/>
          <a:ln/>
        </p:spPr>
        <p:txBody>
          <a:bodyPr wrap="square" lIns="0" tIns="0" rIns="0" bIns="0" rtlCol="0" anchor="t"/>
          <a:lstStyle/>
          <a:p>
            <a:pPr marL="0" indent="0">
              <a:buNone/>
            </a:pPr>
            <a:r>
              <a:rPr lang="en-US" sz="1500" b="1" dirty="0">
                <a:solidFill>
                  <a:srgbClr val="1A2233"/>
                </a:solidFill>
                <a:latin typeface="Calibri" pitchFamily="34" charset="0"/>
                <a:ea typeface="Calibri" pitchFamily="34" charset="-122"/>
                <a:cs typeface="Calibri" pitchFamily="34" charset="-120"/>
              </a:rPr>
              <a:t>Single-dataset validation</a:t>
            </a:r>
            <a:endParaRPr lang="en-US" sz="1500" dirty="0"/>
          </a:p>
        </p:txBody>
      </p:sp>
      <p:sp>
        <p:nvSpPr>
          <p:cNvPr id="30" name="Text 27"/>
          <p:cNvSpPr txBox="1"/>
          <p:nvPr/>
        </p:nvSpPr>
        <p:spPr>
          <a:xfrm>
            <a:off x="5687568" y="4782312"/>
            <a:ext cx="5952744" cy="411480"/>
          </a:xfrm>
          <a:prstGeom prst="rect">
            <a:avLst/>
          </a:prstGeom>
          <a:noFill/>
          <a:ln/>
        </p:spPr>
        <p:txBody>
          <a:bodyPr wrap="square" lIns="0" tIns="0" rIns="0" bIns="0" rtlCol="0" anchor="t"/>
          <a:lstStyle/>
          <a:p>
            <a:pPr marL="0" indent="0">
              <a:buNone/>
            </a:pPr>
            <a:r>
              <a:rPr lang="en-US" sz="1250" dirty="0">
                <a:solidFill>
                  <a:srgbClr val="5B6B79"/>
                </a:solidFill>
                <a:latin typeface="Calibri" pitchFamily="34" charset="0"/>
                <a:ea typeface="Calibri" pitchFamily="34" charset="-122"/>
                <a:cs typeface="Calibri" pitchFamily="34" charset="-120"/>
              </a:rPr>
              <a:t>Cross-validation within one dataset; no external or cross-cohort test.</a:t>
            </a:r>
            <a:endParaRPr lang="en-US" sz="1250" dirty="0"/>
          </a:p>
        </p:txBody>
      </p:sp>
      <p:sp>
        <p:nvSpPr>
          <p:cNvPr id="31" name="Shape 28"/>
          <p:cNvSpPr/>
          <p:nvPr/>
        </p:nvSpPr>
        <p:spPr>
          <a:xfrm>
            <a:off x="5120640" y="5321808"/>
            <a:ext cx="420624" cy="420624"/>
          </a:xfrm>
          <a:prstGeom prst="roundRect">
            <a:avLst>
              <a:gd name="adj" fmla="val 17391"/>
            </a:avLst>
          </a:prstGeom>
          <a:solidFill>
            <a:srgbClr val="21295C"/>
          </a:solidFill>
          <a:ln/>
        </p:spPr>
      </p:sp>
      <p:sp>
        <p:nvSpPr>
          <p:cNvPr id="32" name="Text 29"/>
          <p:cNvSpPr txBox="1"/>
          <p:nvPr/>
        </p:nvSpPr>
        <p:spPr>
          <a:xfrm>
            <a:off x="5120640" y="5321808"/>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05</a:t>
            </a:r>
            <a:endParaRPr lang="en-US" sz="1300" dirty="0"/>
          </a:p>
        </p:txBody>
      </p:sp>
      <p:sp>
        <p:nvSpPr>
          <p:cNvPr id="33" name="Text 30"/>
          <p:cNvSpPr txBox="1"/>
          <p:nvPr/>
        </p:nvSpPr>
        <p:spPr>
          <a:xfrm>
            <a:off x="5687568" y="5303520"/>
            <a:ext cx="5952744" cy="329184"/>
          </a:xfrm>
          <a:prstGeom prst="rect">
            <a:avLst/>
          </a:prstGeom>
          <a:noFill/>
          <a:ln/>
        </p:spPr>
        <p:txBody>
          <a:bodyPr wrap="square" lIns="0" tIns="0" rIns="0" bIns="0" rtlCol="0" anchor="t"/>
          <a:lstStyle/>
          <a:p>
            <a:pPr marL="0" indent="0">
              <a:buNone/>
            </a:pPr>
            <a:r>
              <a:rPr lang="en-US" sz="1500" b="1" dirty="0">
                <a:solidFill>
                  <a:srgbClr val="1A2233"/>
                </a:solidFill>
                <a:latin typeface="Calibri" pitchFamily="34" charset="0"/>
                <a:ea typeface="Calibri" pitchFamily="34" charset="-122"/>
                <a:cs typeface="Calibri" pitchFamily="34" charset="-120"/>
              </a:rPr>
              <a:t>Compute cost not addressed</a:t>
            </a:r>
            <a:endParaRPr lang="en-US" sz="1500" dirty="0"/>
          </a:p>
        </p:txBody>
      </p:sp>
      <p:sp>
        <p:nvSpPr>
          <p:cNvPr id="34" name="Text 31"/>
          <p:cNvSpPr txBox="1"/>
          <p:nvPr/>
        </p:nvSpPr>
        <p:spPr>
          <a:xfrm>
            <a:off x="5687568" y="5632704"/>
            <a:ext cx="5952744" cy="411480"/>
          </a:xfrm>
          <a:prstGeom prst="rect">
            <a:avLst/>
          </a:prstGeom>
          <a:noFill/>
          <a:ln/>
        </p:spPr>
        <p:txBody>
          <a:bodyPr wrap="square" lIns="0" tIns="0" rIns="0" bIns="0" rtlCol="0" anchor="t"/>
          <a:lstStyle/>
          <a:p>
            <a:pPr marL="0" indent="0">
              <a:buNone/>
            </a:pPr>
            <a:r>
              <a:rPr lang="en-US" sz="1250" dirty="0">
                <a:solidFill>
                  <a:srgbClr val="5B6B79"/>
                </a:solidFill>
                <a:latin typeface="Calibri" pitchFamily="34" charset="0"/>
                <a:ea typeface="Calibri" pitchFamily="34" charset="-122"/>
                <a:cs typeface="Calibri" pitchFamily="34" charset="-120"/>
              </a:rPr>
              <a:t>Two detection networks; deployability on point-of-care devices is not discussed.</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CONTRIBUTIONS</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Six Contributions, One Per Gap</a:t>
            </a:r>
            <a:endParaRPr lang="en-US" sz="3000" dirty="0"/>
          </a:p>
        </p:txBody>
      </p:sp>
      <p:sp>
        <p:nvSpPr>
          <p:cNvPr id="7" name="Shape 4"/>
          <p:cNvSpPr/>
          <p:nvPr/>
        </p:nvSpPr>
        <p:spPr>
          <a:xfrm>
            <a:off x="548640" y="1920240"/>
            <a:ext cx="3566160" cy="1965960"/>
          </a:xfrm>
          <a:prstGeom prst="roundRect">
            <a:avLst>
              <a:gd name="adj" fmla="val 2791"/>
            </a:avLst>
          </a:prstGeom>
          <a:solidFill>
            <a:srgbClr val="F3F6F9"/>
          </a:solidFill>
          <a:ln w="9525">
            <a:solidFill>
              <a:srgbClr val="DCE3E8"/>
            </a:solidFill>
            <a:prstDash val="solid"/>
          </a:ln>
        </p:spPr>
      </p:sp>
      <p:sp>
        <p:nvSpPr>
          <p:cNvPr id="8" name="Shape 5"/>
          <p:cNvSpPr/>
          <p:nvPr/>
        </p:nvSpPr>
        <p:spPr>
          <a:xfrm>
            <a:off x="822960" y="2194560"/>
            <a:ext cx="420624" cy="420624"/>
          </a:xfrm>
          <a:prstGeom prst="roundRect">
            <a:avLst>
              <a:gd name="adj" fmla="val 17391"/>
            </a:avLst>
          </a:prstGeom>
          <a:solidFill>
            <a:srgbClr val="21295C"/>
          </a:solidFill>
          <a:ln/>
        </p:spPr>
      </p:sp>
      <p:sp>
        <p:nvSpPr>
          <p:cNvPr id="9" name="Text 6"/>
          <p:cNvSpPr txBox="1"/>
          <p:nvPr/>
        </p:nvSpPr>
        <p:spPr>
          <a:xfrm>
            <a:off x="822960" y="219456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01</a:t>
            </a:r>
            <a:endParaRPr lang="en-US" sz="1300" dirty="0"/>
          </a:p>
        </p:txBody>
      </p:sp>
      <p:sp>
        <p:nvSpPr>
          <p:cNvPr id="10" name="Shape 7"/>
          <p:cNvSpPr/>
          <p:nvPr/>
        </p:nvSpPr>
        <p:spPr>
          <a:xfrm>
            <a:off x="3031236" y="2267712"/>
            <a:ext cx="809244" cy="274320"/>
          </a:xfrm>
          <a:prstGeom prst="roundRect">
            <a:avLst>
              <a:gd name="adj" fmla="val 20000"/>
            </a:avLst>
          </a:prstGeom>
          <a:solidFill>
            <a:srgbClr val="E6F2EC"/>
          </a:solidFill>
          <a:ln/>
        </p:spPr>
      </p:sp>
      <p:sp>
        <p:nvSpPr>
          <p:cNvPr id="11" name="Text 8"/>
          <p:cNvSpPr txBox="1"/>
          <p:nvPr/>
        </p:nvSpPr>
        <p:spPr>
          <a:xfrm>
            <a:off x="3031236" y="2267712"/>
            <a:ext cx="809244" cy="274320"/>
          </a:xfrm>
          <a:prstGeom prst="rect">
            <a:avLst/>
          </a:prstGeom>
          <a:noFill/>
          <a:ln/>
        </p:spPr>
        <p:txBody>
          <a:bodyPr wrap="square" lIns="0" tIns="0" rIns="0" bIns="0" rtlCol="0" anchor="ctr"/>
          <a:lstStyle/>
          <a:p>
            <a:pPr marL="0" indent="0" algn="ctr">
              <a:buNone/>
            </a:pPr>
            <a:r>
              <a:rPr lang="en-US" sz="1000" b="1" dirty="0">
                <a:solidFill>
                  <a:srgbClr val="2E7D5B"/>
                </a:solidFill>
                <a:latin typeface="Calibri" pitchFamily="34" charset="0"/>
                <a:ea typeface="Calibri" pitchFamily="34" charset="-122"/>
                <a:cs typeface="Calibri" pitchFamily="34" charset="-120"/>
              </a:rPr>
              <a:t>EVALUATED</a:t>
            </a:r>
            <a:endParaRPr lang="en-US" sz="1000" dirty="0"/>
          </a:p>
        </p:txBody>
      </p:sp>
      <p:sp>
        <p:nvSpPr>
          <p:cNvPr id="12" name="Text 9"/>
          <p:cNvSpPr txBox="1"/>
          <p:nvPr/>
        </p:nvSpPr>
        <p:spPr>
          <a:xfrm>
            <a:off x="822960" y="2761488"/>
            <a:ext cx="3063240" cy="365760"/>
          </a:xfrm>
          <a:prstGeom prst="rect">
            <a:avLst/>
          </a:prstGeom>
          <a:noFill/>
          <a:ln/>
        </p:spPr>
        <p:txBody>
          <a:bodyPr wrap="square" lIns="0" tIns="0" rIns="0" bIns="0" rtlCol="0" anchor="t"/>
          <a:lstStyle/>
          <a:p>
            <a:pPr marL="0" indent="0">
              <a:buNone/>
            </a:pPr>
            <a:r>
              <a:rPr lang="en-US" sz="1600" b="1" dirty="0">
                <a:solidFill>
                  <a:srgbClr val="1A2233"/>
                </a:solidFill>
                <a:latin typeface="Calibri" pitchFamily="34" charset="0"/>
                <a:ea typeface="Calibri" pitchFamily="34" charset="-122"/>
                <a:cs typeface="Calibri" pitchFamily="34" charset="-120"/>
              </a:rPr>
              <a:t>Optimized loss weighting</a:t>
            </a:r>
            <a:endParaRPr lang="en-US" sz="1600" dirty="0"/>
          </a:p>
        </p:txBody>
      </p:sp>
      <p:sp>
        <p:nvSpPr>
          <p:cNvPr id="13" name="Text 10"/>
          <p:cNvSpPr txBox="1"/>
          <p:nvPr/>
        </p:nvSpPr>
        <p:spPr>
          <a:xfrm>
            <a:off x="822960" y="3127248"/>
            <a:ext cx="3063240" cy="685800"/>
          </a:xfrm>
          <a:prstGeom prst="rect">
            <a:avLst/>
          </a:prstGeom>
          <a:noFill/>
          <a:ln/>
        </p:spPr>
        <p:txBody>
          <a:bodyPr wrap="square" lIns="0" tIns="0" rIns="0" bIns="0" rtlCol="0" anchor="t"/>
          <a:lstStyle/>
          <a:p>
            <a:pPr marL="0" indent="0">
              <a:buNone/>
            </a:pPr>
            <a:r>
              <a:rPr lang="en-US" sz="1250" dirty="0">
                <a:solidFill>
                  <a:srgbClr val="5B6B79"/>
                </a:solidFill>
                <a:latin typeface="Calibri" pitchFamily="34" charset="0"/>
                <a:ea typeface="Calibri" pitchFamily="34" charset="-122"/>
                <a:cs typeface="Calibri" pitchFamily="34" charset="-120"/>
              </a:rPr>
              <a:t>Six task-loss weights searched instead of fixed at 1.</a:t>
            </a:r>
            <a:endParaRPr lang="en-US" sz="1250" dirty="0"/>
          </a:p>
        </p:txBody>
      </p:sp>
      <p:sp>
        <p:nvSpPr>
          <p:cNvPr id="14" name="Shape 11"/>
          <p:cNvSpPr/>
          <p:nvPr/>
        </p:nvSpPr>
        <p:spPr>
          <a:xfrm>
            <a:off x="4311396" y="1920240"/>
            <a:ext cx="3566160" cy="1965960"/>
          </a:xfrm>
          <a:prstGeom prst="roundRect">
            <a:avLst>
              <a:gd name="adj" fmla="val 2791"/>
            </a:avLst>
          </a:prstGeom>
          <a:solidFill>
            <a:srgbClr val="F3F6F9"/>
          </a:solidFill>
          <a:ln w="9525">
            <a:solidFill>
              <a:srgbClr val="DCE3E8"/>
            </a:solidFill>
            <a:prstDash val="solid"/>
          </a:ln>
        </p:spPr>
      </p:sp>
      <p:sp>
        <p:nvSpPr>
          <p:cNvPr id="15" name="Shape 12"/>
          <p:cNvSpPr/>
          <p:nvPr/>
        </p:nvSpPr>
        <p:spPr>
          <a:xfrm>
            <a:off x="4585716" y="2194560"/>
            <a:ext cx="420624" cy="420624"/>
          </a:xfrm>
          <a:prstGeom prst="roundRect">
            <a:avLst>
              <a:gd name="adj" fmla="val 17391"/>
            </a:avLst>
          </a:prstGeom>
          <a:solidFill>
            <a:srgbClr val="21295C"/>
          </a:solidFill>
          <a:ln/>
        </p:spPr>
      </p:sp>
      <p:sp>
        <p:nvSpPr>
          <p:cNvPr id="16" name="Text 13"/>
          <p:cNvSpPr txBox="1"/>
          <p:nvPr/>
        </p:nvSpPr>
        <p:spPr>
          <a:xfrm>
            <a:off x="4585716" y="219456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02</a:t>
            </a:r>
            <a:endParaRPr lang="en-US" sz="1300" dirty="0"/>
          </a:p>
        </p:txBody>
      </p:sp>
      <p:sp>
        <p:nvSpPr>
          <p:cNvPr id="17" name="Shape 14"/>
          <p:cNvSpPr/>
          <p:nvPr/>
        </p:nvSpPr>
        <p:spPr>
          <a:xfrm>
            <a:off x="6793992" y="2267712"/>
            <a:ext cx="809244" cy="274320"/>
          </a:xfrm>
          <a:prstGeom prst="roundRect">
            <a:avLst>
              <a:gd name="adj" fmla="val 20000"/>
            </a:avLst>
          </a:prstGeom>
          <a:solidFill>
            <a:srgbClr val="E6F2EC"/>
          </a:solidFill>
          <a:ln/>
        </p:spPr>
      </p:sp>
      <p:sp>
        <p:nvSpPr>
          <p:cNvPr id="18" name="Text 15"/>
          <p:cNvSpPr txBox="1"/>
          <p:nvPr/>
        </p:nvSpPr>
        <p:spPr>
          <a:xfrm>
            <a:off x="6793992" y="2267712"/>
            <a:ext cx="809244" cy="274320"/>
          </a:xfrm>
          <a:prstGeom prst="rect">
            <a:avLst/>
          </a:prstGeom>
          <a:noFill/>
          <a:ln/>
        </p:spPr>
        <p:txBody>
          <a:bodyPr wrap="square" lIns="0" tIns="0" rIns="0" bIns="0" rtlCol="0" anchor="ctr"/>
          <a:lstStyle/>
          <a:p>
            <a:pPr marL="0" indent="0" algn="ctr">
              <a:buNone/>
            </a:pPr>
            <a:r>
              <a:rPr lang="en-US" sz="1000" b="1" dirty="0">
                <a:solidFill>
                  <a:srgbClr val="2E7D5B"/>
                </a:solidFill>
                <a:latin typeface="Calibri" pitchFamily="34" charset="0"/>
                <a:ea typeface="Calibri" pitchFamily="34" charset="-122"/>
                <a:cs typeface="Calibri" pitchFamily="34" charset="-120"/>
              </a:rPr>
              <a:t>EVALUATED</a:t>
            </a:r>
            <a:endParaRPr lang="en-US" sz="1000" dirty="0"/>
          </a:p>
        </p:txBody>
      </p:sp>
      <p:sp>
        <p:nvSpPr>
          <p:cNvPr id="19" name="Text 16"/>
          <p:cNvSpPr txBox="1"/>
          <p:nvPr/>
        </p:nvSpPr>
        <p:spPr>
          <a:xfrm>
            <a:off x="4585716" y="2761488"/>
            <a:ext cx="3063240" cy="365760"/>
          </a:xfrm>
          <a:prstGeom prst="rect">
            <a:avLst/>
          </a:prstGeom>
          <a:noFill/>
          <a:ln/>
        </p:spPr>
        <p:txBody>
          <a:bodyPr wrap="square" lIns="0" tIns="0" rIns="0" bIns="0" rtlCol="0" anchor="t"/>
          <a:lstStyle/>
          <a:p>
            <a:pPr marL="0" indent="0">
              <a:buNone/>
            </a:pPr>
            <a:r>
              <a:rPr lang="en-US" sz="1600" b="1" dirty="0">
                <a:solidFill>
                  <a:srgbClr val="1A2233"/>
                </a:solidFill>
                <a:latin typeface="Calibri" pitchFamily="34" charset="0"/>
                <a:ea typeface="Calibri" pitchFamily="34" charset="-122"/>
                <a:cs typeface="Calibri" pitchFamily="34" charset="-120"/>
              </a:rPr>
              <a:t>Optimized enhancement</a:t>
            </a:r>
            <a:endParaRPr lang="en-US" sz="1600" dirty="0"/>
          </a:p>
        </p:txBody>
      </p:sp>
      <p:sp>
        <p:nvSpPr>
          <p:cNvPr id="20" name="Text 17"/>
          <p:cNvSpPr txBox="1"/>
          <p:nvPr/>
        </p:nvSpPr>
        <p:spPr>
          <a:xfrm>
            <a:off x="4585716" y="3127248"/>
            <a:ext cx="3063240" cy="685800"/>
          </a:xfrm>
          <a:prstGeom prst="rect">
            <a:avLst/>
          </a:prstGeom>
          <a:noFill/>
          <a:ln/>
        </p:spPr>
        <p:txBody>
          <a:bodyPr wrap="square" lIns="0" tIns="0" rIns="0" bIns="0" rtlCol="0" anchor="t"/>
          <a:lstStyle/>
          <a:p>
            <a:pPr marL="0" indent="0">
              <a:buNone/>
            </a:pPr>
            <a:r>
              <a:rPr lang="en-US" sz="1250" dirty="0">
                <a:solidFill>
                  <a:srgbClr val="5B6B79"/>
                </a:solidFill>
                <a:latin typeface="Calibri" pitchFamily="34" charset="0"/>
                <a:ea typeface="Calibri" pitchFamily="34" charset="-122"/>
                <a:cs typeface="Calibri" pitchFamily="34" charset="-120"/>
              </a:rPr>
              <a:t>CLAHE, denoising and gamma tuned jointly with the weights.</a:t>
            </a:r>
            <a:endParaRPr lang="en-US" sz="1250" dirty="0"/>
          </a:p>
        </p:txBody>
      </p:sp>
      <p:sp>
        <p:nvSpPr>
          <p:cNvPr id="21" name="Shape 18"/>
          <p:cNvSpPr/>
          <p:nvPr/>
        </p:nvSpPr>
        <p:spPr>
          <a:xfrm>
            <a:off x="8074152" y="1920240"/>
            <a:ext cx="3566160" cy="1965960"/>
          </a:xfrm>
          <a:prstGeom prst="roundRect">
            <a:avLst>
              <a:gd name="adj" fmla="val 2791"/>
            </a:avLst>
          </a:prstGeom>
          <a:solidFill>
            <a:srgbClr val="F3F6F9"/>
          </a:solidFill>
          <a:ln w="9525">
            <a:solidFill>
              <a:srgbClr val="DCE3E8"/>
            </a:solidFill>
            <a:prstDash val="solid"/>
          </a:ln>
        </p:spPr>
      </p:sp>
      <p:sp>
        <p:nvSpPr>
          <p:cNvPr id="22" name="Shape 19"/>
          <p:cNvSpPr/>
          <p:nvPr/>
        </p:nvSpPr>
        <p:spPr>
          <a:xfrm>
            <a:off x="8348472" y="2194560"/>
            <a:ext cx="420624" cy="420624"/>
          </a:xfrm>
          <a:prstGeom prst="roundRect">
            <a:avLst>
              <a:gd name="adj" fmla="val 17391"/>
            </a:avLst>
          </a:prstGeom>
          <a:solidFill>
            <a:srgbClr val="21295C"/>
          </a:solidFill>
          <a:ln/>
        </p:spPr>
      </p:sp>
      <p:sp>
        <p:nvSpPr>
          <p:cNvPr id="23" name="Text 20"/>
          <p:cNvSpPr txBox="1"/>
          <p:nvPr/>
        </p:nvSpPr>
        <p:spPr>
          <a:xfrm>
            <a:off x="8348472" y="219456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03</a:t>
            </a:r>
            <a:endParaRPr lang="en-US" sz="1300" dirty="0"/>
          </a:p>
        </p:txBody>
      </p:sp>
      <p:sp>
        <p:nvSpPr>
          <p:cNvPr id="24" name="Shape 21"/>
          <p:cNvSpPr/>
          <p:nvPr/>
        </p:nvSpPr>
        <p:spPr>
          <a:xfrm>
            <a:off x="10634472" y="2267712"/>
            <a:ext cx="731520" cy="274320"/>
          </a:xfrm>
          <a:prstGeom prst="roundRect">
            <a:avLst>
              <a:gd name="adj" fmla="val 20000"/>
            </a:avLst>
          </a:prstGeom>
          <a:solidFill>
            <a:srgbClr val="E6F2EC"/>
          </a:solidFill>
          <a:ln/>
        </p:spPr>
      </p:sp>
      <p:sp>
        <p:nvSpPr>
          <p:cNvPr id="25" name="Text 22"/>
          <p:cNvSpPr txBox="1"/>
          <p:nvPr/>
        </p:nvSpPr>
        <p:spPr>
          <a:xfrm>
            <a:off x="10634472" y="2267712"/>
            <a:ext cx="731520" cy="274320"/>
          </a:xfrm>
          <a:prstGeom prst="rect">
            <a:avLst/>
          </a:prstGeom>
          <a:noFill/>
          <a:ln/>
        </p:spPr>
        <p:txBody>
          <a:bodyPr wrap="square" lIns="0" tIns="0" rIns="0" bIns="0" rtlCol="0" anchor="ctr"/>
          <a:lstStyle/>
          <a:p>
            <a:pPr marL="0" indent="0" algn="ctr">
              <a:buNone/>
            </a:pPr>
            <a:r>
              <a:rPr lang="en-US" sz="1000" b="1" dirty="0">
                <a:solidFill>
                  <a:srgbClr val="2E7D5B"/>
                </a:solidFill>
                <a:latin typeface="Calibri" pitchFamily="34" charset="0"/>
                <a:ea typeface="Calibri" pitchFamily="34" charset="-122"/>
                <a:cs typeface="Calibri" pitchFamily="34" charset="-120"/>
              </a:rPr>
              <a:t>COMPLETE</a:t>
            </a:r>
            <a:endParaRPr lang="en-US" sz="1000" dirty="0"/>
          </a:p>
        </p:txBody>
      </p:sp>
      <p:sp>
        <p:nvSpPr>
          <p:cNvPr id="26" name="Text 23"/>
          <p:cNvSpPr txBox="1"/>
          <p:nvPr/>
        </p:nvSpPr>
        <p:spPr>
          <a:xfrm>
            <a:off x="8348472" y="2761488"/>
            <a:ext cx="3063240" cy="365760"/>
          </a:xfrm>
          <a:prstGeom prst="rect">
            <a:avLst/>
          </a:prstGeom>
          <a:noFill/>
          <a:ln/>
        </p:spPr>
        <p:txBody>
          <a:bodyPr wrap="square" lIns="0" tIns="0" rIns="0" bIns="0" rtlCol="0" anchor="t"/>
          <a:lstStyle/>
          <a:p>
            <a:pPr marL="0" indent="0">
              <a:buNone/>
            </a:pPr>
            <a:r>
              <a:rPr lang="en-US" sz="1600" b="1" dirty="0">
                <a:solidFill>
                  <a:srgbClr val="1A2233"/>
                </a:solidFill>
                <a:latin typeface="Calibri" pitchFamily="34" charset="0"/>
                <a:ea typeface="Calibri" pitchFamily="34" charset="-122"/>
                <a:cs typeface="Calibri" pitchFamily="34" charset="-120"/>
              </a:rPr>
              <a:t>Optimizer comparison</a:t>
            </a:r>
            <a:endParaRPr lang="en-US" sz="1600" dirty="0"/>
          </a:p>
        </p:txBody>
      </p:sp>
      <p:sp>
        <p:nvSpPr>
          <p:cNvPr id="27" name="Text 24"/>
          <p:cNvSpPr txBox="1"/>
          <p:nvPr/>
        </p:nvSpPr>
        <p:spPr>
          <a:xfrm>
            <a:off x="8348472" y="3127248"/>
            <a:ext cx="3063240" cy="685800"/>
          </a:xfrm>
          <a:prstGeom prst="rect">
            <a:avLst/>
          </a:prstGeom>
          <a:noFill/>
          <a:ln/>
        </p:spPr>
        <p:txBody>
          <a:bodyPr wrap="square" lIns="0" tIns="0" rIns="0" bIns="0" rtlCol="0" anchor="t"/>
          <a:lstStyle/>
          <a:p>
            <a:pPr marL="0" indent="0">
              <a:buNone/>
            </a:pPr>
            <a:r>
              <a:rPr lang="en-US" sz="1250" dirty="0">
                <a:solidFill>
                  <a:srgbClr val="5B6B79"/>
                </a:solidFill>
                <a:latin typeface="Calibri" pitchFamily="34" charset="0"/>
                <a:ea typeface="Calibri" pitchFamily="34" charset="-122"/>
                <a:cs typeface="Calibri" pitchFamily="34" charset="-120"/>
              </a:rPr>
              <a:t>COA vs WOA vs GWO at an equal budget of 60 trainings each.</a:t>
            </a:r>
            <a:endParaRPr lang="en-US" sz="1250" dirty="0"/>
          </a:p>
        </p:txBody>
      </p:sp>
      <p:sp>
        <p:nvSpPr>
          <p:cNvPr id="28" name="Shape 25"/>
          <p:cNvSpPr/>
          <p:nvPr/>
        </p:nvSpPr>
        <p:spPr>
          <a:xfrm>
            <a:off x="548640" y="4069080"/>
            <a:ext cx="3566160" cy="1965960"/>
          </a:xfrm>
          <a:prstGeom prst="roundRect">
            <a:avLst>
              <a:gd name="adj" fmla="val 2791"/>
            </a:avLst>
          </a:prstGeom>
          <a:solidFill>
            <a:srgbClr val="F3F6F9"/>
          </a:solidFill>
          <a:ln w="9525">
            <a:solidFill>
              <a:srgbClr val="DCE3E8"/>
            </a:solidFill>
            <a:prstDash val="solid"/>
          </a:ln>
        </p:spPr>
      </p:sp>
      <p:sp>
        <p:nvSpPr>
          <p:cNvPr id="29" name="Shape 26"/>
          <p:cNvSpPr/>
          <p:nvPr/>
        </p:nvSpPr>
        <p:spPr>
          <a:xfrm>
            <a:off x="822960" y="4343400"/>
            <a:ext cx="420624" cy="420624"/>
          </a:xfrm>
          <a:prstGeom prst="roundRect">
            <a:avLst>
              <a:gd name="adj" fmla="val 17391"/>
            </a:avLst>
          </a:prstGeom>
          <a:solidFill>
            <a:srgbClr val="21295C"/>
          </a:solidFill>
          <a:ln/>
        </p:spPr>
      </p:sp>
      <p:sp>
        <p:nvSpPr>
          <p:cNvPr id="30" name="Text 27"/>
          <p:cNvSpPr txBox="1"/>
          <p:nvPr/>
        </p:nvSpPr>
        <p:spPr>
          <a:xfrm>
            <a:off x="822960" y="434340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04</a:t>
            </a:r>
            <a:endParaRPr lang="en-US" sz="1300" dirty="0"/>
          </a:p>
        </p:txBody>
      </p:sp>
      <p:sp>
        <p:nvSpPr>
          <p:cNvPr id="31" name="Shape 28"/>
          <p:cNvSpPr/>
          <p:nvPr/>
        </p:nvSpPr>
        <p:spPr>
          <a:xfrm>
            <a:off x="3108960" y="4416552"/>
            <a:ext cx="731520" cy="274320"/>
          </a:xfrm>
          <a:prstGeom prst="roundRect">
            <a:avLst>
              <a:gd name="adj" fmla="val 20000"/>
            </a:avLst>
          </a:prstGeom>
          <a:solidFill>
            <a:srgbClr val="E6F2EC"/>
          </a:solidFill>
          <a:ln/>
        </p:spPr>
      </p:sp>
      <p:sp>
        <p:nvSpPr>
          <p:cNvPr id="32" name="Text 29"/>
          <p:cNvSpPr txBox="1"/>
          <p:nvPr/>
        </p:nvSpPr>
        <p:spPr>
          <a:xfrm>
            <a:off x="3108960" y="4416552"/>
            <a:ext cx="731520" cy="274320"/>
          </a:xfrm>
          <a:prstGeom prst="rect">
            <a:avLst/>
          </a:prstGeom>
          <a:noFill/>
          <a:ln/>
        </p:spPr>
        <p:txBody>
          <a:bodyPr wrap="square" lIns="0" tIns="0" rIns="0" bIns="0" rtlCol="0" anchor="ctr"/>
          <a:lstStyle/>
          <a:p>
            <a:pPr marL="0" indent="0" algn="ctr">
              <a:buNone/>
            </a:pPr>
            <a:r>
              <a:rPr lang="en-US" sz="1000" b="1" dirty="0">
                <a:solidFill>
                  <a:srgbClr val="2E7D5B"/>
                </a:solidFill>
                <a:latin typeface="Calibri" pitchFamily="34" charset="0"/>
                <a:ea typeface="Calibri" pitchFamily="34" charset="-122"/>
                <a:cs typeface="Calibri" pitchFamily="34" charset="-120"/>
              </a:rPr>
              <a:t>COMPLETE</a:t>
            </a:r>
            <a:endParaRPr lang="en-US" sz="1000" dirty="0"/>
          </a:p>
        </p:txBody>
      </p:sp>
      <p:sp>
        <p:nvSpPr>
          <p:cNvPr id="33" name="Text 30"/>
          <p:cNvSpPr txBox="1"/>
          <p:nvPr/>
        </p:nvSpPr>
        <p:spPr>
          <a:xfrm>
            <a:off x="822960" y="4910328"/>
            <a:ext cx="3063240" cy="365760"/>
          </a:xfrm>
          <a:prstGeom prst="rect">
            <a:avLst/>
          </a:prstGeom>
          <a:noFill/>
          <a:ln/>
        </p:spPr>
        <p:txBody>
          <a:bodyPr wrap="square" lIns="0" tIns="0" rIns="0" bIns="0" rtlCol="0" anchor="t"/>
          <a:lstStyle/>
          <a:p>
            <a:pPr marL="0" indent="0">
              <a:buNone/>
            </a:pPr>
            <a:r>
              <a:rPr lang="en-US" sz="1600" b="1" dirty="0">
                <a:solidFill>
                  <a:srgbClr val="1A2233"/>
                </a:solidFill>
                <a:latin typeface="Calibri" pitchFamily="34" charset="0"/>
                <a:ea typeface="Calibri" pitchFamily="34" charset="-122"/>
                <a:cs typeface="Calibri" pitchFamily="34" charset="-120"/>
              </a:rPr>
              <a:t>Anatomical consistency</a:t>
            </a:r>
            <a:endParaRPr lang="en-US" sz="1600" dirty="0"/>
          </a:p>
        </p:txBody>
      </p:sp>
      <p:sp>
        <p:nvSpPr>
          <p:cNvPr id="34" name="Text 31"/>
          <p:cNvSpPr txBox="1"/>
          <p:nvPr/>
        </p:nvSpPr>
        <p:spPr>
          <a:xfrm>
            <a:off x="822960" y="5276088"/>
            <a:ext cx="3063240" cy="685800"/>
          </a:xfrm>
          <a:prstGeom prst="rect">
            <a:avLst/>
          </a:prstGeom>
          <a:noFill/>
          <a:ln/>
        </p:spPr>
        <p:txBody>
          <a:bodyPr wrap="square" lIns="0" tIns="0" rIns="0" bIns="0" rtlCol="0" anchor="t"/>
          <a:lstStyle/>
          <a:p>
            <a:pPr marL="0" indent="0">
              <a:buNone/>
            </a:pPr>
            <a:r>
              <a:rPr lang="en-US" sz="1250" dirty="0">
                <a:solidFill>
                  <a:srgbClr val="5B6B79"/>
                </a:solidFill>
                <a:latin typeface="Calibri" pitchFamily="34" charset="0"/>
                <a:ea typeface="Calibri" pitchFamily="34" charset="-122"/>
                <a:cs typeface="Calibri" pitchFamily="34" charset="-120"/>
              </a:rPr>
              <a:t>Penalizes lesion predictions outside the kidney; corrected ratio form.</a:t>
            </a:r>
            <a:endParaRPr lang="en-US" sz="1250" dirty="0"/>
          </a:p>
        </p:txBody>
      </p:sp>
      <p:sp>
        <p:nvSpPr>
          <p:cNvPr id="35" name="Shape 32"/>
          <p:cNvSpPr/>
          <p:nvPr/>
        </p:nvSpPr>
        <p:spPr>
          <a:xfrm>
            <a:off x="4311396" y="4069080"/>
            <a:ext cx="3566160" cy="1965960"/>
          </a:xfrm>
          <a:prstGeom prst="roundRect">
            <a:avLst>
              <a:gd name="adj" fmla="val 2791"/>
            </a:avLst>
          </a:prstGeom>
          <a:solidFill>
            <a:srgbClr val="F3F6F9"/>
          </a:solidFill>
          <a:ln w="9525">
            <a:solidFill>
              <a:srgbClr val="DCE3E8"/>
            </a:solidFill>
            <a:prstDash val="solid"/>
          </a:ln>
        </p:spPr>
      </p:sp>
      <p:sp>
        <p:nvSpPr>
          <p:cNvPr id="36" name="Shape 33"/>
          <p:cNvSpPr/>
          <p:nvPr/>
        </p:nvSpPr>
        <p:spPr>
          <a:xfrm>
            <a:off x="4585716" y="4343400"/>
            <a:ext cx="420624" cy="420624"/>
          </a:xfrm>
          <a:prstGeom prst="roundRect">
            <a:avLst>
              <a:gd name="adj" fmla="val 17391"/>
            </a:avLst>
          </a:prstGeom>
          <a:solidFill>
            <a:srgbClr val="21295C"/>
          </a:solidFill>
          <a:ln/>
        </p:spPr>
      </p:sp>
      <p:sp>
        <p:nvSpPr>
          <p:cNvPr id="37" name="Text 34"/>
          <p:cNvSpPr txBox="1"/>
          <p:nvPr/>
        </p:nvSpPr>
        <p:spPr>
          <a:xfrm>
            <a:off x="4585716" y="434340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05</a:t>
            </a:r>
            <a:endParaRPr lang="en-US" sz="1300" dirty="0"/>
          </a:p>
        </p:txBody>
      </p:sp>
      <p:sp>
        <p:nvSpPr>
          <p:cNvPr id="38" name="Shape 35"/>
          <p:cNvSpPr/>
          <p:nvPr/>
        </p:nvSpPr>
        <p:spPr>
          <a:xfrm>
            <a:off x="6871716" y="4416552"/>
            <a:ext cx="731520" cy="274320"/>
          </a:xfrm>
          <a:prstGeom prst="roundRect">
            <a:avLst>
              <a:gd name="adj" fmla="val 20000"/>
            </a:avLst>
          </a:prstGeom>
          <a:solidFill>
            <a:srgbClr val="E6F2EC"/>
          </a:solidFill>
          <a:ln/>
        </p:spPr>
      </p:sp>
      <p:sp>
        <p:nvSpPr>
          <p:cNvPr id="39" name="Text 36"/>
          <p:cNvSpPr txBox="1"/>
          <p:nvPr/>
        </p:nvSpPr>
        <p:spPr>
          <a:xfrm>
            <a:off x="6871716" y="4416552"/>
            <a:ext cx="731520" cy="274320"/>
          </a:xfrm>
          <a:prstGeom prst="rect">
            <a:avLst/>
          </a:prstGeom>
          <a:noFill/>
          <a:ln/>
        </p:spPr>
        <p:txBody>
          <a:bodyPr wrap="square" lIns="0" tIns="0" rIns="0" bIns="0" rtlCol="0" anchor="ctr"/>
          <a:lstStyle/>
          <a:p>
            <a:pPr marL="0" indent="0" algn="ctr">
              <a:buNone/>
            </a:pPr>
            <a:r>
              <a:rPr lang="en-US" sz="1000" b="1" dirty="0">
                <a:solidFill>
                  <a:srgbClr val="2E7D5B"/>
                </a:solidFill>
                <a:latin typeface="Calibri" pitchFamily="34" charset="0"/>
                <a:ea typeface="Calibri" pitchFamily="34" charset="-122"/>
                <a:cs typeface="Calibri" pitchFamily="34" charset="-120"/>
              </a:rPr>
              <a:t>COMPLETE</a:t>
            </a:r>
            <a:endParaRPr lang="en-US" sz="1000" dirty="0"/>
          </a:p>
        </p:txBody>
      </p:sp>
      <p:sp>
        <p:nvSpPr>
          <p:cNvPr id="40" name="Text 37"/>
          <p:cNvSpPr txBox="1"/>
          <p:nvPr/>
        </p:nvSpPr>
        <p:spPr>
          <a:xfrm>
            <a:off x="4585716" y="4910328"/>
            <a:ext cx="3063240" cy="365760"/>
          </a:xfrm>
          <a:prstGeom prst="rect">
            <a:avLst/>
          </a:prstGeom>
          <a:noFill/>
          <a:ln/>
        </p:spPr>
        <p:txBody>
          <a:bodyPr wrap="square" lIns="0" tIns="0" rIns="0" bIns="0" rtlCol="0" anchor="t"/>
          <a:lstStyle/>
          <a:p>
            <a:pPr marL="0" indent="0">
              <a:buNone/>
            </a:pPr>
            <a:r>
              <a:rPr lang="en-US" sz="1600" b="1" dirty="0">
                <a:solidFill>
                  <a:srgbClr val="1A2233"/>
                </a:solidFill>
                <a:latin typeface="Calibri" pitchFamily="34" charset="0"/>
                <a:ea typeface="Calibri" pitchFamily="34" charset="-122"/>
                <a:cs typeface="Calibri" pitchFamily="34" charset="-120"/>
              </a:rPr>
              <a:t>Lightweight architecture</a:t>
            </a:r>
            <a:endParaRPr lang="en-US" sz="1600" dirty="0"/>
          </a:p>
        </p:txBody>
      </p:sp>
      <p:sp>
        <p:nvSpPr>
          <p:cNvPr id="41" name="Text 38"/>
          <p:cNvSpPr txBox="1"/>
          <p:nvPr/>
        </p:nvSpPr>
        <p:spPr>
          <a:xfrm>
            <a:off x="4585716" y="5276088"/>
            <a:ext cx="3063240" cy="685800"/>
          </a:xfrm>
          <a:prstGeom prst="rect">
            <a:avLst/>
          </a:prstGeom>
          <a:noFill/>
          <a:ln/>
        </p:spPr>
        <p:txBody>
          <a:bodyPr wrap="square" lIns="0" tIns="0" rIns="0" bIns="0" rtlCol="0" anchor="t"/>
          <a:lstStyle/>
          <a:p>
            <a:pPr marL="0" indent="0">
              <a:buNone/>
            </a:pPr>
            <a:r>
              <a:rPr lang="en-US" sz="1250" dirty="0">
                <a:solidFill>
                  <a:srgbClr val="5B6B79"/>
                </a:solidFill>
                <a:latin typeface="Calibri" pitchFamily="34" charset="0"/>
                <a:ea typeface="Calibri" pitchFamily="34" charset="-122"/>
                <a:cs typeface="Calibri" pitchFamily="34" charset="-120"/>
              </a:rPr>
              <a:t>One ResNet-34 encoder, five heads, 24.4 M parameters.</a:t>
            </a:r>
            <a:endParaRPr lang="en-US" sz="1250" dirty="0"/>
          </a:p>
        </p:txBody>
      </p:sp>
      <p:sp>
        <p:nvSpPr>
          <p:cNvPr id="42" name="Shape 39"/>
          <p:cNvSpPr/>
          <p:nvPr/>
        </p:nvSpPr>
        <p:spPr>
          <a:xfrm>
            <a:off x="8074152" y="4069080"/>
            <a:ext cx="3566160" cy="1965960"/>
          </a:xfrm>
          <a:prstGeom prst="roundRect">
            <a:avLst>
              <a:gd name="adj" fmla="val 2791"/>
            </a:avLst>
          </a:prstGeom>
          <a:solidFill>
            <a:srgbClr val="F3F6F9"/>
          </a:solidFill>
          <a:ln w="9525">
            <a:solidFill>
              <a:srgbClr val="DCE3E8"/>
            </a:solidFill>
            <a:prstDash val="solid"/>
          </a:ln>
        </p:spPr>
      </p:sp>
      <p:sp>
        <p:nvSpPr>
          <p:cNvPr id="43" name="Shape 40"/>
          <p:cNvSpPr/>
          <p:nvPr/>
        </p:nvSpPr>
        <p:spPr>
          <a:xfrm>
            <a:off x="8348472" y="4343400"/>
            <a:ext cx="420624" cy="420624"/>
          </a:xfrm>
          <a:prstGeom prst="roundRect">
            <a:avLst>
              <a:gd name="adj" fmla="val 17391"/>
            </a:avLst>
          </a:prstGeom>
          <a:solidFill>
            <a:srgbClr val="21295C"/>
          </a:solidFill>
          <a:ln/>
        </p:spPr>
      </p:sp>
      <p:sp>
        <p:nvSpPr>
          <p:cNvPr id="44" name="Text 41"/>
          <p:cNvSpPr txBox="1"/>
          <p:nvPr/>
        </p:nvSpPr>
        <p:spPr>
          <a:xfrm>
            <a:off x="8348472" y="434340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06</a:t>
            </a:r>
            <a:endParaRPr lang="en-US" sz="1300" dirty="0"/>
          </a:p>
        </p:txBody>
      </p:sp>
      <p:sp>
        <p:nvSpPr>
          <p:cNvPr id="45" name="Shape 42"/>
          <p:cNvSpPr/>
          <p:nvPr/>
        </p:nvSpPr>
        <p:spPr>
          <a:xfrm>
            <a:off x="10712196" y="4416552"/>
            <a:ext cx="653796" cy="274320"/>
          </a:xfrm>
          <a:prstGeom prst="roundRect">
            <a:avLst>
              <a:gd name="adj" fmla="val 20000"/>
            </a:avLst>
          </a:prstGeom>
          <a:solidFill>
            <a:srgbClr val="FBF0DF"/>
          </a:solidFill>
          <a:ln/>
        </p:spPr>
      </p:sp>
      <p:sp>
        <p:nvSpPr>
          <p:cNvPr id="46" name="Text 43"/>
          <p:cNvSpPr txBox="1"/>
          <p:nvPr/>
        </p:nvSpPr>
        <p:spPr>
          <a:xfrm>
            <a:off x="10712196" y="4416552"/>
            <a:ext cx="653796" cy="274320"/>
          </a:xfrm>
          <a:prstGeom prst="rect">
            <a:avLst/>
          </a:prstGeom>
          <a:noFill/>
          <a:ln/>
        </p:spPr>
        <p:txBody>
          <a:bodyPr wrap="square" lIns="0" tIns="0" rIns="0" bIns="0" rtlCol="0" anchor="ctr"/>
          <a:lstStyle/>
          <a:p>
            <a:pPr marL="0" indent="0" algn="ctr">
              <a:buNone/>
            </a:pPr>
            <a:r>
              <a:rPr lang="en-US" sz="1000" b="1" dirty="0">
                <a:solidFill>
                  <a:srgbClr val="8A5A12"/>
                </a:solidFill>
                <a:latin typeface="Calibri" pitchFamily="34" charset="0"/>
                <a:ea typeface="Calibri" pitchFamily="34" charset="-122"/>
                <a:cs typeface="Calibri" pitchFamily="34" charset="-120"/>
              </a:rPr>
              <a:t>PENDING</a:t>
            </a:r>
            <a:endParaRPr lang="en-US" sz="1000" dirty="0"/>
          </a:p>
        </p:txBody>
      </p:sp>
      <p:sp>
        <p:nvSpPr>
          <p:cNvPr id="47" name="Text 44"/>
          <p:cNvSpPr txBox="1"/>
          <p:nvPr/>
        </p:nvSpPr>
        <p:spPr>
          <a:xfrm>
            <a:off x="8348472" y="4910328"/>
            <a:ext cx="3063240" cy="365760"/>
          </a:xfrm>
          <a:prstGeom prst="rect">
            <a:avLst/>
          </a:prstGeom>
          <a:noFill/>
          <a:ln/>
        </p:spPr>
        <p:txBody>
          <a:bodyPr wrap="square" lIns="0" tIns="0" rIns="0" bIns="0" rtlCol="0" anchor="t"/>
          <a:lstStyle/>
          <a:p>
            <a:pPr marL="0" indent="0">
              <a:buNone/>
            </a:pPr>
            <a:r>
              <a:rPr lang="en-US" sz="1600" b="1" dirty="0">
                <a:solidFill>
                  <a:srgbClr val="1A2233"/>
                </a:solidFill>
                <a:latin typeface="Calibri" pitchFamily="34" charset="0"/>
                <a:ea typeface="Calibri" pitchFamily="34" charset="-122"/>
                <a:cs typeface="Calibri" pitchFamily="34" charset="-120"/>
              </a:rPr>
              <a:t>Beyond a single split</a:t>
            </a:r>
            <a:endParaRPr lang="en-US" sz="1600" dirty="0"/>
          </a:p>
        </p:txBody>
      </p:sp>
      <p:sp>
        <p:nvSpPr>
          <p:cNvPr id="48" name="Text 45"/>
          <p:cNvSpPr txBox="1"/>
          <p:nvPr/>
        </p:nvSpPr>
        <p:spPr>
          <a:xfrm>
            <a:off x="8348472" y="5276088"/>
            <a:ext cx="3063240" cy="685800"/>
          </a:xfrm>
          <a:prstGeom prst="rect">
            <a:avLst/>
          </a:prstGeom>
          <a:noFill/>
          <a:ln/>
        </p:spPr>
        <p:txBody>
          <a:bodyPr wrap="square" lIns="0" tIns="0" rIns="0" bIns="0" rtlCol="0" anchor="t"/>
          <a:lstStyle/>
          <a:p>
            <a:pPr marL="0" indent="0">
              <a:buNone/>
            </a:pPr>
            <a:r>
              <a:rPr lang="en-US" sz="1250" dirty="0">
                <a:solidFill>
                  <a:srgbClr val="5B6B79"/>
                </a:solidFill>
                <a:latin typeface="Calibri" pitchFamily="34" charset="0"/>
                <a:ea typeface="Calibri" pitchFamily="34" charset="-122"/>
                <a:cs typeface="Calibri" pitchFamily="34" charset="-120"/>
              </a:rPr>
              <a:t>Five-fold cross-validation and an external cohort test.</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DATA</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URI-CADS Renal Ultrasound Dataset</a:t>
            </a:r>
            <a:endParaRPr lang="en-US" sz="3000" dirty="0"/>
          </a:p>
        </p:txBody>
      </p:sp>
      <p:sp>
        <p:nvSpPr>
          <p:cNvPr id="4" name="Text 2"/>
          <p:cNvSpPr txBox="1"/>
          <p:nvPr/>
        </p:nvSpPr>
        <p:spPr>
          <a:xfrm>
            <a:off x="548640" y="1316736"/>
            <a:ext cx="11094415" cy="457200"/>
          </a:xfrm>
          <a:prstGeom prst="rect">
            <a:avLst/>
          </a:prstGeom>
          <a:noFill/>
          <a:ln/>
        </p:spPr>
        <p:txBody>
          <a:bodyPr wrap="square" lIns="0" tIns="0" rIns="0" bIns="0" rtlCol="0" anchor="t"/>
          <a:lstStyle/>
          <a:p>
            <a:pPr marL="0" indent="0">
              <a:buNone/>
            </a:pPr>
            <a:r>
              <a:rPr lang="en-US" sz="1500" dirty="0">
                <a:solidFill>
                  <a:srgbClr val="5B6B79"/>
                </a:solidFill>
                <a:latin typeface="Calibri" pitchFamily="34" charset="0"/>
                <a:ea typeface="Calibri" pitchFamily="34" charset="-122"/>
                <a:cs typeface="Calibri" pitchFamily="34" charset="-120"/>
              </a:rPr>
              <a:t>A public, peer-reviewed benchmark with pixel-level kidney masks and bounding-box lesion annotations.</a:t>
            </a:r>
            <a:endParaRPr lang="en-US" sz="1500" dirty="0"/>
          </a:p>
        </p:txBody>
      </p:sp>
      <p:pic>
        <p:nvPicPr>
          <p:cNvPr id="8" name="Image 0" descr="C:/StudyMaterialDoNotTouch/publications/URI-CADS dataset/presentation/assets/dataset_examples.png"/>
          <p:cNvPicPr>
            <a:picLocks noChangeAspect="1"/>
          </p:cNvPicPr>
          <p:nvPr/>
        </p:nvPicPr>
        <p:blipFill>
          <a:blip r:embed="rId3"/>
          <a:stretch>
            <a:fillRect/>
          </a:stretch>
        </p:blipFill>
        <p:spPr>
          <a:xfrm>
            <a:off x="548640" y="1828800"/>
            <a:ext cx="11094415" cy="2981648"/>
          </a:xfrm>
          <a:prstGeom prst="rect">
            <a:avLst/>
          </a:prstGeom>
        </p:spPr>
      </p:pic>
      <p:sp>
        <p:nvSpPr>
          <p:cNvPr id="9" name="Text 5"/>
          <p:cNvSpPr txBox="1"/>
          <p:nvPr/>
        </p:nvSpPr>
        <p:spPr>
          <a:xfrm>
            <a:off x="548640" y="4846320"/>
            <a:ext cx="11094415" cy="274320"/>
          </a:xfrm>
          <a:prstGeom prst="rect">
            <a:avLst/>
          </a:prstGeom>
          <a:noFill/>
          <a:ln/>
        </p:spPr>
        <p:txBody>
          <a:bodyPr wrap="square" lIns="0" tIns="0" rIns="0" bIns="0" rtlCol="0" anchor="t"/>
          <a:lstStyle/>
          <a:p>
            <a:pPr marL="0" indent="0">
              <a:buNone/>
            </a:pPr>
            <a:r>
              <a:rPr lang="en-US" sz="1150" i="1" dirty="0">
                <a:solidFill>
                  <a:srgbClr val="5B6B79"/>
                </a:solidFill>
                <a:latin typeface="Calibri" pitchFamily="34" charset="0"/>
                <a:ea typeface="Calibri" pitchFamily="34" charset="-122"/>
                <a:cs typeface="Calibri" pitchFamily="34" charset="-120"/>
              </a:rPr>
              <a:t>Teal outline: pixel-level kidney mask     Orange boxes: annotated lesion regions</a:t>
            </a:r>
            <a:endParaRPr lang="en-US" sz="1150" dirty="0"/>
          </a:p>
        </p:txBody>
      </p:sp>
      <p:sp>
        <p:nvSpPr>
          <p:cNvPr id="10" name="Text 6"/>
          <p:cNvSpPr txBox="1"/>
          <p:nvPr/>
        </p:nvSpPr>
        <p:spPr>
          <a:xfrm>
            <a:off x="548640" y="5138928"/>
            <a:ext cx="2697480" cy="566928"/>
          </a:xfrm>
          <a:prstGeom prst="rect">
            <a:avLst/>
          </a:prstGeom>
          <a:noFill/>
          <a:ln/>
        </p:spPr>
        <p:txBody>
          <a:bodyPr wrap="square" lIns="0" tIns="0" rIns="0" bIns="0" rtlCol="0" anchor="b"/>
          <a:lstStyle/>
          <a:p>
            <a:pPr marL="0" indent="0">
              <a:buNone/>
            </a:pPr>
            <a:r>
              <a:rPr lang="en-US" sz="2600" b="1" dirty="0">
                <a:solidFill>
                  <a:srgbClr val="21295C"/>
                </a:solidFill>
                <a:latin typeface="Cambria" pitchFamily="34" charset="0"/>
                <a:ea typeface="Cambria" pitchFamily="34" charset="-122"/>
                <a:cs typeface="Cambria" pitchFamily="34" charset="-120"/>
              </a:rPr>
              <a:t>1,985</a:t>
            </a:r>
            <a:endParaRPr lang="en-US" sz="2600" dirty="0"/>
          </a:p>
        </p:txBody>
      </p:sp>
      <p:sp>
        <p:nvSpPr>
          <p:cNvPr id="11" name="Text 7"/>
          <p:cNvSpPr txBox="1"/>
          <p:nvPr/>
        </p:nvSpPr>
        <p:spPr>
          <a:xfrm>
            <a:off x="548640" y="5742432"/>
            <a:ext cx="2697480" cy="502920"/>
          </a:xfrm>
          <a:prstGeom prst="rect">
            <a:avLst/>
          </a:prstGeom>
          <a:noFill/>
          <a:ln/>
        </p:spPr>
        <p:txBody>
          <a:bodyPr wrap="square" lIns="0" tIns="0" rIns="0" bIns="0" rtlCol="0" anchor="t"/>
          <a:lstStyle/>
          <a:p>
            <a:pPr marL="0" indent="0">
              <a:buNone/>
            </a:pPr>
            <a:r>
              <a:rPr lang="en-US" sz="1200" dirty="0">
                <a:solidFill>
                  <a:srgbClr val="5B6B79"/>
                </a:solidFill>
                <a:latin typeface="Calibri" pitchFamily="34" charset="0"/>
                <a:ea typeface="Calibri" pitchFamily="34" charset="-122"/>
                <a:cs typeface="Calibri" pitchFamily="34" charset="-120"/>
              </a:rPr>
              <a:t>annotated ultrasound images</a:t>
            </a:r>
            <a:endParaRPr lang="en-US" sz="1200" dirty="0"/>
          </a:p>
        </p:txBody>
      </p:sp>
      <p:sp>
        <p:nvSpPr>
          <p:cNvPr id="12" name="Text 8"/>
          <p:cNvSpPr txBox="1"/>
          <p:nvPr/>
        </p:nvSpPr>
        <p:spPr>
          <a:xfrm>
            <a:off x="3355848" y="5138928"/>
            <a:ext cx="2697480" cy="566928"/>
          </a:xfrm>
          <a:prstGeom prst="rect">
            <a:avLst/>
          </a:prstGeom>
          <a:noFill/>
          <a:ln/>
        </p:spPr>
        <p:txBody>
          <a:bodyPr wrap="square" lIns="0" tIns="0" rIns="0" bIns="0" rtlCol="0" anchor="b"/>
          <a:lstStyle/>
          <a:p>
            <a:pPr marL="0" indent="0">
              <a:buNone/>
            </a:pPr>
            <a:r>
              <a:rPr lang="en-US" sz="2600" b="1" dirty="0">
                <a:solidFill>
                  <a:srgbClr val="21295C"/>
                </a:solidFill>
                <a:latin typeface="Cambria" pitchFamily="34" charset="0"/>
                <a:ea typeface="Cambria" pitchFamily="34" charset="-122"/>
                <a:cs typeface="Cambria" pitchFamily="34" charset="-120"/>
              </a:rPr>
              <a:t>450 / 1,535</a:t>
            </a:r>
            <a:endParaRPr lang="en-US" sz="2600" dirty="0"/>
          </a:p>
        </p:txBody>
      </p:sp>
      <p:sp>
        <p:nvSpPr>
          <p:cNvPr id="13" name="Text 9"/>
          <p:cNvSpPr txBox="1"/>
          <p:nvPr/>
        </p:nvSpPr>
        <p:spPr>
          <a:xfrm>
            <a:off x="3355848" y="5742432"/>
            <a:ext cx="2697480" cy="502920"/>
          </a:xfrm>
          <a:prstGeom prst="rect">
            <a:avLst/>
          </a:prstGeom>
          <a:noFill/>
          <a:ln/>
        </p:spPr>
        <p:txBody>
          <a:bodyPr wrap="square" lIns="0" tIns="0" rIns="0" bIns="0" rtlCol="0" anchor="t"/>
          <a:lstStyle/>
          <a:p>
            <a:pPr marL="0" indent="0">
              <a:buNone/>
            </a:pPr>
            <a:r>
              <a:rPr lang="en-US" sz="1200" dirty="0">
                <a:solidFill>
                  <a:srgbClr val="5B6B79"/>
                </a:solidFill>
                <a:latin typeface="Calibri" pitchFamily="34" charset="0"/>
                <a:ea typeface="Calibri" pitchFamily="34" charset="-122"/>
                <a:cs typeface="Calibri" pitchFamily="34" charset="-120"/>
              </a:rPr>
              <a:t>healthy / pathological</a:t>
            </a:r>
            <a:endParaRPr lang="en-US" sz="1200" dirty="0"/>
          </a:p>
        </p:txBody>
      </p:sp>
      <p:sp>
        <p:nvSpPr>
          <p:cNvPr id="14" name="Text 10"/>
          <p:cNvSpPr txBox="1"/>
          <p:nvPr/>
        </p:nvSpPr>
        <p:spPr>
          <a:xfrm>
            <a:off x="6163056" y="5138928"/>
            <a:ext cx="2697480" cy="566928"/>
          </a:xfrm>
          <a:prstGeom prst="rect">
            <a:avLst/>
          </a:prstGeom>
          <a:noFill/>
          <a:ln/>
        </p:spPr>
        <p:txBody>
          <a:bodyPr wrap="square" lIns="0" tIns="0" rIns="0" bIns="0" rtlCol="0" anchor="b"/>
          <a:lstStyle/>
          <a:p>
            <a:pPr marL="0" indent="0">
              <a:buNone/>
            </a:pPr>
            <a:r>
              <a:rPr lang="en-US" sz="2600" b="1" dirty="0">
                <a:solidFill>
                  <a:srgbClr val="21295C"/>
                </a:solidFill>
                <a:latin typeface="Cambria" pitchFamily="34" charset="0"/>
                <a:ea typeface="Cambria" pitchFamily="34" charset="-122"/>
                <a:cs typeface="Cambria" pitchFamily="34" charset="-120"/>
              </a:rPr>
              <a:t>9</a:t>
            </a:r>
            <a:endParaRPr lang="en-US" sz="2600" dirty="0"/>
          </a:p>
        </p:txBody>
      </p:sp>
      <p:sp>
        <p:nvSpPr>
          <p:cNvPr id="15" name="Text 11"/>
          <p:cNvSpPr txBox="1"/>
          <p:nvPr/>
        </p:nvSpPr>
        <p:spPr>
          <a:xfrm>
            <a:off x="6163056" y="5742432"/>
            <a:ext cx="2697480" cy="502920"/>
          </a:xfrm>
          <a:prstGeom prst="rect">
            <a:avLst/>
          </a:prstGeom>
          <a:noFill/>
          <a:ln/>
        </p:spPr>
        <p:txBody>
          <a:bodyPr wrap="square" lIns="0" tIns="0" rIns="0" bIns="0" rtlCol="0" anchor="t"/>
          <a:lstStyle/>
          <a:p>
            <a:pPr marL="0" indent="0">
              <a:buNone/>
            </a:pPr>
            <a:r>
              <a:rPr lang="en-US" sz="1200" dirty="0">
                <a:solidFill>
                  <a:srgbClr val="5B6B79"/>
                </a:solidFill>
                <a:latin typeface="Calibri" pitchFamily="34" charset="0"/>
                <a:ea typeface="Calibri" pitchFamily="34" charset="-122"/>
                <a:cs typeface="Calibri" pitchFamily="34" charset="-120"/>
              </a:rPr>
              <a:t>local pathology categories, plus 2 global labels</a:t>
            </a:r>
            <a:endParaRPr lang="en-US" sz="1200" dirty="0"/>
          </a:p>
        </p:txBody>
      </p:sp>
      <p:sp>
        <p:nvSpPr>
          <p:cNvPr id="16" name="Text 12"/>
          <p:cNvSpPr txBox="1"/>
          <p:nvPr/>
        </p:nvSpPr>
        <p:spPr>
          <a:xfrm>
            <a:off x="8970264" y="5138928"/>
            <a:ext cx="2697480" cy="566928"/>
          </a:xfrm>
          <a:prstGeom prst="rect">
            <a:avLst/>
          </a:prstGeom>
          <a:noFill/>
          <a:ln/>
        </p:spPr>
        <p:txBody>
          <a:bodyPr wrap="square" lIns="0" tIns="0" rIns="0" bIns="0" rtlCol="0" anchor="b"/>
          <a:lstStyle/>
          <a:p>
            <a:pPr marL="0" indent="0">
              <a:buNone/>
            </a:pPr>
            <a:r>
              <a:rPr lang="en-US" sz="2600" b="1" dirty="0">
                <a:solidFill>
                  <a:srgbClr val="21295C"/>
                </a:solidFill>
                <a:latin typeface="Cambria" pitchFamily="34" charset="0"/>
                <a:ea typeface="Cambria" pitchFamily="34" charset="-122"/>
                <a:cs typeface="Cambria" pitchFamily="34" charset="-120"/>
              </a:rPr>
              <a:t>1,389 / 298 / 298</a:t>
            </a:r>
            <a:endParaRPr lang="en-US" sz="2600" dirty="0"/>
          </a:p>
        </p:txBody>
      </p:sp>
      <p:sp>
        <p:nvSpPr>
          <p:cNvPr id="17" name="Text 13"/>
          <p:cNvSpPr txBox="1"/>
          <p:nvPr/>
        </p:nvSpPr>
        <p:spPr>
          <a:xfrm>
            <a:off x="8970264" y="5742432"/>
            <a:ext cx="2697480" cy="502920"/>
          </a:xfrm>
          <a:prstGeom prst="rect">
            <a:avLst/>
          </a:prstGeom>
          <a:noFill/>
          <a:ln/>
        </p:spPr>
        <p:txBody>
          <a:bodyPr wrap="square" lIns="0" tIns="0" rIns="0" bIns="0" rtlCol="0" anchor="t"/>
          <a:lstStyle/>
          <a:p>
            <a:pPr marL="0" indent="0">
              <a:buNone/>
            </a:pPr>
            <a:r>
              <a:rPr lang="en-US" sz="1200" dirty="0">
                <a:solidFill>
                  <a:srgbClr val="5B6B79"/>
                </a:solidFill>
                <a:latin typeface="Calibri" pitchFamily="34" charset="0"/>
                <a:ea typeface="Calibri" pitchFamily="34" charset="-122"/>
                <a:cs typeface="Calibri" pitchFamily="34" charset="-120"/>
              </a:rPr>
              <a:t>train / validation / test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METHODOLOGY</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End-to-End Framework</a:t>
            </a:r>
            <a:endParaRPr lang="en-US" sz="3000" dirty="0"/>
          </a:p>
        </p:txBody>
      </p:sp>
      <p:sp>
        <p:nvSpPr>
          <p:cNvPr id="4" name="Text 2"/>
          <p:cNvSpPr txBox="1"/>
          <p:nvPr/>
        </p:nvSpPr>
        <p:spPr>
          <a:xfrm>
            <a:off x="548640" y="1316736"/>
            <a:ext cx="11094415" cy="457200"/>
          </a:xfrm>
          <a:prstGeom prst="rect">
            <a:avLst/>
          </a:prstGeom>
          <a:noFill/>
          <a:ln/>
        </p:spPr>
        <p:txBody>
          <a:bodyPr wrap="square" lIns="0" tIns="0" rIns="0" bIns="0" rtlCol="0" anchor="t"/>
          <a:lstStyle/>
          <a:p>
            <a:pPr marL="0" indent="0">
              <a:buNone/>
            </a:pPr>
            <a:r>
              <a:rPr lang="en-US" sz="1500" dirty="0">
                <a:solidFill>
                  <a:srgbClr val="5B6B79"/>
                </a:solidFill>
                <a:latin typeface="Calibri" pitchFamily="34" charset="0"/>
                <a:ea typeface="Calibri" pitchFamily="34" charset="-122"/>
                <a:cs typeface="Calibri" pitchFamily="34" charset="-120"/>
              </a:rPr>
              <a:t>One shared encoder, five task heads, and an optimizer that tunes both the enhancement and the loss weights.</a:t>
            </a:r>
            <a:endParaRPr lang="en-US" sz="1500" dirty="0"/>
          </a:p>
        </p:txBody>
      </p:sp>
      <p:sp>
        <p:nvSpPr>
          <p:cNvPr id="8" name="Shape 5"/>
          <p:cNvSpPr/>
          <p:nvPr/>
        </p:nvSpPr>
        <p:spPr>
          <a:xfrm>
            <a:off x="548640" y="2834640"/>
            <a:ext cx="1600200" cy="1024128"/>
          </a:xfrm>
          <a:prstGeom prst="roundRect">
            <a:avLst>
              <a:gd name="adj" fmla="val 5357"/>
            </a:avLst>
          </a:prstGeom>
          <a:solidFill>
            <a:srgbClr val="F3F6F9"/>
          </a:solidFill>
          <a:ln w="9525">
            <a:solidFill>
              <a:srgbClr val="DCE3E8"/>
            </a:solidFill>
            <a:prstDash val="solid"/>
          </a:ln>
        </p:spPr>
      </p:sp>
      <p:sp>
        <p:nvSpPr>
          <p:cNvPr id="9" name="Text 6"/>
          <p:cNvSpPr txBox="1"/>
          <p:nvPr/>
        </p:nvSpPr>
        <p:spPr>
          <a:xfrm>
            <a:off x="658368" y="2834640"/>
            <a:ext cx="1380744" cy="1024128"/>
          </a:xfrm>
          <a:prstGeom prst="rect">
            <a:avLst/>
          </a:prstGeom>
          <a:noFill/>
          <a:ln/>
        </p:spPr>
        <p:txBody>
          <a:bodyPr wrap="square" lIns="0" tIns="0" rIns="0" bIns="0" rtlCol="0" anchor="ctr"/>
          <a:lstStyle/>
          <a:p>
            <a:pPr marL="0" indent="0" algn="ctr">
              <a:buNone/>
            </a:pPr>
            <a:r>
              <a:rPr lang="en-US" sz="1450" b="1" dirty="0">
                <a:solidFill>
                  <a:srgbClr val="21295C"/>
                </a:solidFill>
                <a:latin typeface="Calibri" pitchFamily="34" charset="0"/>
                <a:ea typeface="Calibri" pitchFamily="34" charset="-122"/>
                <a:cs typeface="Calibri" pitchFamily="34" charset="-120"/>
              </a:rPr>
              <a:t>Ultrasound image</a:t>
            </a:r>
            <a:endParaRPr lang="en-US" sz="1400" dirty="0"/>
          </a:p>
          <a:p>
            <a:pPr marL="0" indent="0" algn="ctr">
              <a:buNone/>
            </a:pPr>
            <a:r>
              <a:rPr lang="en-US" sz="1150" dirty="0">
                <a:solidFill>
                  <a:srgbClr val="5B6B79"/>
                </a:solidFill>
                <a:latin typeface="Calibri" pitchFamily="34" charset="0"/>
                <a:ea typeface="Calibri" pitchFamily="34" charset="-122"/>
                <a:cs typeface="Calibri" pitchFamily="34" charset="-120"/>
              </a:rPr>
              <a:t>resized to 512 x 512</a:t>
            </a:r>
            <a:endParaRPr lang="en-US" sz="1400" dirty="0"/>
          </a:p>
        </p:txBody>
      </p:sp>
      <p:sp>
        <p:nvSpPr>
          <p:cNvPr id="10" name="Shape 7"/>
          <p:cNvSpPr/>
          <p:nvPr/>
        </p:nvSpPr>
        <p:spPr>
          <a:xfrm>
            <a:off x="2148840" y="3346704"/>
            <a:ext cx="246888" cy="0"/>
          </a:xfrm>
          <a:prstGeom prst="line">
            <a:avLst/>
          </a:prstGeom>
          <a:noFill/>
          <a:ln w="19050">
            <a:solidFill>
              <a:srgbClr val="5B6B79"/>
            </a:solidFill>
            <a:prstDash val="solid"/>
            <a:tailEnd type="triangle"/>
          </a:ln>
        </p:spPr>
      </p:sp>
      <p:sp>
        <p:nvSpPr>
          <p:cNvPr id="11" name="Shape 8"/>
          <p:cNvSpPr/>
          <p:nvPr/>
        </p:nvSpPr>
        <p:spPr>
          <a:xfrm>
            <a:off x="2395728" y="2834640"/>
            <a:ext cx="1920240" cy="1024128"/>
          </a:xfrm>
          <a:prstGeom prst="roundRect">
            <a:avLst>
              <a:gd name="adj" fmla="val 5357"/>
            </a:avLst>
          </a:prstGeom>
          <a:solidFill>
            <a:srgbClr val="F3F6F9"/>
          </a:solidFill>
          <a:ln w="9525">
            <a:solidFill>
              <a:srgbClr val="DCE3E8"/>
            </a:solidFill>
            <a:prstDash val="solid"/>
          </a:ln>
        </p:spPr>
      </p:sp>
      <p:sp>
        <p:nvSpPr>
          <p:cNvPr id="12" name="Text 9"/>
          <p:cNvSpPr txBox="1"/>
          <p:nvPr/>
        </p:nvSpPr>
        <p:spPr>
          <a:xfrm>
            <a:off x="2505456" y="2834640"/>
            <a:ext cx="1700784" cy="1024128"/>
          </a:xfrm>
          <a:prstGeom prst="rect">
            <a:avLst/>
          </a:prstGeom>
          <a:noFill/>
          <a:ln/>
        </p:spPr>
        <p:txBody>
          <a:bodyPr wrap="square" lIns="0" tIns="0" rIns="0" bIns="0" rtlCol="0" anchor="ctr"/>
          <a:lstStyle/>
          <a:p>
            <a:pPr marL="0" indent="0" algn="ctr">
              <a:buNone/>
            </a:pPr>
            <a:r>
              <a:rPr lang="en-US" sz="1450" b="1" dirty="0">
                <a:solidFill>
                  <a:srgbClr val="21295C"/>
                </a:solidFill>
                <a:latin typeface="Calibri" pitchFamily="34" charset="0"/>
                <a:ea typeface="Calibri" pitchFamily="34" charset="-122"/>
                <a:cs typeface="Calibri" pitchFamily="34" charset="-120"/>
              </a:rPr>
              <a:t>Enhancement</a:t>
            </a:r>
            <a:endParaRPr lang="en-US" sz="1400" dirty="0"/>
          </a:p>
          <a:p>
            <a:pPr marL="0" indent="0" algn="ctr">
              <a:buNone/>
            </a:pPr>
            <a:r>
              <a:rPr lang="en-US" sz="1150" dirty="0">
                <a:solidFill>
                  <a:srgbClr val="5B6B79"/>
                </a:solidFill>
                <a:latin typeface="Calibri" pitchFamily="34" charset="0"/>
                <a:ea typeface="Calibri" pitchFamily="34" charset="-122"/>
                <a:cs typeface="Calibri" pitchFamily="34" charset="-120"/>
              </a:rPr>
              <a:t>CLAHE, denoise, gamma</a:t>
            </a:r>
            <a:endParaRPr lang="en-US" sz="1400" dirty="0"/>
          </a:p>
        </p:txBody>
      </p:sp>
      <p:sp>
        <p:nvSpPr>
          <p:cNvPr id="13" name="Shape 10"/>
          <p:cNvSpPr/>
          <p:nvPr/>
        </p:nvSpPr>
        <p:spPr>
          <a:xfrm>
            <a:off x="4315968" y="3346704"/>
            <a:ext cx="246888" cy="0"/>
          </a:xfrm>
          <a:prstGeom prst="line">
            <a:avLst/>
          </a:prstGeom>
          <a:noFill/>
          <a:ln w="19050">
            <a:solidFill>
              <a:srgbClr val="5B6B79"/>
            </a:solidFill>
            <a:prstDash val="solid"/>
            <a:tailEnd type="triangle"/>
          </a:ln>
        </p:spPr>
      </p:sp>
      <p:sp>
        <p:nvSpPr>
          <p:cNvPr id="14" name="Shape 11"/>
          <p:cNvSpPr/>
          <p:nvPr/>
        </p:nvSpPr>
        <p:spPr>
          <a:xfrm>
            <a:off x="4562856" y="2834640"/>
            <a:ext cx="1737360" cy="1024128"/>
          </a:xfrm>
          <a:prstGeom prst="roundRect">
            <a:avLst>
              <a:gd name="adj" fmla="val 5357"/>
            </a:avLst>
          </a:prstGeom>
          <a:solidFill>
            <a:srgbClr val="F3F6F9"/>
          </a:solidFill>
          <a:ln w="9525">
            <a:solidFill>
              <a:srgbClr val="DCE3E8"/>
            </a:solidFill>
            <a:prstDash val="solid"/>
          </a:ln>
        </p:spPr>
      </p:sp>
      <p:sp>
        <p:nvSpPr>
          <p:cNvPr id="15" name="Text 12"/>
          <p:cNvSpPr txBox="1"/>
          <p:nvPr/>
        </p:nvSpPr>
        <p:spPr>
          <a:xfrm>
            <a:off x="4672584" y="2834640"/>
            <a:ext cx="1517904" cy="1024128"/>
          </a:xfrm>
          <a:prstGeom prst="rect">
            <a:avLst/>
          </a:prstGeom>
          <a:noFill/>
          <a:ln/>
        </p:spPr>
        <p:txBody>
          <a:bodyPr wrap="square" lIns="0" tIns="0" rIns="0" bIns="0" rtlCol="0" anchor="ctr"/>
          <a:lstStyle/>
          <a:p>
            <a:pPr marL="0" indent="0" algn="ctr">
              <a:buNone/>
            </a:pPr>
            <a:r>
              <a:rPr lang="en-US" sz="1450" b="1" dirty="0">
                <a:solidFill>
                  <a:srgbClr val="21295C"/>
                </a:solidFill>
                <a:latin typeface="Calibri" pitchFamily="34" charset="0"/>
                <a:ea typeface="Calibri" pitchFamily="34" charset="-122"/>
                <a:cs typeface="Calibri" pitchFamily="34" charset="-120"/>
              </a:rPr>
              <a:t>Shared encoder</a:t>
            </a:r>
            <a:endParaRPr lang="en-US" sz="1400" dirty="0"/>
          </a:p>
          <a:p>
            <a:pPr marL="0" indent="0" algn="ctr">
              <a:buNone/>
            </a:pPr>
            <a:r>
              <a:rPr lang="en-US" sz="1150" dirty="0">
                <a:solidFill>
                  <a:srgbClr val="5B6B79"/>
                </a:solidFill>
                <a:latin typeface="Calibri" pitchFamily="34" charset="0"/>
                <a:ea typeface="Calibri" pitchFamily="34" charset="-122"/>
                <a:cs typeface="Calibri" pitchFamily="34" charset="-120"/>
              </a:rPr>
              <a:t>ResNet-34, pretrained</a:t>
            </a:r>
            <a:endParaRPr lang="en-US" sz="1400" dirty="0"/>
          </a:p>
        </p:txBody>
      </p:sp>
      <p:sp>
        <p:nvSpPr>
          <p:cNvPr id="16" name="Shape 13"/>
          <p:cNvSpPr/>
          <p:nvPr/>
        </p:nvSpPr>
        <p:spPr>
          <a:xfrm>
            <a:off x="6720840" y="1920240"/>
            <a:ext cx="2377440" cy="493776"/>
          </a:xfrm>
          <a:prstGeom prst="roundRect">
            <a:avLst>
              <a:gd name="adj" fmla="val 11111"/>
            </a:avLst>
          </a:prstGeom>
          <a:solidFill>
            <a:srgbClr val="F3F6F9"/>
          </a:solidFill>
          <a:ln w="9525">
            <a:solidFill>
              <a:srgbClr val="DCE3E8"/>
            </a:solidFill>
            <a:prstDash val="solid"/>
          </a:ln>
        </p:spPr>
      </p:sp>
      <p:sp>
        <p:nvSpPr>
          <p:cNvPr id="17" name="Text 14"/>
          <p:cNvSpPr txBox="1"/>
          <p:nvPr/>
        </p:nvSpPr>
        <p:spPr>
          <a:xfrm>
            <a:off x="6812280" y="1920240"/>
            <a:ext cx="2240280" cy="493776"/>
          </a:xfrm>
          <a:prstGeom prst="rect">
            <a:avLst/>
          </a:prstGeom>
          <a:noFill/>
          <a:ln/>
        </p:spPr>
        <p:txBody>
          <a:bodyPr wrap="square" lIns="0" tIns="0" rIns="0" bIns="0" rtlCol="0" anchor="ctr"/>
          <a:lstStyle/>
          <a:p>
            <a:pPr marL="0" indent="0">
              <a:buNone/>
            </a:pPr>
            <a:r>
              <a:rPr lang="en-US" sz="1200" b="1" dirty="0">
                <a:solidFill>
                  <a:srgbClr val="1A2233"/>
                </a:solidFill>
                <a:latin typeface="Calibri" pitchFamily="34" charset="0"/>
                <a:ea typeface="Calibri" pitchFamily="34" charset="-122"/>
                <a:cs typeface="Calibri" pitchFamily="34" charset="-120"/>
              </a:rPr>
              <a:t>Diagnosis  </a:t>
            </a:r>
            <a:r>
              <a:rPr lang="en-US" sz="1050" dirty="0">
                <a:solidFill>
                  <a:srgbClr val="5B6B79"/>
                </a:solidFill>
                <a:latin typeface="Calibri" pitchFamily="34" charset="0"/>
                <a:ea typeface="Calibri" pitchFamily="34" charset="-122"/>
                <a:cs typeface="Calibri" pitchFamily="34" charset="-120"/>
              </a:rPr>
              <a:t>healthy vs pathological</a:t>
            </a:r>
            <a:endParaRPr lang="en-US" sz="1200" dirty="0"/>
          </a:p>
        </p:txBody>
      </p:sp>
      <p:sp>
        <p:nvSpPr>
          <p:cNvPr id="18" name="Shape 15"/>
          <p:cNvSpPr/>
          <p:nvPr/>
        </p:nvSpPr>
        <p:spPr>
          <a:xfrm flipV="1">
            <a:off x="6300216" y="2167128"/>
            <a:ext cx="420624" cy="1179576"/>
          </a:xfrm>
          <a:prstGeom prst="line">
            <a:avLst/>
          </a:prstGeom>
          <a:noFill/>
          <a:ln w="19050">
            <a:solidFill>
              <a:srgbClr val="5B6B79"/>
            </a:solidFill>
            <a:prstDash val="solid"/>
            <a:tailEnd type="triangle"/>
          </a:ln>
        </p:spPr>
      </p:sp>
      <p:sp>
        <p:nvSpPr>
          <p:cNvPr id="19" name="Shape 16"/>
          <p:cNvSpPr/>
          <p:nvPr/>
        </p:nvSpPr>
        <p:spPr>
          <a:xfrm>
            <a:off x="9098280" y="2167128"/>
            <a:ext cx="411480" cy="1179576"/>
          </a:xfrm>
          <a:prstGeom prst="line">
            <a:avLst/>
          </a:prstGeom>
          <a:noFill/>
          <a:ln w="19050">
            <a:solidFill>
              <a:srgbClr val="5B6B79"/>
            </a:solidFill>
            <a:prstDash val="solid"/>
            <a:tailEnd type="triangle"/>
          </a:ln>
        </p:spPr>
      </p:sp>
      <p:sp>
        <p:nvSpPr>
          <p:cNvPr id="20" name="Shape 17"/>
          <p:cNvSpPr/>
          <p:nvPr/>
        </p:nvSpPr>
        <p:spPr>
          <a:xfrm>
            <a:off x="6720840" y="2523744"/>
            <a:ext cx="2377440" cy="493776"/>
          </a:xfrm>
          <a:prstGeom prst="roundRect">
            <a:avLst>
              <a:gd name="adj" fmla="val 11111"/>
            </a:avLst>
          </a:prstGeom>
          <a:solidFill>
            <a:srgbClr val="F3F6F9"/>
          </a:solidFill>
          <a:ln w="9525">
            <a:solidFill>
              <a:srgbClr val="DCE3E8"/>
            </a:solidFill>
            <a:prstDash val="solid"/>
          </a:ln>
        </p:spPr>
      </p:sp>
      <p:sp>
        <p:nvSpPr>
          <p:cNvPr id="21" name="Text 18"/>
          <p:cNvSpPr txBox="1"/>
          <p:nvPr/>
        </p:nvSpPr>
        <p:spPr>
          <a:xfrm>
            <a:off x="6812280" y="2523744"/>
            <a:ext cx="2240280" cy="493776"/>
          </a:xfrm>
          <a:prstGeom prst="rect">
            <a:avLst/>
          </a:prstGeom>
          <a:noFill/>
          <a:ln/>
        </p:spPr>
        <p:txBody>
          <a:bodyPr wrap="square" lIns="0" tIns="0" rIns="0" bIns="0" rtlCol="0" anchor="ctr"/>
          <a:lstStyle/>
          <a:p>
            <a:pPr marL="0" indent="0">
              <a:buNone/>
            </a:pPr>
            <a:r>
              <a:rPr lang="en-US" sz="1200" b="1" dirty="0">
                <a:solidFill>
                  <a:srgbClr val="1A2233"/>
                </a:solidFill>
                <a:latin typeface="Calibri" pitchFamily="34" charset="0"/>
                <a:ea typeface="Calibri" pitchFamily="34" charset="-122"/>
                <a:cs typeface="Calibri" pitchFamily="34" charset="-120"/>
              </a:rPr>
              <a:t>Global pathology  </a:t>
            </a:r>
            <a:r>
              <a:rPr lang="en-US" sz="1050" dirty="0">
                <a:solidFill>
                  <a:srgbClr val="5B6B79"/>
                </a:solidFill>
                <a:latin typeface="Calibri" pitchFamily="34" charset="0"/>
                <a:ea typeface="Calibri" pitchFamily="34" charset="-122"/>
                <a:cs typeface="Calibri" pitchFamily="34" charset="-120"/>
              </a:rPr>
              <a:t>PCD, HC</a:t>
            </a:r>
            <a:endParaRPr lang="en-US" sz="1200" dirty="0"/>
          </a:p>
        </p:txBody>
      </p:sp>
      <p:sp>
        <p:nvSpPr>
          <p:cNvPr id="22" name="Shape 19"/>
          <p:cNvSpPr/>
          <p:nvPr/>
        </p:nvSpPr>
        <p:spPr>
          <a:xfrm flipV="1">
            <a:off x="6300216" y="2770632"/>
            <a:ext cx="420624" cy="576072"/>
          </a:xfrm>
          <a:prstGeom prst="line">
            <a:avLst/>
          </a:prstGeom>
          <a:noFill/>
          <a:ln w="19050">
            <a:solidFill>
              <a:srgbClr val="5B6B79"/>
            </a:solidFill>
            <a:prstDash val="solid"/>
            <a:tailEnd type="triangle"/>
          </a:ln>
        </p:spPr>
      </p:sp>
      <p:sp>
        <p:nvSpPr>
          <p:cNvPr id="23" name="Shape 20"/>
          <p:cNvSpPr/>
          <p:nvPr/>
        </p:nvSpPr>
        <p:spPr>
          <a:xfrm>
            <a:off x="9098280" y="2770632"/>
            <a:ext cx="411480" cy="576072"/>
          </a:xfrm>
          <a:prstGeom prst="line">
            <a:avLst/>
          </a:prstGeom>
          <a:noFill/>
          <a:ln w="19050">
            <a:solidFill>
              <a:srgbClr val="5B6B79"/>
            </a:solidFill>
            <a:prstDash val="solid"/>
            <a:tailEnd type="triangle"/>
          </a:ln>
        </p:spPr>
      </p:sp>
      <p:sp>
        <p:nvSpPr>
          <p:cNvPr id="24" name="Shape 21"/>
          <p:cNvSpPr/>
          <p:nvPr/>
        </p:nvSpPr>
        <p:spPr>
          <a:xfrm>
            <a:off x="6720840" y="3127248"/>
            <a:ext cx="2377440" cy="493776"/>
          </a:xfrm>
          <a:prstGeom prst="roundRect">
            <a:avLst>
              <a:gd name="adj" fmla="val 11111"/>
            </a:avLst>
          </a:prstGeom>
          <a:solidFill>
            <a:srgbClr val="F3F6F9"/>
          </a:solidFill>
          <a:ln w="9525">
            <a:solidFill>
              <a:srgbClr val="DCE3E8"/>
            </a:solidFill>
            <a:prstDash val="solid"/>
          </a:ln>
        </p:spPr>
      </p:sp>
      <p:sp>
        <p:nvSpPr>
          <p:cNvPr id="25" name="Text 22"/>
          <p:cNvSpPr txBox="1"/>
          <p:nvPr/>
        </p:nvSpPr>
        <p:spPr>
          <a:xfrm>
            <a:off x="6812280" y="3127248"/>
            <a:ext cx="2240280" cy="493776"/>
          </a:xfrm>
          <a:prstGeom prst="rect">
            <a:avLst/>
          </a:prstGeom>
          <a:noFill/>
          <a:ln/>
        </p:spPr>
        <p:txBody>
          <a:bodyPr wrap="square" lIns="0" tIns="0" rIns="0" bIns="0" rtlCol="0" anchor="ctr"/>
          <a:lstStyle/>
          <a:p>
            <a:pPr marL="0" indent="0">
              <a:buNone/>
            </a:pPr>
            <a:r>
              <a:rPr lang="en-US" sz="1200" b="1" dirty="0">
                <a:solidFill>
                  <a:srgbClr val="1A2233"/>
                </a:solidFill>
                <a:latin typeface="Calibri" pitchFamily="34" charset="0"/>
                <a:ea typeface="Calibri" pitchFamily="34" charset="-122"/>
                <a:cs typeface="Calibri" pitchFamily="34" charset="-120"/>
              </a:rPr>
              <a:t>Local pathology  </a:t>
            </a:r>
            <a:r>
              <a:rPr lang="en-US" sz="1050" dirty="0">
                <a:solidFill>
                  <a:srgbClr val="5B6B79"/>
                </a:solidFill>
                <a:latin typeface="Calibri" pitchFamily="34" charset="0"/>
                <a:ea typeface="Calibri" pitchFamily="34" charset="-122"/>
                <a:cs typeface="Calibri" pitchFamily="34" charset="-120"/>
              </a:rPr>
              <a:t>9 categories</a:t>
            </a:r>
            <a:endParaRPr lang="en-US" sz="1200" dirty="0"/>
          </a:p>
        </p:txBody>
      </p:sp>
      <p:sp>
        <p:nvSpPr>
          <p:cNvPr id="26" name="Shape 23"/>
          <p:cNvSpPr/>
          <p:nvPr/>
        </p:nvSpPr>
        <p:spPr>
          <a:xfrm>
            <a:off x="6300216" y="3346704"/>
            <a:ext cx="420624" cy="27432"/>
          </a:xfrm>
          <a:prstGeom prst="line">
            <a:avLst/>
          </a:prstGeom>
          <a:noFill/>
          <a:ln w="19050">
            <a:solidFill>
              <a:srgbClr val="5B6B79"/>
            </a:solidFill>
            <a:prstDash val="solid"/>
            <a:tailEnd type="triangle"/>
          </a:ln>
        </p:spPr>
      </p:sp>
      <p:sp>
        <p:nvSpPr>
          <p:cNvPr id="27" name="Shape 24"/>
          <p:cNvSpPr/>
          <p:nvPr/>
        </p:nvSpPr>
        <p:spPr>
          <a:xfrm flipV="1">
            <a:off x="9098280" y="3346704"/>
            <a:ext cx="411480" cy="27432"/>
          </a:xfrm>
          <a:prstGeom prst="line">
            <a:avLst/>
          </a:prstGeom>
          <a:noFill/>
          <a:ln w="19050">
            <a:solidFill>
              <a:srgbClr val="5B6B79"/>
            </a:solidFill>
            <a:prstDash val="solid"/>
            <a:tailEnd type="triangle"/>
          </a:ln>
        </p:spPr>
      </p:sp>
      <p:sp>
        <p:nvSpPr>
          <p:cNvPr id="28" name="Shape 25"/>
          <p:cNvSpPr/>
          <p:nvPr/>
        </p:nvSpPr>
        <p:spPr>
          <a:xfrm>
            <a:off x="6720840" y="3730752"/>
            <a:ext cx="2377440" cy="493776"/>
          </a:xfrm>
          <a:prstGeom prst="roundRect">
            <a:avLst>
              <a:gd name="adj" fmla="val 11111"/>
            </a:avLst>
          </a:prstGeom>
          <a:solidFill>
            <a:srgbClr val="F3F6F9"/>
          </a:solidFill>
          <a:ln w="9525">
            <a:solidFill>
              <a:srgbClr val="DCE3E8"/>
            </a:solidFill>
            <a:prstDash val="solid"/>
          </a:ln>
        </p:spPr>
      </p:sp>
      <p:sp>
        <p:nvSpPr>
          <p:cNvPr id="29" name="Text 26"/>
          <p:cNvSpPr txBox="1"/>
          <p:nvPr/>
        </p:nvSpPr>
        <p:spPr>
          <a:xfrm>
            <a:off x="6812280" y="3730752"/>
            <a:ext cx="2240280" cy="493776"/>
          </a:xfrm>
          <a:prstGeom prst="rect">
            <a:avLst/>
          </a:prstGeom>
          <a:noFill/>
          <a:ln/>
        </p:spPr>
        <p:txBody>
          <a:bodyPr wrap="square" lIns="0" tIns="0" rIns="0" bIns="0" rtlCol="0" anchor="ctr"/>
          <a:lstStyle/>
          <a:p>
            <a:pPr marL="0" indent="0">
              <a:buNone/>
            </a:pPr>
            <a:r>
              <a:rPr lang="en-US" sz="1200" b="1" dirty="0">
                <a:solidFill>
                  <a:srgbClr val="1A2233"/>
                </a:solidFill>
                <a:latin typeface="Calibri" pitchFamily="34" charset="0"/>
                <a:ea typeface="Calibri" pitchFamily="34" charset="-122"/>
                <a:cs typeface="Calibri" pitchFamily="34" charset="-120"/>
              </a:rPr>
              <a:t>Kidney segmentation  </a:t>
            </a:r>
            <a:r>
              <a:rPr lang="en-US" sz="1050" dirty="0">
                <a:solidFill>
                  <a:srgbClr val="5B6B79"/>
                </a:solidFill>
                <a:latin typeface="Calibri" pitchFamily="34" charset="0"/>
                <a:ea typeface="Calibri" pitchFamily="34" charset="-122"/>
                <a:cs typeface="Calibri" pitchFamily="34" charset="-120"/>
              </a:rPr>
              <a:t>pixel mask</a:t>
            </a:r>
            <a:endParaRPr lang="en-US" sz="1200" dirty="0"/>
          </a:p>
        </p:txBody>
      </p:sp>
      <p:sp>
        <p:nvSpPr>
          <p:cNvPr id="30" name="Shape 27"/>
          <p:cNvSpPr/>
          <p:nvPr/>
        </p:nvSpPr>
        <p:spPr>
          <a:xfrm>
            <a:off x="6300216" y="3346704"/>
            <a:ext cx="420624" cy="630936"/>
          </a:xfrm>
          <a:prstGeom prst="line">
            <a:avLst/>
          </a:prstGeom>
          <a:noFill/>
          <a:ln w="19050">
            <a:solidFill>
              <a:srgbClr val="5B6B79"/>
            </a:solidFill>
            <a:prstDash val="solid"/>
            <a:tailEnd type="triangle"/>
          </a:ln>
        </p:spPr>
      </p:sp>
      <p:sp>
        <p:nvSpPr>
          <p:cNvPr id="31" name="Shape 28"/>
          <p:cNvSpPr/>
          <p:nvPr/>
        </p:nvSpPr>
        <p:spPr>
          <a:xfrm flipV="1">
            <a:off x="9098280" y="3346704"/>
            <a:ext cx="411480" cy="630936"/>
          </a:xfrm>
          <a:prstGeom prst="line">
            <a:avLst/>
          </a:prstGeom>
          <a:noFill/>
          <a:ln w="19050">
            <a:solidFill>
              <a:srgbClr val="5B6B79"/>
            </a:solidFill>
            <a:prstDash val="solid"/>
            <a:tailEnd type="triangle"/>
          </a:ln>
        </p:spPr>
      </p:sp>
      <p:sp>
        <p:nvSpPr>
          <p:cNvPr id="32" name="Shape 29"/>
          <p:cNvSpPr/>
          <p:nvPr/>
        </p:nvSpPr>
        <p:spPr>
          <a:xfrm>
            <a:off x="6720840" y="4334256"/>
            <a:ext cx="2377440" cy="493776"/>
          </a:xfrm>
          <a:prstGeom prst="roundRect">
            <a:avLst>
              <a:gd name="adj" fmla="val 11111"/>
            </a:avLst>
          </a:prstGeom>
          <a:solidFill>
            <a:srgbClr val="F3F6F9"/>
          </a:solidFill>
          <a:ln w="9525">
            <a:solidFill>
              <a:srgbClr val="DCE3E8"/>
            </a:solidFill>
            <a:prstDash val="solid"/>
          </a:ln>
        </p:spPr>
      </p:sp>
      <p:sp>
        <p:nvSpPr>
          <p:cNvPr id="33" name="Text 30"/>
          <p:cNvSpPr txBox="1"/>
          <p:nvPr/>
        </p:nvSpPr>
        <p:spPr>
          <a:xfrm>
            <a:off x="6812280" y="4334256"/>
            <a:ext cx="2240280" cy="493776"/>
          </a:xfrm>
          <a:prstGeom prst="rect">
            <a:avLst/>
          </a:prstGeom>
          <a:noFill/>
          <a:ln/>
        </p:spPr>
        <p:txBody>
          <a:bodyPr wrap="square" lIns="0" tIns="0" rIns="0" bIns="0" rtlCol="0" anchor="ctr"/>
          <a:lstStyle/>
          <a:p>
            <a:pPr marL="0" indent="0">
              <a:buNone/>
            </a:pPr>
            <a:r>
              <a:rPr lang="en-US" sz="1200" b="1" dirty="0">
                <a:solidFill>
                  <a:srgbClr val="1A2233"/>
                </a:solidFill>
                <a:latin typeface="Calibri" pitchFamily="34" charset="0"/>
                <a:ea typeface="Calibri" pitchFamily="34" charset="-122"/>
                <a:cs typeface="Calibri" pitchFamily="34" charset="-120"/>
              </a:rPr>
              <a:t>Lesion segmentation  </a:t>
            </a:r>
            <a:r>
              <a:rPr lang="en-US" sz="1050" dirty="0">
                <a:solidFill>
                  <a:srgbClr val="5B6B79"/>
                </a:solidFill>
                <a:latin typeface="Calibri" pitchFamily="34" charset="0"/>
                <a:ea typeface="Calibri" pitchFamily="34" charset="-122"/>
                <a:cs typeface="Calibri" pitchFamily="34" charset="-120"/>
              </a:rPr>
              <a:t>coarse mask</a:t>
            </a:r>
            <a:endParaRPr lang="en-US" sz="1200" dirty="0"/>
          </a:p>
        </p:txBody>
      </p:sp>
      <p:sp>
        <p:nvSpPr>
          <p:cNvPr id="34" name="Shape 31"/>
          <p:cNvSpPr/>
          <p:nvPr/>
        </p:nvSpPr>
        <p:spPr>
          <a:xfrm>
            <a:off x="6300216" y="3346704"/>
            <a:ext cx="420624" cy="1234440"/>
          </a:xfrm>
          <a:prstGeom prst="line">
            <a:avLst/>
          </a:prstGeom>
          <a:noFill/>
          <a:ln w="19050">
            <a:solidFill>
              <a:srgbClr val="5B6B79"/>
            </a:solidFill>
            <a:prstDash val="solid"/>
            <a:tailEnd type="triangle"/>
          </a:ln>
        </p:spPr>
      </p:sp>
      <p:sp>
        <p:nvSpPr>
          <p:cNvPr id="35" name="Shape 32"/>
          <p:cNvSpPr/>
          <p:nvPr/>
        </p:nvSpPr>
        <p:spPr>
          <a:xfrm flipV="1">
            <a:off x="9098280" y="3346704"/>
            <a:ext cx="411480" cy="1234440"/>
          </a:xfrm>
          <a:prstGeom prst="line">
            <a:avLst/>
          </a:prstGeom>
          <a:noFill/>
          <a:ln w="19050">
            <a:solidFill>
              <a:srgbClr val="5B6B79"/>
            </a:solidFill>
            <a:prstDash val="solid"/>
            <a:tailEnd type="triangle"/>
          </a:ln>
        </p:spPr>
      </p:sp>
      <p:sp>
        <p:nvSpPr>
          <p:cNvPr id="36" name="Shape 33"/>
          <p:cNvSpPr/>
          <p:nvPr/>
        </p:nvSpPr>
        <p:spPr>
          <a:xfrm>
            <a:off x="9509760" y="2834640"/>
            <a:ext cx="2130552" cy="1024128"/>
          </a:xfrm>
          <a:prstGeom prst="roundRect">
            <a:avLst>
              <a:gd name="adj" fmla="val 5357"/>
            </a:avLst>
          </a:prstGeom>
          <a:solidFill>
            <a:srgbClr val="F3F6F9"/>
          </a:solidFill>
          <a:ln w="9525">
            <a:solidFill>
              <a:srgbClr val="DCE3E8"/>
            </a:solidFill>
            <a:prstDash val="solid"/>
          </a:ln>
        </p:spPr>
      </p:sp>
      <p:sp>
        <p:nvSpPr>
          <p:cNvPr id="37" name="Text 34"/>
          <p:cNvSpPr txBox="1"/>
          <p:nvPr/>
        </p:nvSpPr>
        <p:spPr>
          <a:xfrm>
            <a:off x="9619488" y="2834640"/>
            <a:ext cx="1911096" cy="1024128"/>
          </a:xfrm>
          <a:prstGeom prst="rect">
            <a:avLst/>
          </a:prstGeom>
          <a:noFill/>
          <a:ln/>
        </p:spPr>
        <p:txBody>
          <a:bodyPr wrap="square" lIns="0" tIns="0" rIns="0" bIns="0" rtlCol="0" anchor="ctr"/>
          <a:lstStyle/>
          <a:p>
            <a:pPr marL="0" indent="0" algn="ctr">
              <a:buNone/>
            </a:pPr>
            <a:r>
              <a:rPr lang="en-US" sz="1450" b="1" dirty="0">
                <a:solidFill>
                  <a:srgbClr val="21295C"/>
                </a:solidFill>
                <a:latin typeface="Calibri" pitchFamily="34" charset="0"/>
                <a:ea typeface="Calibri" pitchFamily="34" charset="-122"/>
                <a:cs typeface="Calibri" pitchFamily="34" charset="-120"/>
              </a:rPr>
              <a:t>Multi-task loss</a:t>
            </a:r>
            <a:endParaRPr lang="en-US" sz="1400" dirty="0"/>
          </a:p>
          <a:p>
            <a:pPr marL="0" indent="0" algn="ctr">
              <a:buNone/>
            </a:pPr>
            <a:r>
              <a:rPr lang="en-US" sz="1150" dirty="0">
                <a:solidFill>
                  <a:srgbClr val="5B6B79"/>
                </a:solidFill>
                <a:latin typeface="Calibri" pitchFamily="34" charset="0"/>
                <a:ea typeface="Calibri" pitchFamily="34" charset="-122"/>
                <a:cs typeface="Calibri" pitchFamily="34" charset="-120"/>
              </a:rPr>
              <a:t>L = sum of w_i x L_i, 6 terms</a:t>
            </a:r>
            <a:endParaRPr lang="en-US" sz="1400" dirty="0"/>
          </a:p>
        </p:txBody>
      </p:sp>
      <p:sp>
        <p:nvSpPr>
          <p:cNvPr id="38" name="Shape 35"/>
          <p:cNvSpPr/>
          <p:nvPr/>
        </p:nvSpPr>
        <p:spPr>
          <a:xfrm>
            <a:off x="2395728" y="5257800"/>
            <a:ext cx="9244584" cy="868680"/>
          </a:xfrm>
          <a:prstGeom prst="roundRect">
            <a:avLst>
              <a:gd name="adj" fmla="val 6316"/>
            </a:avLst>
          </a:prstGeom>
          <a:solidFill>
            <a:srgbClr val="21295C"/>
          </a:solidFill>
          <a:ln w="9525">
            <a:solidFill>
              <a:srgbClr val="21295C"/>
            </a:solidFill>
            <a:prstDash val="solid"/>
          </a:ln>
        </p:spPr>
      </p:sp>
      <p:sp>
        <p:nvSpPr>
          <p:cNvPr id="39" name="Text 36"/>
          <p:cNvSpPr txBox="1"/>
          <p:nvPr/>
        </p:nvSpPr>
        <p:spPr>
          <a:xfrm>
            <a:off x="2651760" y="5257800"/>
            <a:ext cx="6035040" cy="86868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Metaheuristic optimizer: COA, WOA or GWO</a:t>
            </a:r>
            <a:endParaRPr lang="en-US" sz="1400" dirty="0"/>
          </a:p>
          <a:p>
            <a:pPr marL="0" indent="0">
              <a:buNone/>
            </a:pPr>
            <a:r>
              <a:rPr lang="en-US" sz="1200" dirty="0">
                <a:solidFill>
                  <a:srgbClr val="CADCFC"/>
                </a:solidFill>
                <a:latin typeface="Calibri" pitchFamily="34" charset="0"/>
                <a:ea typeface="Calibri" pitchFamily="34" charset="-122"/>
                <a:cs typeface="Calibri" pitchFamily="34" charset="-120"/>
              </a:rPr>
              <a:t>proposes 10 parameters, trains a model, and receives its validation fitness in return</a:t>
            </a:r>
            <a:endParaRPr lang="en-US" sz="1400" dirty="0"/>
          </a:p>
        </p:txBody>
      </p:sp>
      <p:sp>
        <p:nvSpPr>
          <p:cNvPr id="40" name="Shape 37"/>
          <p:cNvSpPr/>
          <p:nvPr/>
        </p:nvSpPr>
        <p:spPr>
          <a:xfrm flipV="1">
            <a:off x="3355848" y="3858768"/>
            <a:ext cx="0" cy="1399032"/>
          </a:xfrm>
          <a:prstGeom prst="line">
            <a:avLst/>
          </a:prstGeom>
          <a:noFill/>
          <a:ln w="25400">
            <a:solidFill>
              <a:srgbClr val="D9912B"/>
            </a:solidFill>
            <a:prstDash val="solid"/>
            <a:tailEnd type="triangle"/>
          </a:ln>
        </p:spPr>
      </p:sp>
      <p:sp>
        <p:nvSpPr>
          <p:cNvPr id="41" name="Text 38"/>
          <p:cNvSpPr txBox="1"/>
          <p:nvPr/>
        </p:nvSpPr>
        <p:spPr>
          <a:xfrm>
            <a:off x="3474720" y="4343400"/>
            <a:ext cx="2103120" cy="274320"/>
          </a:xfrm>
          <a:prstGeom prst="rect">
            <a:avLst/>
          </a:prstGeom>
          <a:noFill/>
          <a:ln/>
        </p:spPr>
        <p:txBody>
          <a:bodyPr wrap="square" lIns="0" tIns="0" rIns="0" bIns="0" rtlCol="0" anchor="t"/>
          <a:lstStyle/>
          <a:p>
            <a:pPr marL="0" indent="0">
              <a:buNone/>
            </a:pPr>
            <a:r>
              <a:rPr lang="en-US" sz="1100" i="1" dirty="0">
                <a:solidFill>
                  <a:srgbClr val="5B6B79"/>
                </a:solidFill>
                <a:latin typeface="Calibri" pitchFamily="34" charset="0"/>
                <a:ea typeface="Calibri" pitchFamily="34" charset="-122"/>
                <a:cs typeface="Calibri" pitchFamily="34" charset="-120"/>
              </a:rPr>
              <a:t>enhancement parameters</a:t>
            </a:r>
            <a:endParaRPr lang="en-US" sz="1100" dirty="0"/>
          </a:p>
        </p:txBody>
      </p:sp>
      <p:sp>
        <p:nvSpPr>
          <p:cNvPr id="42" name="Shape 39"/>
          <p:cNvSpPr/>
          <p:nvPr/>
        </p:nvSpPr>
        <p:spPr>
          <a:xfrm flipV="1">
            <a:off x="10570464" y="3858768"/>
            <a:ext cx="0" cy="1399032"/>
          </a:xfrm>
          <a:prstGeom prst="line">
            <a:avLst/>
          </a:prstGeom>
          <a:noFill/>
          <a:ln w="25400">
            <a:solidFill>
              <a:srgbClr val="D9912B"/>
            </a:solidFill>
            <a:prstDash val="solid"/>
            <a:tailEnd type="triangle"/>
          </a:ln>
        </p:spPr>
      </p:sp>
      <p:sp>
        <p:nvSpPr>
          <p:cNvPr id="43" name="Text 40"/>
          <p:cNvSpPr txBox="1"/>
          <p:nvPr/>
        </p:nvSpPr>
        <p:spPr>
          <a:xfrm>
            <a:off x="9418320" y="4343400"/>
            <a:ext cx="1051560" cy="274320"/>
          </a:xfrm>
          <a:prstGeom prst="rect">
            <a:avLst/>
          </a:prstGeom>
          <a:noFill/>
          <a:ln/>
        </p:spPr>
        <p:txBody>
          <a:bodyPr wrap="square" lIns="0" tIns="0" rIns="0" bIns="0" rtlCol="0" anchor="t"/>
          <a:lstStyle/>
          <a:p>
            <a:pPr marL="0" indent="0" algn="r">
              <a:buNone/>
            </a:pPr>
            <a:r>
              <a:rPr lang="en-US" sz="1100" i="1" dirty="0">
                <a:solidFill>
                  <a:srgbClr val="5B6B79"/>
                </a:solidFill>
                <a:latin typeface="Calibri" pitchFamily="34" charset="0"/>
                <a:ea typeface="Calibri" pitchFamily="34" charset="-122"/>
                <a:cs typeface="Calibri" pitchFamily="34" charset="-120"/>
              </a:rPr>
              <a:t>loss weights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METHODOLOGY</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Architecture: Five Heads on One Encoder</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2141531931"/>
              </p:ext>
            </p:extLst>
          </p:nvPr>
        </p:nvGraphicFramePr>
        <p:xfrm>
          <a:off x="548640" y="1920240"/>
          <a:ext cx="7498080" cy="3584448"/>
        </p:xfrm>
        <a:graphic>
          <a:graphicData uri="http://schemas.openxmlformats.org/drawingml/2006/table">
            <a:tbl>
              <a:tblPr/>
              <a:tblGrid>
                <a:gridCol w="192024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1691640">
                  <a:extLst>
                    <a:ext uri="{9D8B030D-6E8A-4147-A177-3AD203B41FA5}">
                      <a16:colId xmlns:a16="http://schemas.microsoft.com/office/drawing/2014/main" val="20002"/>
                    </a:ext>
                  </a:extLst>
                </a:gridCol>
                <a:gridCol w="777240">
                  <a:extLst>
                    <a:ext uri="{9D8B030D-6E8A-4147-A177-3AD203B41FA5}">
                      <a16:colId xmlns:a16="http://schemas.microsoft.com/office/drawing/2014/main" val="20003"/>
                    </a:ext>
                  </a:extLst>
                </a:gridCol>
              </a:tblGrid>
              <a:tr h="512064">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Head</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21295C"/>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Output</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21295C"/>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Loss</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21295C"/>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Phase</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21295C"/>
                    </a:solidFill>
                  </a:tcPr>
                </a:tc>
                <a:extLst>
                  <a:ext uri="{0D108BD9-81ED-4DB2-BD59-A6C34878D82A}">
                    <a16:rowId xmlns:a16="http://schemas.microsoft.com/office/drawing/2014/main" val="10000"/>
                  </a:ext>
                </a:extLst>
              </a:tr>
              <a:tr h="512064">
                <a:tc>
                  <a:txBody>
                    <a:bodyPr/>
                    <a:lstStyle/>
                    <a:p>
                      <a:pPr marL="0" indent="0">
                        <a:buNone/>
                      </a:pPr>
                      <a:r>
                        <a:rPr lang="en-US" sz="1250" b="1" dirty="0">
                          <a:solidFill>
                            <a:srgbClr val="1A2233"/>
                          </a:solidFill>
                          <a:latin typeface="Calibri" pitchFamily="34" charset="0"/>
                          <a:ea typeface="Calibri" pitchFamily="34" charset="-122"/>
                          <a:cs typeface="Calibri" pitchFamily="34" charset="-120"/>
                        </a:rPr>
                        <a:t>Diagnosis</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1 logit: healthy vs pathological</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Binary cross-entropy</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extLst>
                  <a:ext uri="{0D108BD9-81ED-4DB2-BD59-A6C34878D82A}">
                    <a16:rowId xmlns:a16="http://schemas.microsoft.com/office/drawing/2014/main" val="10001"/>
                  </a:ext>
                </a:extLst>
              </a:tr>
              <a:tr h="512064">
                <a:tc>
                  <a:txBody>
                    <a:bodyPr/>
                    <a:lstStyle/>
                    <a:p>
                      <a:pPr marL="0" indent="0">
                        <a:buNone/>
                      </a:pPr>
                      <a:r>
                        <a:rPr lang="en-US" sz="1250" b="1" dirty="0">
                          <a:solidFill>
                            <a:srgbClr val="1A2233"/>
                          </a:solidFill>
                          <a:latin typeface="Calibri" pitchFamily="34" charset="0"/>
                          <a:ea typeface="Calibri" pitchFamily="34" charset="-122"/>
                          <a:cs typeface="Calibri" pitchFamily="34" charset="-120"/>
                        </a:rPr>
                        <a:t>Global pathology</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2 logits: PCD, HC (multi-label)</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Binary cross-entropy</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extLst>
                  <a:ext uri="{0D108BD9-81ED-4DB2-BD59-A6C34878D82A}">
                    <a16:rowId xmlns:a16="http://schemas.microsoft.com/office/drawing/2014/main" val="10002"/>
                  </a:ext>
                </a:extLst>
              </a:tr>
              <a:tr h="512064">
                <a:tc>
                  <a:txBody>
                    <a:bodyPr/>
                    <a:lstStyle/>
                    <a:p>
                      <a:pPr marL="0" indent="0">
                        <a:buNone/>
                      </a:pPr>
                      <a:r>
                        <a:rPr lang="en-US" sz="1250" b="1" dirty="0">
                          <a:solidFill>
                            <a:srgbClr val="1A2233"/>
                          </a:solidFill>
                          <a:latin typeface="Calibri" pitchFamily="34" charset="0"/>
                          <a:ea typeface="Calibri" pitchFamily="34" charset="-122"/>
                          <a:cs typeface="Calibri" pitchFamily="34" charset="-120"/>
                        </a:rPr>
                        <a:t>Local pathology</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9 logits, one per lesion category</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Binary cross-entropy</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extLst>
                  <a:ext uri="{0D108BD9-81ED-4DB2-BD59-A6C34878D82A}">
                    <a16:rowId xmlns:a16="http://schemas.microsoft.com/office/drawing/2014/main" val="10003"/>
                  </a:ext>
                </a:extLst>
              </a:tr>
              <a:tr h="512064">
                <a:tc>
                  <a:txBody>
                    <a:bodyPr/>
                    <a:lstStyle/>
                    <a:p>
                      <a:pPr marL="0" indent="0">
                        <a:buNone/>
                      </a:pPr>
                      <a:r>
                        <a:rPr lang="en-US" sz="1250" b="1" dirty="0">
                          <a:solidFill>
                            <a:srgbClr val="1A2233"/>
                          </a:solidFill>
                          <a:latin typeface="Calibri" pitchFamily="34" charset="0"/>
                          <a:ea typeface="Calibri" pitchFamily="34" charset="-122"/>
                          <a:cs typeface="Calibri" pitchFamily="34" charset="-120"/>
                        </a:rPr>
                        <a:t>Kidney segmentation</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512 x 512 mask, 5-stage upsampling decoder</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Dice loss</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extLst>
                  <a:ext uri="{0D108BD9-81ED-4DB2-BD59-A6C34878D82A}">
                    <a16:rowId xmlns:a16="http://schemas.microsoft.com/office/drawing/2014/main" val="10004"/>
                  </a:ext>
                </a:extLst>
              </a:tr>
              <a:tr h="512064">
                <a:tc>
                  <a:txBody>
                    <a:bodyPr/>
                    <a:lstStyle/>
                    <a:p>
                      <a:pPr marL="0" indent="0">
                        <a:buNone/>
                      </a:pPr>
                      <a:r>
                        <a:rPr lang="en-US" sz="1250" b="1" dirty="0">
                          <a:solidFill>
                            <a:srgbClr val="1A2233"/>
                          </a:solidFill>
                          <a:latin typeface="Calibri" pitchFamily="34" charset="0"/>
                          <a:ea typeface="Calibri" pitchFamily="34" charset="-122"/>
                          <a:cs typeface="Calibri" pitchFamily="34" charset="-120"/>
                        </a:rPr>
                        <a:t>Lesion segmentation</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512 x 512 mask of the lesion-box union</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Dice loss</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extLst>
                  <a:ext uri="{0D108BD9-81ED-4DB2-BD59-A6C34878D82A}">
                    <a16:rowId xmlns:a16="http://schemas.microsoft.com/office/drawing/2014/main" val="10005"/>
                  </a:ext>
                </a:extLst>
              </a:tr>
              <a:tr h="512064">
                <a:tc>
                  <a:txBody>
                    <a:bodyPr/>
                    <a:lstStyle/>
                    <a:p>
                      <a:pPr marL="0" indent="0">
                        <a:buNone/>
                      </a:pPr>
                      <a:r>
                        <a:rPr lang="en-US" sz="1250" b="1" dirty="0">
                          <a:solidFill>
                            <a:srgbClr val="1A2233"/>
                          </a:solidFill>
                          <a:latin typeface="Calibri" pitchFamily="34" charset="0"/>
                          <a:ea typeface="Calibri" pitchFamily="34" charset="-122"/>
                          <a:cs typeface="Calibri" pitchFamily="34" charset="-120"/>
                        </a:rPr>
                        <a:t>Anatomical consistency</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Lesion probability outside the kidney</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Ratio penalty</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8" name="Text 4"/>
          <p:cNvSpPr txBox="1"/>
          <p:nvPr/>
        </p:nvSpPr>
        <p:spPr>
          <a:xfrm>
            <a:off x="548640" y="5715000"/>
            <a:ext cx="7498080" cy="411480"/>
          </a:xfrm>
          <a:prstGeom prst="rect">
            <a:avLst/>
          </a:prstGeom>
          <a:noFill/>
          <a:ln/>
        </p:spPr>
        <p:txBody>
          <a:bodyPr wrap="square" lIns="0" tIns="0" rIns="0" bIns="0" rtlCol="0" anchor="t"/>
          <a:lstStyle/>
          <a:p>
            <a:pPr marL="0" indent="0">
              <a:buNone/>
            </a:pPr>
            <a:r>
              <a:rPr lang="en-US" sz="1350" i="1" dirty="0">
                <a:solidFill>
                  <a:srgbClr val="1C7293"/>
                </a:solidFill>
                <a:latin typeface="Calibri" pitchFamily="34" charset="0"/>
                <a:ea typeface="Calibri" pitchFamily="34" charset="-122"/>
                <a:cs typeface="Calibri" pitchFamily="34" charset="-120"/>
              </a:rPr>
              <a:t>No Mask R-CNN, Faster R-CNN or U-Net: every head reads the same encoder feature map.</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METHODOLOGY</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Loss Design and the Anatomical Constraint</a:t>
            </a:r>
            <a:endParaRPr lang="en-US" sz="3000" dirty="0"/>
          </a:p>
        </p:txBody>
      </p:sp>
      <p:sp>
        <p:nvSpPr>
          <p:cNvPr id="7" name="Shape 4"/>
          <p:cNvSpPr/>
          <p:nvPr/>
        </p:nvSpPr>
        <p:spPr>
          <a:xfrm>
            <a:off x="548639" y="1920240"/>
            <a:ext cx="8746435" cy="3081130"/>
          </a:xfrm>
          <a:prstGeom prst="roundRect">
            <a:avLst>
              <a:gd name="adj" fmla="val 1304"/>
            </a:avLst>
          </a:prstGeom>
          <a:solidFill>
            <a:srgbClr val="F3F6F9"/>
          </a:solidFill>
          <a:ln w="9525">
            <a:solidFill>
              <a:srgbClr val="DCE3E8"/>
            </a:solidFill>
            <a:prstDash val="solid"/>
          </a:ln>
        </p:spPr>
      </p:sp>
      <p:sp>
        <p:nvSpPr>
          <p:cNvPr id="8" name="Text 5"/>
          <p:cNvSpPr txBox="1"/>
          <p:nvPr/>
        </p:nvSpPr>
        <p:spPr>
          <a:xfrm>
            <a:off x="822960" y="2103120"/>
            <a:ext cx="4846320" cy="365760"/>
          </a:xfrm>
          <a:prstGeom prst="rect">
            <a:avLst/>
          </a:prstGeom>
          <a:noFill/>
          <a:ln/>
        </p:spPr>
        <p:txBody>
          <a:bodyPr wrap="square" lIns="0" tIns="0" rIns="0" bIns="0" rtlCol="0" anchor="t"/>
          <a:lstStyle/>
          <a:p>
            <a:pPr marL="0" indent="0">
              <a:buNone/>
            </a:pPr>
            <a:r>
              <a:rPr lang="en-US" sz="1700" b="1" dirty="0">
                <a:solidFill>
                  <a:srgbClr val="21295C"/>
                </a:solidFill>
                <a:latin typeface="Calibri" pitchFamily="34" charset="0"/>
                <a:ea typeface="Calibri" pitchFamily="34" charset="-122"/>
                <a:cs typeface="Calibri" pitchFamily="34" charset="-120"/>
              </a:rPr>
              <a:t>Multi-task objective</a:t>
            </a:r>
            <a:endParaRPr lang="en-US" sz="1700" dirty="0"/>
          </a:p>
        </p:txBody>
      </p:sp>
      <p:sp>
        <p:nvSpPr>
          <p:cNvPr id="9" name="Text 6"/>
          <p:cNvSpPr txBox="1"/>
          <p:nvPr/>
        </p:nvSpPr>
        <p:spPr>
          <a:xfrm>
            <a:off x="822960" y="2560320"/>
            <a:ext cx="4937760" cy="731520"/>
          </a:xfrm>
          <a:prstGeom prst="rect">
            <a:avLst/>
          </a:prstGeom>
          <a:noFill/>
          <a:ln/>
        </p:spPr>
        <p:txBody>
          <a:bodyPr wrap="square" lIns="0" tIns="0" rIns="0" bIns="0" rtlCol="0" anchor="t"/>
          <a:lstStyle/>
          <a:p>
            <a:pPr marL="0" indent="0">
              <a:buNone/>
            </a:pPr>
            <a:r>
              <a:rPr lang="en-US" sz="1500" dirty="0">
                <a:solidFill>
                  <a:srgbClr val="1A2233"/>
                </a:solidFill>
                <a:latin typeface="Cambria" pitchFamily="34" charset="0"/>
                <a:ea typeface="Cambria" pitchFamily="34" charset="-122"/>
                <a:cs typeface="Cambria" pitchFamily="34" charset="-120"/>
              </a:rPr>
              <a:t>L = w1 L_diag + w2 L_global + w3 L_local</a:t>
            </a:r>
            <a:endParaRPr lang="en-US" sz="1500" dirty="0"/>
          </a:p>
          <a:p>
            <a:pPr marL="0" indent="0">
              <a:buNone/>
            </a:pPr>
            <a:r>
              <a:rPr lang="en-US" sz="1500" dirty="0">
                <a:solidFill>
                  <a:srgbClr val="1A2233"/>
                </a:solidFill>
                <a:latin typeface="Cambria" pitchFamily="34" charset="0"/>
                <a:ea typeface="Cambria" pitchFamily="34" charset="-122"/>
                <a:cs typeface="Cambria" pitchFamily="34" charset="-120"/>
              </a:rPr>
              <a:t>     + w4 L_kidney + w5 L_lesion + w6 L_anat</a:t>
            </a:r>
            <a:endParaRPr lang="en-US" sz="1500" dirty="0"/>
          </a:p>
        </p:txBody>
      </p:sp>
      <p:sp>
        <p:nvSpPr>
          <p:cNvPr id="10" name="Text 7"/>
          <p:cNvSpPr txBox="1"/>
          <p:nvPr/>
        </p:nvSpPr>
        <p:spPr>
          <a:xfrm>
            <a:off x="822960" y="3429000"/>
            <a:ext cx="4892040" cy="256032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1A2233"/>
                </a:solidFill>
                <a:latin typeface="Calibri" pitchFamily="34" charset="0"/>
                <a:ea typeface="Calibri" pitchFamily="34" charset="-122"/>
                <a:cs typeface="Calibri" pitchFamily="34" charset="-120"/>
              </a:rPr>
              <a:t>Phases 2 to 5: every w = 1, the unweighted sum used by URI-CADS</a:t>
            </a:r>
            <a:endParaRPr lang="en-US" sz="1400" dirty="0"/>
          </a:p>
          <a:p>
            <a:pPr marL="177800" indent="-177800">
              <a:spcAft>
                <a:spcPts val="700"/>
              </a:spcAft>
              <a:buSzPct val="100000"/>
              <a:buChar char="•"/>
            </a:pPr>
            <a:r>
              <a:rPr lang="en-US" sz="1300" dirty="0">
                <a:solidFill>
                  <a:srgbClr val="1A2233"/>
                </a:solidFill>
                <a:latin typeface="Calibri" pitchFamily="34" charset="0"/>
                <a:ea typeface="Calibri" pitchFamily="34" charset="-122"/>
                <a:cs typeface="Calibri" pitchFamily="34" charset="-120"/>
              </a:rPr>
              <a:t>Phase 6: each w searched in [0.1, 5.0]</a:t>
            </a:r>
            <a:endParaRPr lang="en-US" sz="1400" dirty="0"/>
          </a:p>
          <a:p>
            <a:pPr marL="177800" indent="-177800">
              <a:spcAft>
                <a:spcPts val="700"/>
              </a:spcAft>
              <a:buSzPct val="100000"/>
              <a:buChar char="•"/>
            </a:pPr>
            <a:r>
              <a:rPr lang="en-US" sz="1300" dirty="0">
                <a:solidFill>
                  <a:srgbClr val="1A2233"/>
                </a:solidFill>
                <a:latin typeface="Calibri" pitchFamily="34" charset="0"/>
                <a:ea typeface="Calibri" pitchFamily="34" charset="-122"/>
                <a:cs typeface="Calibri" pitchFamily="34" charset="-120"/>
              </a:rPr>
              <a:t>Classification heads: binary cross-entropy</a:t>
            </a:r>
            <a:endParaRPr lang="en-US" sz="1400" dirty="0"/>
          </a:p>
          <a:p>
            <a:pPr marL="177800" indent="-177800">
              <a:spcAft>
                <a:spcPts val="700"/>
              </a:spcAft>
              <a:buSzPct val="100000"/>
              <a:buChar char="•"/>
            </a:pPr>
            <a:r>
              <a:rPr lang="en-US" sz="1300" dirty="0">
                <a:solidFill>
                  <a:srgbClr val="1A2233"/>
                </a:solidFill>
                <a:latin typeface="Calibri" pitchFamily="34" charset="0"/>
                <a:ea typeface="Calibri" pitchFamily="34" charset="-122"/>
                <a:cs typeface="Calibri" pitchFamily="34" charset="-120"/>
              </a:rPr>
              <a:t>Segmentation heads: Dice loss = 1 - 2|P ∩ G| / (|P| + |G|)</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METHODOLOGY</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Image Enhancement Layer</a:t>
            </a:r>
            <a:endParaRPr lang="en-US" sz="3000" dirty="0"/>
          </a:p>
        </p:txBody>
      </p:sp>
      <p:pic>
        <p:nvPicPr>
          <p:cNvPr id="7" name="Image 0" descr="C:/StudyMaterialDoNotTouch/publications/URI-CADS dataset/presentation/assets/enhancement_comparison.png"/>
          <p:cNvPicPr>
            <a:picLocks noChangeAspect="1"/>
          </p:cNvPicPr>
          <p:nvPr/>
        </p:nvPicPr>
        <p:blipFill>
          <a:blip r:embed="rId3"/>
          <a:stretch>
            <a:fillRect/>
          </a:stretch>
        </p:blipFill>
        <p:spPr>
          <a:xfrm>
            <a:off x="524788" y="1194761"/>
            <a:ext cx="8046721" cy="549864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OPTIMIZATION DESIGN</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How the Search Is Set Up</a:t>
            </a:r>
            <a:endParaRPr lang="en-US" sz="3000" dirty="0"/>
          </a:p>
        </p:txBody>
      </p:sp>
      <p:sp>
        <p:nvSpPr>
          <p:cNvPr id="7" name="Shape 4"/>
          <p:cNvSpPr/>
          <p:nvPr/>
        </p:nvSpPr>
        <p:spPr>
          <a:xfrm>
            <a:off x="548640" y="1920240"/>
            <a:ext cx="5760720" cy="1143000"/>
          </a:xfrm>
          <a:prstGeom prst="roundRect">
            <a:avLst>
              <a:gd name="adj" fmla="val 4800"/>
            </a:avLst>
          </a:prstGeom>
          <a:solidFill>
            <a:srgbClr val="F3F6F9"/>
          </a:solidFill>
          <a:ln w="9525">
            <a:solidFill>
              <a:srgbClr val="DCE3E8"/>
            </a:solidFill>
            <a:prstDash val="solid"/>
          </a:ln>
        </p:spPr>
      </p:sp>
      <p:sp>
        <p:nvSpPr>
          <p:cNvPr id="8" name="Text 5"/>
          <p:cNvSpPr txBox="1"/>
          <p:nvPr/>
        </p:nvSpPr>
        <p:spPr>
          <a:xfrm>
            <a:off x="822960" y="1965960"/>
            <a:ext cx="5303520" cy="1051560"/>
          </a:xfrm>
          <a:prstGeom prst="rect">
            <a:avLst/>
          </a:prstGeom>
          <a:noFill/>
          <a:ln/>
        </p:spPr>
        <p:txBody>
          <a:bodyPr wrap="square" lIns="0" tIns="0" rIns="0" bIns="0" rtlCol="0" anchor="ctr"/>
          <a:lstStyle/>
          <a:p>
            <a:pPr marL="0" indent="0">
              <a:buNone/>
            </a:pPr>
            <a:r>
              <a:rPr lang="en-US" sz="1500" b="1" dirty="0">
                <a:solidFill>
                  <a:srgbClr val="21295C"/>
                </a:solidFill>
                <a:latin typeface="Calibri" pitchFamily="34" charset="0"/>
                <a:ea typeface="Calibri" pitchFamily="34" charset="-122"/>
                <a:cs typeface="Calibri" pitchFamily="34" charset="-120"/>
              </a:rPr>
              <a:t>Fitness, maximized on the validation split</a:t>
            </a:r>
            <a:endParaRPr lang="en-US" sz="1400" dirty="0"/>
          </a:p>
          <a:p>
            <a:pPr marL="0" indent="0">
              <a:buNone/>
            </a:pPr>
            <a:r>
              <a:rPr lang="en-US" sz="1300" dirty="0">
                <a:solidFill>
                  <a:srgbClr val="1A2233"/>
                </a:solidFill>
                <a:latin typeface="Cambria" pitchFamily="34" charset="0"/>
                <a:ea typeface="Cambria" pitchFamily="34" charset="-122"/>
                <a:cs typeface="Cambria" pitchFamily="34" charset="-120"/>
              </a:rPr>
              <a:t>F = 0.30 AUC_diag + 0.15 AUC_local + 0.25 Dice_kidney + 0.25 Dice_lesion+ + 0.05 (1 - violation)</a:t>
            </a:r>
            <a:endParaRPr lang="en-US" sz="1400" dirty="0"/>
          </a:p>
        </p:txBody>
      </p:sp>
      <p:sp>
        <p:nvSpPr>
          <p:cNvPr id="9" name="Text 6"/>
          <p:cNvSpPr txBox="1"/>
          <p:nvPr/>
        </p:nvSpPr>
        <p:spPr>
          <a:xfrm>
            <a:off x="548640" y="3246120"/>
            <a:ext cx="5760720" cy="292608"/>
          </a:xfrm>
          <a:prstGeom prst="rect">
            <a:avLst/>
          </a:prstGeom>
          <a:noFill/>
          <a:ln/>
        </p:spPr>
        <p:txBody>
          <a:bodyPr wrap="square" lIns="0" tIns="0" rIns="0" bIns="0" rtlCol="0" anchor="t"/>
          <a:lstStyle/>
          <a:p>
            <a:pPr marL="0" indent="0">
              <a:buNone/>
            </a:pPr>
            <a:r>
              <a:rPr lang="en-US" sz="1300" b="1" dirty="0">
                <a:solidFill>
                  <a:srgbClr val="1A2233"/>
                </a:solidFill>
                <a:latin typeface="Calibri" pitchFamily="34" charset="0"/>
                <a:ea typeface="Calibri" pitchFamily="34" charset="-122"/>
                <a:cs typeface="Calibri" pitchFamily="34" charset="-120"/>
              </a:rPr>
              <a:t>Share of fitness by objective</a:t>
            </a:r>
            <a:endParaRPr lang="en-US" sz="1300" dirty="0"/>
          </a:p>
        </p:txBody>
      </p:sp>
      <p:graphicFrame>
        <p:nvGraphicFramePr>
          <p:cNvPr id="10" name="Chart 0"/>
          <p:cNvGraphicFramePr/>
          <p:nvPr/>
        </p:nvGraphicFramePr>
        <p:xfrm>
          <a:off x="548640" y="3520440"/>
          <a:ext cx="5760720" cy="2606040"/>
        </p:xfrm>
        <a:graphic>
          <a:graphicData uri="http://schemas.openxmlformats.org/drawingml/2006/chart">
            <c:chart xmlns:c="http://schemas.openxmlformats.org/drawingml/2006/chart" xmlns:r="http://schemas.openxmlformats.org/officeDocument/2006/relationships" r:id="rId3"/>
          </a:graphicData>
        </a:graphic>
      </p:graphicFrame>
      <p:sp>
        <p:nvSpPr>
          <p:cNvPr id="11" name="Shape 7"/>
          <p:cNvSpPr/>
          <p:nvPr/>
        </p:nvSpPr>
        <p:spPr>
          <a:xfrm>
            <a:off x="6629400" y="1920240"/>
            <a:ext cx="5010912" cy="941832"/>
          </a:xfrm>
          <a:prstGeom prst="roundRect">
            <a:avLst>
              <a:gd name="adj" fmla="val 5825"/>
            </a:avLst>
          </a:prstGeom>
          <a:solidFill>
            <a:srgbClr val="F3F6F9"/>
          </a:solidFill>
          <a:ln w="9525">
            <a:solidFill>
              <a:srgbClr val="DCE3E8"/>
            </a:solidFill>
            <a:prstDash val="solid"/>
          </a:ln>
        </p:spPr>
      </p:sp>
      <p:sp>
        <p:nvSpPr>
          <p:cNvPr id="12" name="Text 8"/>
          <p:cNvSpPr txBox="1"/>
          <p:nvPr/>
        </p:nvSpPr>
        <p:spPr>
          <a:xfrm>
            <a:off x="6858000" y="1920240"/>
            <a:ext cx="4617720" cy="941832"/>
          </a:xfrm>
          <a:prstGeom prst="rect">
            <a:avLst/>
          </a:prstGeom>
          <a:noFill/>
          <a:ln/>
        </p:spPr>
        <p:txBody>
          <a:bodyPr wrap="square" lIns="0" tIns="0" rIns="0" bIns="0" rtlCol="0" anchor="ctr"/>
          <a:lstStyle/>
          <a:p>
            <a:pPr marL="0" indent="0">
              <a:buNone/>
            </a:pPr>
            <a:r>
              <a:rPr lang="en-US" sz="1450" b="1" dirty="0">
                <a:solidFill>
                  <a:srgbClr val="21295C"/>
                </a:solidFill>
                <a:latin typeface="Calibri" pitchFamily="34" charset="0"/>
                <a:ea typeface="Calibri" pitchFamily="34" charset="-122"/>
                <a:cs typeface="Calibri" pitchFamily="34" charset="-120"/>
              </a:rPr>
              <a:t>10 parameters</a:t>
            </a:r>
            <a:endParaRPr lang="en-US" sz="1400" dirty="0"/>
          </a:p>
          <a:p>
            <a:pPr marL="0" indent="0">
              <a:buNone/>
            </a:pPr>
            <a:r>
              <a:rPr lang="en-US" sz="1250" dirty="0">
                <a:solidFill>
                  <a:srgbClr val="5B6B79"/>
                </a:solidFill>
                <a:latin typeface="Calibri" pitchFamily="34" charset="0"/>
                <a:ea typeface="Calibri" pitchFamily="34" charset="-122"/>
                <a:cs typeface="Calibri" pitchFamily="34" charset="-120"/>
              </a:rPr>
              <a:t>6 loss weights in [0.1, 5.0] and 4 enhancement settings, searched jointly</a:t>
            </a:r>
            <a:endParaRPr lang="en-US" sz="1400" dirty="0"/>
          </a:p>
        </p:txBody>
      </p:sp>
      <p:sp>
        <p:nvSpPr>
          <p:cNvPr id="13" name="Shape 9"/>
          <p:cNvSpPr/>
          <p:nvPr/>
        </p:nvSpPr>
        <p:spPr>
          <a:xfrm>
            <a:off x="6629400" y="2990088"/>
            <a:ext cx="5010912" cy="941832"/>
          </a:xfrm>
          <a:prstGeom prst="roundRect">
            <a:avLst>
              <a:gd name="adj" fmla="val 5825"/>
            </a:avLst>
          </a:prstGeom>
          <a:solidFill>
            <a:srgbClr val="F3F6F9"/>
          </a:solidFill>
          <a:ln w="9525">
            <a:solidFill>
              <a:srgbClr val="DCE3E8"/>
            </a:solidFill>
            <a:prstDash val="solid"/>
          </a:ln>
        </p:spPr>
      </p:sp>
      <p:sp>
        <p:nvSpPr>
          <p:cNvPr id="14" name="Text 10"/>
          <p:cNvSpPr txBox="1"/>
          <p:nvPr/>
        </p:nvSpPr>
        <p:spPr>
          <a:xfrm>
            <a:off x="6858000" y="2990088"/>
            <a:ext cx="4617720" cy="941832"/>
          </a:xfrm>
          <a:prstGeom prst="rect">
            <a:avLst/>
          </a:prstGeom>
          <a:noFill/>
          <a:ln/>
        </p:spPr>
        <p:txBody>
          <a:bodyPr wrap="square" lIns="0" tIns="0" rIns="0" bIns="0" rtlCol="0" anchor="ctr"/>
          <a:lstStyle/>
          <a:p>
            <a:pPr marL="0" indent="0">
              <a:buNone/>
            </a:pPr>
            <a:r>
              <a:rPr lang="en-US" sz="1450" b="1" dirty="0">
                <a:solidFill>
                  <a:srgbClr val="21295C"/>
                </a:solidFill>
                <a:latin typeface="Calibri" pitchFamily="34" charset="0"/>
                <a:ea typeface="Calibri" pitchFamily="34" charset="-122"/>
                <a:cs typeface="Calibri" pitchFamily="34" charset="-120"/>
              </a:rPr>
              <a:t>Equal budget</a:t>
            </a:r>
            <a:endParaRPr lang="en-US" sz="1400" dirty="0"/>
          </a:p>
          <a:p>
            <a:pPr marL="0" indent="0">
              <a:buNone/>
            </a:pPr>
            <a:r>
              <a:rPr lang="en-US" sz="1250" dirty="0">
                <a:solidFill>
                  <a:srgbClr val="5B6B79"/>
                </a:solidFill>
                <a:latin typeface="Calibri" pitchFamily="34" charset="0"/>
                <a:ea typeface="Calibri" pitchFamily="34" charset="-122"/>
                <a:cs typeface="Calibri" pitchFamily="34" charset="-120"/>
              </a:rPr>
              <a:t>60 model trainings per optimizer, 180 in total, capped on trainings rather than iterations</a:t>
            </a:r>
            <a:endParaRPr lang="en-US" sz="1400" dirty="0"/>
          </a:p>
        </p:txBody>
      </p:sp>
      <p:sp>
        <p:nvSpPr>
          <p:cNvPr id="15" name="Shape 11"/>
          <p:cNvSpPr/>
          <p:nvPr/>
        </p:nvSpPr>
        <p:spPr>
          <a:xfrm>
            <a:off x="6629400" y="4059936"/>
            <a:ext cx="5010912" cy="941832"/>
          </a:xfrm>
          <a:prstGeom prst="roundRect">
            <a:avLst>
              <a:gd name="adj" fmla="val 5825"/>
            </a:avLst>
          </a:prstGeom>
          <a:solidFill>
            <a:srgbClr val="F3F6F9"/>
          </a:solidFill>
          <a:ln w="9525">
            <a:solidFill>
              <a:srgbClr val="DCE3E8"/>
            </a:solidFill>
            <a:prstDash val="solid"/>
          </a:ln>
        </p:spPr>
      </p:sp>
      <p:sp>
        <p:nvSpPr>
          <p:cNvPr id="16" name="Text 12"/>
          <p:cNvSpPr txBox="1"/>
          <p:nvPr/>
        </p:nvSpPr>
        <p:spPr>
          <a:xfrm>
            <a:off x="6858000" y="4059936"/>
            <a:ext cx="4617720" cy="941832"/>
          </a:xfrm>
          <a:prstGeom prst="rect">
            <a:avLst/>
          </a:prstGeom>
          <a:noFill/>
          <a:ln/>
        </p:spPr>
        <p:txBody>
          <a:bodyPr wrap="square" lIns="0" tIns="0" rIns="0" bIns="0" rtlCol="0" anchor="ctr"/>
          <a:lstStyle/>
          <a:p>
            <a:pPr marL="0" indent="0">
              <a:buNone/>
            </a:pPr>
            <a:r>
              <a:rPr lang="en-US" sz="1450" b="1" dirty="0">
                <a:solidFill>
                  <a:srgbClr val="21295C"/>
                </a:solidFill>
                <a:latin typeface="Calibri" pitchFamily="34" charset="0"/>
                <a:ea typeface="Calibri" pitchFamily="34" charset="-122"/>
                <a:cs typeface="Calibri" pitchFamily="34" charset="-120"/>
              </a:rPr>
              <a:t>Cheap evaluation</a:t>
            </a:r>
            <a:endParaRPr lang="en-US" sz="1400" dirty="0"/>
          </a:p>
          <a:p>
            <a:pPr marL="0" indent="0">
              <a:buNone/>
            </a:pPr>
            <a:r>
              <a:rPr lang="en-US" sz="1250" dirty="0">
                <a:solidFill>
                  <a:srgbClr val="5B6B79"/>
                </a:solidFill>
                <a:latin typeface="Calibri" pitchFamily="34" charset="0"/>
                <a:ea typeface="Calibri" pitchFamily="34" charset="-122"/>
                <a:cs typeface="Calibri" pitchFamily="34" charset="-120"/>
              </a:rPr>
              <a:t>Each candidate trained 3 epochs at 256 x 256, about 2 minutes, then scored on validation</a:t>
            </a:r>
            <a:endParaRPr lang="en-US" sz="1400" dirty="0"/>
          </a:p>
        </p:txBody>
      </p:sp>
      <p:sp>
        <p:nvSpPr>
          <p:cNvPr id="17" name="Shape 13"/>
          <p:cNvSpPr/>
          <p:nvPr/>
        </p:nvSpPr>
        <p:spPr>
          <a:xfrm>
            <a:off x="6629400" y="5129784"/>
            <a:ext cx="5010912" cy="941832"/>
          </a:xfrm>
          <a:prstGeom prst="roundRect">
            <a:avLst>
              <a:gd name="adj" fmla="val 5825"/>
            </a:avLst>
          </a:prstGeom>
          <a:solidFill>
            <a:srgbClr val="F3F6F9"/>
          </a:solidFill>
          <a:ln w="9525">
            <a:solidFill>
              <a:srgbClr val="DCE3E8"/>
            </a:solidFill>
            <a:prstDash val="solid"/>
          </a:ln>
        </p:spPr>
      </p:sp>
      <p:sp>
        <p:nvSpPr>
          <p:cNvPr id="18" name="Text 14"/>
          <p:cNvSpPr txBox="1"/>
          <p:nvPr/>
        </p:nvSpPr>
        <p:spPr>
          <a:xfrm>
            <a:off x="6858000" y="5129784"/>
            <a:ext cx="4617720" cy="941832"/>
          </a:xfrm>
          <a:prstGeom prst="rect">
            <a:avLst/>
          </a:prstGeom>
          <a:noFill/>
          <a:ln/>
        </p:spPr>
        <p:txBody>
          <a:bodyPr wrap="square" lIns="0" tIns="0" rIns="0" bIns="0" rtlCol="0" anchor="ctr"/>
          <a:lstStyle/>
          <a:p>
            <a:pPr marL="0" indent="0">
              <a:buNone/>
            </a:pPr>
            <a:r>
              <a:rPr lang="en-US" sz="1450" b="1" dirty="0">
                <a:solidFill>
                  <a:srgbClr val="21295C"/>
                </a:solidFill>
                <a:latin typeface="Calibri" pitchFamily="34" charset="0"/>
                <a:ea typeface="Calibri" pitchFamily="34" charset="-122"/>
                <a:cs typeface="Calibri" pitchFamily="34" charset="-120"/>
              </a:rPr>
              <a:t>Common start</a:t>
            </a:r>
            <a:endParaRPr lang="en-US" sz="1400" dirty="0"/>
          </a:p>
          <a:p>
            <a:pPr marL="0" indent="0">
              <a:buNone/>
            </a:pPr>
            <a:r>
              <a:rPr lang="en-US" sz="1250" dirty="0">
                <a:solidFill>
                  <a:srgbClr val="5B6B79"/>
                </a:solidFill>
                <a:latin typeface="Calibri" pitchFamily="34" charset="0"/>
                <a:ea typeface="Calibri" pitchFamily="34" charset="-122"/>
                <a:cs typeface="Calibri" pitchFamily="34" charset="-120"/>
              </a:rPr>
              <a:t>Same random seed, so all optimizers begin from the same 6 candidates; every result is cached</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OPTIMIZATION DESIGN</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Three Metaheuristics Compared</a:t>
            </a:r>
            <a:endParaRPr lang="en-US" sz="3000" dirty="0"/>
          </a:p>
        </p:txBody>
      </p:sp>
      <p:sp>
        <p:nvSpPr>
          <p:cNvPr id="7" name="Shape 4"/>
          <p:cNvSpPr/>
          <p:nvPr/>
        </p:nvSpPr>
        <p:spPr>
          <a:xfrm>
            <a:off x="548640" y="1920240"/>
            <a:ext cx="3566160" cy="2240280"/>
          </a:xfrm>
          <a:prstGeom prst="roundRect">
            <a:avLst>
              <a:gd name="adj" fmla="val 2449"/>
            </a:avLst>
          </a:prstGeom>
          <a:solidFill>
            <a:srgbClr val="F3F6F9"/>
          </a:solidFill>
          <a:ln w="9525">
            <a:solidFill>
              <a:srgbClr val="DCE3E8"/>
            </a:solidFill>
            <a:prstDash val="solid"/>
          </a:ln>
        </p:spPr>
      </p:sp>
      <p:sp>
        <p:nvSpPr>
          <p:cNvPr id="8" name="Text 5"/>
          <p:cNvSpPr txBox="1"/>
          <p:nvPr/>
        </p:nvSpPr>
        <p:spPr>
          <a:xfrm>
            <a:off x="822960" y="2057400"/>
            <a:ext cx="1371600" cy="502920"/>
          </a:xfrm>
          <a:prstGeom prst="rect">
            <a:avLst/>
          </a:prstGeom>
          <a:noFill/>
          <a:ln/>
        </p:spPr>
        <p:txBody>
          <a:bodyPr wrap="square" lIns="0" tIns="0" rIns="0" bIns="0" rtlCol="0" anchor="t"/>
          <a:lstStyle/>
          <a:p>
            <a:pPr marL="0" indent="0">
              <a:buNone/>
            </a:pPr>
            <a:r>
              <a:rPr lang="en-US" sz="2600" b="1" dirty="0">
                <a:solidFill>
                  <a:srgbClr val="21295C"/>
                </a:solidFill>
                <a:latin typeface="Cambria" pitchFamily="34" charset="0"/>
                <a:ea typeface="Cambria" pitchFamily="34" charset="-122"/>
                <a:cs typeface="Cambria" pitchFamily="34" charset="-120"/>
              </a:rPr>
              <a:t>COA</a:t>
            </a:r>
            <a:endParaRPr lang="en-US" sz="2600" dirty="0"/>
          </a:p>
        </p:txBody>
      </p:sp>
      <p:sp>
        <p:nvSpPr>
          <p:cNvPr id="9" name="Text 6"/>
          <p:cNvSpPr txBox="1"/>
          <p:nvPr/>
        </p:nvSpPr>
        <p:spPr>
          <a:xfrm>
            <a:off x="822960" y="2560320"/>
            <a:ext cx="3108960" cy="548640"/>
          </a:xfrm>
          <a:prstGeom prst="rect">
            <a:avLst/>
          </a:prstGeom>
          <a:noFill/>
          <a:ln/>
        </p:spPr>
        <p:txBody>
          <a:bodyPr wrap="square" lIns="0" tIns="0" rIns="0" bIns="0" rtlCol="0" anchor="t"/>
          <a:lstStyle/>
          <a:p>
            <a:pPr marL="0" indent="0">
              <a:buNone/>
            </a:pPr>
            <a:r>
              <a:rPr lang="en-US" sz="1300" b="1" dirty="0">
                <a:solidFill>
                  <a:srgbClr val="1A2233"/>
                </a:solidFill>
                <a:latin typeface="Calibri" pitchFamily="34" charset="0"/>
                <a:ea typeface="Calibri" pitchFamily="34" charset="-122"/>
                <a:cs typeface="Calibri" pitchFamily="34" charset="-120"/>
              </a:rPr>
              <a:t>Coati Optimization Algorithm</a:t>
            </a:r>
            <a:endParaRPr lang="en-US" sz="1300" dirty="0"/>
          </a:p>
          <a:p>
            <a:pPr marL="0" indent="0">
              <a:buNone/>
            </a:pPr>
            <a:r>
              <a:rPr lang="en-US" sz="1100" i="1" dirty="0">
                <a:solidFill>
                  <a:srgbClr val="5B6B79"/>
                </a:solidFill>
                <a:latin typeface="Calibri" pitchFamily="34" charset="0"/>
                <a:ea typeface="Calibri" pitchFamily="34" charset="-122"/>
                <a:cs typeface="Calibri" pitchFamily="34" charset="-120"/>
              </a:rPr>
              <a:t>Dehghani et al., 2023</a:t>
            </a:r>
            <a:endParaRPr lang="en-US" sz="1300" dirty="0"/>
          </a:p>
        </p:txBody>
      </p:sp>
      <p:sp>
        <p:nvSpPr>
          <p:cNvPr id="10" name="Text 7"/>
          <p:cNvSpPr txBox="1"/>
          <p:nvPr/>
        </p:nvSpPr>
        <p:spPr>
          <a:xfrm>
            <a:off x="822960" y="3154680"/>
            <a:ext cx="3063240" cy="960120"/>
          </a:xfrm>
          <a:prstGeom prst="rect">
            <a:avLst/>
          </a:prstGeom>
          <a:noFill/>
          <a:ln/>
        </p:spPr>
        <p:txBody>
          <a:bodyPr wrap="square" lIns="0" tIns="0" rIns="0" bIns="0" rtlCol="0" anchor="t"/>
          <a:lstStyle/>
          <a:p>
            <a:pPr marL="0" indent="0">
              <a:buNone/>
            </a:pPr>
            <a:r>
              <a:rPr lang="en-US" sz="1200" dirty="0">
                <a:solidFill>
                  <a:srgbClr val="5B6B79"/>
                </a:solidFill>
                <a:latin typeface="Calibri" pitchFamily="34" charset="0"/>
                <a:ea typeface="Calibri" pitchFamily="34" charset="-122"/>
                <a:cs typeface="Calibri" pitchFamily="34" charset="-120"/>
              </a:rPr>
              <a:t>Half the population moves toward the best solution, half toward a random point; then a local search with a radius that shrinks each iteration.</a:t>
            </a:r>
            <a:endParaRPr lang="en-US" sz="1200" dirty="0"/>
          </a:p>
        </p:txBody>
      </p:sp>
      <p:sp>
        <p:nvSpPr>
          <p:cNvPr id="11" name="Shape 8"/>
          <p:cNvSpPr/>
          <p:nvPr/>
        </p:nvSpPr>
        <p:spPr>
          <a:xfrm>
            <a:off x="4311396" y="1920240"/>
            <a:ext cx="3566160" cy="2240280"/>
          </a:xfrm>
          <a:prstGeom prst="roundRect">
            <a:avLst>
              <a:gd name="adj" fmla="val 2449"/>
            </a:avLst>
          </a:prstGeom>
          <a:solidFill>
            <a:srgbClr val="F3F6F9"/>
          </a:solidFill>
          <a:ln w="9525">
            <a:solidFill>
              <a:srgbClr val="DCE3E8"/>
            </a:solidFill>
            <a:prstDash val="solid"/>
          </a:ln>
        </p:spPr>
      </p:sp>
      <p:sp>
        <p:nvSpPr>
          <p:cNvPr id="12" name="Text 9"/>
          <p:cNvSpPr txBox="1"/>
          <p:nvPr/>
        </p:nvSpPr>
        <p:spPr>
          <a:xfrm>
            <a:off x="4585716" y="2057400"/>
            <a:ext cx="1371600" cy="502920"/>
          </a:xfrm>
          <a:prstGeom prst="rect">
            <a:avLst/>
          </a:prstGeom>
          <a:noFill/>
          <a:ln/>
        </p:spPr>
        <p:txBody>
          <a:bodyPr wrap="square" lIns="0" tIns="0" rIns="0" bIns="0" rtlCol="0" anchor="t"/>
          <a:lstStyle/>
          <a:p>
            <a:pPr marL="0" indent="0">
              <a:buNone/>
            </a:pPr>
            <a:r>
              <a:rPr lang="en-US" sz="2600" b="1" dirty="0">
                <a:solidFill>
                  <a:srgbClr val="21295C"/>
                </a:solidFill>
                <a:latin typeface="Cambria" pitchFamily="34" charset="0"/>
                <a:ea typeface="Cambria" pitchFamily="34" charset="-122"/>
                <a:cs typeface="Cambria" pitchFamily="34" charset="-120"/>
              </a:rPr>
              <a:t>WOA</a:t>
            </a:r>
            <a:endParaRPr lang="en-US" sz="2600" dirty="0"/>
          </a:p>
        </p:txBody>
      </p:sp>
      <p:sp>
        <p:nvSpPr>
          <p:cNvPr id="13" name="Text 10"/>
          <p:cNvSpPr txBox="1"/>
          <p:nvPr/>
        </p:nvSpPr>
        <p:spPr>
          <a:xfrm>
            <a:off x="4585716" y="2560320"/>
            <a:ext cx="3108960" cy="548640"/>
          </a:xfrm>
          <a:prstGeom prst="rect">
            <a:avLst/>
          </a:prstGeom>
          <a:noFill/>
          <a:ln/>
        </p:spPr>
        <p:txBody>
          <a:bodyPr wrap="square" lIns="0" tIns="0" rIns="0" bIns="0" rtlCol="0" anchor="t"/>
          <a:lstStyle/>
          <a:p>
            <a:pPr marL="0" indent="0">
              <a:buNone/>
            </a:pPr>
            <a:r>
              <a:rPr lang="en-US" sz="1300" b="1" dirty="0">
                <a:solidFill>
                  <a:srgbClr val="1A2233"/>
                </a:solidFill>
                <a:latin typeface="Calibri" pitchFamily="34" charset="0"/>
                <a:ea typeface="Calibri" pitchFamily="34" charset="-122"/>
                <a:cs typeface="Calibri" pitchFamily="34" charset="-120"/>
              </a:rPr>
              <a:t>Whale Optimization Algorithm</a:t>
            </a:r>
            <a:endParaRPr lang="en-US" sz="1300" dirty="0"/>
          </a:p>
          <a:p>
            <a:pPr marL="0" indent="0">
              <a:buNone/>
            </a:pPr>
            <a:r>
              <a:rPr lang="en-US" sz="1100" i="1" dirty="0">
                <a:solidFill>
                  <a:srgbClr val="5B6B79"/>
                </a:solidFill>
                <a:latin typeface="Calibri" pitchFamily="34" charset="0"/>
                <a:ea typeface="Calibri" pitchFamily="34" charset="-122"/>
                <a:cs typeface="Calibri" pitchFamily="34" charset="-120"/>
              </a:rPr>
              <a:t>Mirjalili and Lewis, 2016</a:t>
            </a:r>
            <a:endParaRPr lang="en-US" sz="1300" dirty="0"/>
          </a:p>
        </p:txBody>
      </p:sp>
      <p:sp>
        <p:nvSpPr>
          <p:cNvPr id="14" name="Text 11"/>
          <p:cNvSpPr txBox="1"/>
          <p:nvPr/>
        </p:nvSpPr>
        <p:spPr>
          <a:xfrm>
            <a:off x="4585716" y="3154680"/>
            <a:ext cx="3063240" cy="960120"/>
          </a:xfrm>
          <a:prstGeom prst="rect">
            <a:avLst/>
          </a:prstGeom>
          <a:noFill/>
          <a:ln/>
        </p:spPr>
        <p:txBody>
          <a:bodyPr wrap="square" lIns="0" tIns="0" rIns="0" bIns="0" rtlCol="0" anchor="t"/>
          <a:lstStyle/>
          <a:p>
            <a:pPr marL="0" indent="0">
              <a:buNone/>
            </a:pPr>
            <a:r>
              <a:rPr lang="en-US" sz="1200" dirty="0">
                <a:solidFill>
                  <a:srgbClr val="5B6B79"/>
                </a:solidFill>
                <a:latin typeface="Calibri" pitchFamily="34" charset="0"/>
                <a:ea typeface="Calibri" pitchFamily="34" charset="-122"/>
                <a:cs typeface="Calibri" pitchFamily="34" charset="-120"/>
              </a:rPr>
              <a:t>Encircles the best solution, explores via random agents, and exploits with a spiral update; step size shrinks over time.</a:t>
            </a:r>
            <a:endParaRPr lang="en-US" sz="1200" dirty="0"/>
          </a:p>
        </p:txBody>
      </p:sp>
      <p:sp>
        <p:nvSpPr>
          <p:cNvPr id="15" name="Shape 12"/>
          <p:cNvSpPr/>
          <p:nvPr/>
        </p:nvSpPr>
        <p:spPr>
          <a:xfrm>
            <a:off x="8074152" y="1920240"/>
            <a:ext cx="3566160" cy="2240280"/>
          </a:xfrm>
          <a:prstGeom prst="roundRect">
            <a:avLst>
              <a:gd name="adj" fmla="val 2449"/>
            </a:avLst>
          </a:prstGeom>
          <a:solidFill>
            <a:srgbClr val="F3F6F9"/>
          </a:solidFill>
          <a:ln w="9525">
            <a:solidFill>
              <a:srgbClr val="DCE3E8"/>
            </a:solidFill>
            <a:prstDash val="solid"/>
          </a:ln>
        </p:spPr>
      </p:sp>
      <p:sp>
        <p:nvSpPr>
          <p:cNvPr id="16" name="Text 13"/>
          <p:cNvSpPr txBox="1"/>
          <p:nvPr/>
        </p:nvSpPr>
        <p:spPr>
          <a:xfrm>
            <a:off x="8348472" y="2057400"/>
            <a:ext cx="1371600" cy="502920"/>
          </a:xfrm>
          <a:prstGeom prst="rect">
            <a:avLst/>
          </a:prstGeom>
          <a:noFill/>
          <a:ln/>
        </p:spPr>
        <p:txBody>
          <a:bodyPr wrap="square" lIns="0" tIns="0" rIns="0" bIns="0" rtlCol="0" anchor="t"/>
          <a:lstStyle/>
          <a:p>
            <a:pPr marL="0" indent="0">
              <a:buNone/>
            </a:pPr>
            <a:r>
              <a:rPr lang="en-US" sz="2600" b="1" dirty="0">
                <a:solidFill>
                  <a:srgbClr val="21295C"/>
                </a:solidFill>
                <a:latin typeface="Cambria" pitchFamily="34" charset="0"/>
                <a:ea typeface="Cambria" pitchFamily="34" charset="-122"/>
                <a:cs typeface="Cambria" pitchFamily="34" charset="-120"/>
              </a:rPr>
              <a:t>GWO</a:t>
            </a:r>
            <a:endParaRPr lang="en-US" sz="2600" dirty="0"/>
          </a:p>
        </p:txBody>
      </p:sp>
      <p:sp>
        <p:nvSpPr>
          <p:cNvPr id="17" name="Text 14"/>
          <p:cNvSpPr txBox="1"/>
          <p:nvPr/>
        </p:nvSpPr>
        <p:spPr>
          <a:xfrm>
            <a:off x="8348472" y="2560320"/>
            <a:ext cx="3108960" cy="548640"/>
          </a:xfrm>
          <a:prstGeom prst="rect">
            <a:avLst/>
          </a:prstGeom>
          <a:noFill/>
          <a:ln/>
        </p:spPr>
        <p:txBody>
          <a:bodyPr wrap="square" lIns="0" tIns="0" rIns="0" bIns="0" rtlCol="0" anchor="t"/>
          <a:lstStyle/>
          <a:p>
            <a:pPr marL="0" indent="0">
              <a:buNone/>
            </a:pPr>
            <a:r>
              <a:rPr lang="en-US" sz="1300" b="1" dirty="0">
                <a:solidFill>
                  <a:srgbClr val="1A2233"/>
                </a:solidFill>
                <a:latin typeface="Calibri" pitchFamily="34" charset="0"/>
                <a:ea typeface="Calibri" pitchFamily="34" charset="-122"/>
                <a:cs typeface="Calibri" pitchFamily="34" charset="-120"/>
              </a:rPr>
              <a:t>Grey Wolf Optimizer</a:t>
            </a:r>
            <a:endParaRPr lang="en-US" sz="1300" dirty="0"/>
          </a:p>
          <a:p>
            <a:pPr marL="0" indent="0">
              <a:buNone/>
            </a:pPr>
            <a:r>
              <a:rPr lang="en-US" sz="1100" i="1" dirty="0">
                <a:solidFill>
                  <a:srgbClr val="5B6B79"/>
                </a:solidFill>
                <a:latin typeface="Calibri" pitchFamily="34" charset="0"/>
                <a:ea typeface="Calibri" pitchFamily="34" charset="-122"/>
                <a:cs typeface="Calibri" pitchFamily="34" charset="-120"/>
              </a:rPr>
              <a:t>Mirjalili et al., 2014</a:t>
            </a:r>
            <a:endParaRPr lang="en-US" sz="1300" dirty="0"/>
          </a:p>
        </p:txBody>
      </p:sp>
      <p:sp>
        <p:nvSpPr>
          <p:cNvPr id="18" name="Text 15"/>
          <p:cNvSpPr txBox="1"/>
          <p:nvPr/>
        </p:nvSpPr>
        <p:spPr>
          <a:xfrm>
            <a:off x="8348472" y="3154680"/>
            <a:ext cx="3063240" cy="960120"/>
          </a:xfrm>
          <a:prstGeom prst="rect">
            <a:avLst/>
          </a:prstGeom>
          <a:noFill/>
          <a:ln/>
        </p:spPr>
        <p:txBody>
          <a:bodyPr wrap="square" lIns="0" tIns="0" rIns="0" bIns="0" rtlCol="0" anchor="t"/>
          <a:lstStyle/>
          <a:p>
            <a:pPr marL="0" indent="0">
              <a:buNone/>
            </a:pPr>
            <a:r>
              <a:rPr lang="en-US" sz="1200" dirty="0">
                <a:solidFill>
                  <a:srgbClr val="5B6B79"/>
                </a:solidFill>
                <a:latin typeface="Calibri" pitchFamily="34" charset="0"/>
                <a:ea typeface="Calibri" pitchFamily="34" charset="-122"/>
                <a:cs typeface="Calibri" pitchFamily="34" charset="-120"/>
              </a:rPr>
              <a:t>Moves every candidate toward the three best solutions so far (alpha, beta, delta); exploration shrinks linearly.</a:t>
            </a:r>
            <a:endParaRPr lang="en-US" sz="1200" dirty="0"/>
          </a:p>
        </p:txBody>
      </p:sp>
      <p:sp>
        <p:nvSpPr>
          <p:cNvPr id="19" name="Text 16"/>
          <p:cNvSpPr txBox="1"/>
          <p:nvPr/>
        </p:nvSpPr>
        <p:spPr>
          <a:xfrm>
            <a:off x="548640" y="4343400"/>
            <a:ext cx="11094415" cy="292608"/>
          </a:xfrm>
          <a:prstGeom prst="rect">
            <a:avLst/>
          </a:prstGeom>
          <a:noFill/>
          <a:ln/>
        </p:spPr>
        <p:txBody>
          <a:bodyPr wrap="square" lIns="0" tIns="0" rIns="0" bIns="0" rtlCol="0" anchor="t"/>
          <a:lstStyle/>
          <a:p>
            <a:pPr marL="0" indent="0">
              <a:buNone/>
            </a:pPr>
            <a:r>
              <a:rPr lang="en-US" sz="1300" b="1" dirty="0">
                <a:solidFill>
                  <a:srgbClr val="1A2233"/>
                </a:solidFill>
                <a:latin typeface="Calibri" pitchFamily="34" charset="0"/>
                <a:ea typeface="Calibri" pitchFamily="34" charset="-122"/>
                <a:cs typeface="Calibri" pitchFamily="34" charset="-120"/>
              </a:rPr>
              <a:t>Sanity check on standard test functions (10 dimensions, 1,000 evaluations, mean of 5 seeds; lower is better)</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4663440"/>
          <a:ext cx="11091672" cy="1097280"/>
        </p:xfrm>
        <a:graphic>
          <a:graphicData uri="http://schemas.openxmlformats.org/drawingml/2006/table">
            <a:tbl>
              <a:tblPr/>
              <a:tblGrid>
                <a:gridCol w="201168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1993392">
                  <a:extLst>
                    <a:ext uri="{9D8B030D-6E8A-4147-A177-3AD203B41FA5}">
                      <a16:colId xmlns:a16="http://schemas.microsoft.com/office/drawing/2014/main" val="20002"/>
                    </a:ext>
                  </a:extLst>
                </a:gridCol>
                <a:gridCol w="1993392">
                  <a:extLst>
                    <a:ext uri="{9D8B030D-6E8A-4147-A177-3AD203B41FA5}">
                      <a16:colId xmlns:a16="http://schemas.microsoft.com/office/drawing/2014/main" val="20003"/>
                    </a:ext>
                  </a:extLst>
                </a:gridCol>
                <a:gridCol w="1984248">
                  <a:extLst>
                    <a:ext uri="{9D8B030D-6E8A-4147-A177-3AD203B41FA5}">
                      <a16:colId xmlns:a16="http://schemas.microsoft.com/office/drawing/2014/main" val="20004"/>
                    </a:ext>
                  </a:extLst>
                </a:gridCol>
              </a:tblGrid>
              <a:tr h="365760">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Function</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21295C"/>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Landscape</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21295C"/>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COA</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21295C"/>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WOA</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21295C"/>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GWO</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21295C"/>
                    </a:solidFill>
                  </a:tcPr>
                </a:tc>
                <a:extLst>
                  <a:ext uri="{0D108BD9-81ED-4DB2-BD59-A6C34878D82A}">
                    <a16:rowId xmlns:a16="http://schemas.microsoft.com/office/drawing/2014/main" val="10000"/>
                  </a:ext>
                </a:extLst>
              </a:tr>
              <a:tr h="365760">
                <a:tc>
                  <a:txBody>
                    <a:bodyPr/>
                    <a:lstStyle/>
                    <a:p>
                      <a:pPr marL="0" indent="0">
                        <a:buNone/>
                      </a:pPr>
                      <a:r>
                        <a:rPr lang="en-US" sz="1250" b="1" dirty="0">
                          <a:solidFill>
                            <a:srgbClr val="1A2233"/>
                          </a:solidFill>
                          <a:latin typeface="Calibri" pitchFamily="34" charset="0"/>
                          <a:ea typeface="Calibri" pitchFamily="34" charset="-122"/>
                          <a:cs typeface="Calibri" pitchFamily="34" charset="-120"/>
                        </a:rPr>
                        <a:t>Sphere</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Smooth, one optimum</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6.9e-7</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3.6e-4</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b="1" dirty="0">
                          <a:solidFill>
                            <a:srgbClr val="2E7D5B"/>
                          </a:solidFill>
                          <a:latin typeface="Calibri" pitchFamily="34" charset="0"/>
                          <a:ea typeface="Calibri" pitchFamily="34" charset="-122"/>
                          <a:cs typeface="Calibri" pitchFamily="34" charset="-120"/>
                        </a:rPr>
                        <a:t>1.3e-9</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buNone/>
                      </a:pPr>
                      <a:r>
                        <a:rPr lang="en-US" sz="1250" b="1" dirty="0">
                          <a:solidFill>
                            <a:srgbClr val="1A2233"/>
                          </a:solidFill>
                          <a:latin typeface="Calibri" pitchFamily="34" charset="0"/>
                          <a:ea typeface="Calibri" pitchFamily="34" charset="-122"/>
                          <a:cs typeface="Calibri" pitchFamily="34" charset="-120"/>
                        </a:rPr>
                        <a:t>Rastrigin</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Many local optima</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b="1" dirty="0">
                          <a:solidFill>
                            <a:srgbClr val="2E7D5B"/>
                          </a:solidFill>
                          <a:latin typeface="Calibri" pitchFamily="34" charset="0"/>
                          <a:ea typeface="Calibri" pitchFamily="34" charset="-122"/>
                          <a:cs typeface="Calibri" pitchFamily="34" charset="-120"/>
                        </a:rPr>
                        <a:t>25.0</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44.0</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37.6</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21" name="Text 17"/>
          <p:cNvSpPr txBox="1"/>
          <p:nvPr/>
        </p:nvSpPr>
        <p:spPr>
          <a:xfrm>
            <a:off x="548640" y="5897880"/>
            <a:ext cx="11094415" cy="411480"/>
          </a:xfrm>
          <a:prstGeom prst="rect">
            <a:avLst/>
          </a:prstGeom>
          <a:noFill/>
          <a:ln/>
        </p:spPr>
        <p:txBody>
          <a:bodyPr wrap="square" lIns="0" tIns="0" rIns="0" bIns="0" rtlCol="0" anchor="t"/>
          <a:lstStyle/>
          <a:p>
            <a:pPr marL="0" indent="0">
              <a:buNone/>
            </a:pPr>
            <a:r>
              <a:rPr lang="en-US" sz="1300" i="1" dirty="0">
                <a:solidFill>
                  <a:srgbClr val="1C7293"/>
                </a:solidFill>
                <a:latin typeface="Calibri" pitchFamily="34" charset="0"/>
                <a:ea typeface="Calibri" pitchFamily="34" charset="-122"/>
                <a:cs typeface="Calibri" pitchFamily="34" charset="-120"/>
              </a:rPr>
              <a:t>GWO is strongest on smooth landscapes; COA is strongest on multimodal ones, which is closer to what a noisy hyperparameter search looks like.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EXPERIMENTAL SETUP</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Protocol and Reproducibility Check</a:t>
            </a:r>
            <a:endParaRPr lang="en-US" sz="3000" dirty="0"/>
          </a:p>
        </p:txBody>
      </p:sp>
      <p:sp>
        <p:nvSpPr>
          <p:cNvPr id="7" name="Shape 4"/>
          <p:cNvSpPr/>
          <p:nvPr/>
        </p:nvSpPr>
        <p:spPr>
          <a:xfrm>
            <a:off x="548640" y="1920240"/>
            <a:ext cx="5120640" cy="2971800"/>
          </a:xfrm>
          <a:prstGeom prst="roundRect">
            <a:avLst>
              <a:gd name="adj" fmla="val 1846"/>
            </a:avLst>
          </a:prstGeom>
          <a:solidFill>
            <a:srgbClr val="F3F6F9"/>
          </a:solidFill>
          <a:ln w="9525">
            <a:solidFill>
              <a:srgbClr val="DCE3E8"/>
            </a:solidFill>
            <a:prstDash val="solid"/>
          </a:ln>
        </p:spPr>
      </p:sp>
      <p:sp>
        <p:nvSpPr>
          <p:cNvPr id="8" name="Text 5"/>
          <p:cNvSpPr txBox="1"/>
          <p:nvPr/>
        </p:nvSpPr>
        <p:spPr>
          <a:xfrm>
            <a:off x="822960" y="2103120"/>
            <a:ext cx="4663440" cy="365760"/>
          </a:xfrm>
          <a:prstGeom prst="rect">
            <a:avLst/>
          </a:prstGeom>
          <a:noFill/>
          <a:ln/>
        </p:spPr>
        <p:txBody>
          <a:bodyPr wrap="square" lIns="0" tIns="0" rIns="0" bIns="0" rtlCol="0" anchor="t"/>
          <a:lstStyle/>
          <a:p>
            <a:pPr marL="0" indent="0">
              <a:buNone/>
            </a:pPr>
            <a:r>
              <a:rPr lang="en-US" sz="1600" b="1" dirty="0">
                <a:solidFill>
                  <a:srgbClr val="21295C"/>
                </a:solidFill>
                <a:latin typeface="Calibri" pitchFamily="34" charset="0"/>
                <a:ea typeface="Calibri" pitchFamily="34" charset="-122"/>
                <a:cs typeface="Calibri" pitchFamily="34" charset="-120"/>
              </a:rPr>
              <a:t>Training protocol, identical for every phase</a:t>
            </a:r>
            <a:endParaRPr lang="en-US" sz="1600" dirty="0"/>
          </a:p>
        </p:txBody>
      </p:sp>
      <p:sp>
        <p:nvSpPr>
          <p:cNvPr id="9" name="Text 6"/>
          <p:cNvSpPr txBox="1"/>
          <p:nvPr/>
        </p:nvSpPr>
        <p:spPr>
          <a:xfrm>
            <a:off x="822960" y="2560320"/>
            <a:ext cx="4663440" cy="228600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1A2233"/>
                </a:solidFill>
                <a:latin typeface="Calibri" pitchFamily="34" charset="0"/>
                <a:ea typeface="Calibri" pitchFamily="34" charset="-122"/>
                <a:cs typeface="Calibri" pitchFamily="34" charset="-120"/>
              </a:rPr>
              <a:t>Split: 70 / 15 / 15, stratified by diagnosis, seed 42</a:t>
            </a:r>
            <a:endParaRPr lang="en-US" sz="1400" dirty="0"/>
          </a:p>
          <a:p>
            <a:pPr marL="177800" indent="-177800">
              <a:spcAft>
                <a:spcPts val="700"/>
              </a:spcAft>
              <a:buSzPct val="100000"/>
              <a:buChar char="•"/>
            </a:pPr>
            <a:r>
              <a:rPr lang="en-US" sz="1300" dirty="0">
                <a:solidFill>
                  <a:srgbClr val="1A2233"/>
                </a:solidFill>
                <a:latin typeface="Calibri" pitchFamily="34" charset="0"/>
                <a:ea typeface="Calibri" pitchFamily="34" charset="-122"/>
                <a:cs typeface="Calibri" pitchFamily="34" charset="-120"/>
              </a:rPr>
              <a:t>Training: 15 epochs, batch 4, Adam, learning rate 1e-4</a:t>
            </a:r>
            <a:endParaRPr lang="en-US" sz="1400" dirty="0"/>
          </a:p>
          <a:p>
            <a:pPr marL="177800" indent="-177800">
              <a:spcAft>
                <a:spcPts val="700"/>
              </a:spcAft>
              <a:buSzPct val="100000"/>
              <a:buChar char="•"/>
            </a:pPr>
            <a:r>
              <a:rPr lang="en-US" sz="1300" dirty="0">
                <a:solidFill>
                  <a:srgbClr val="1A2233"/>
                </a:solidFill>
                <a:latin typeface="Calibri" pitchFamily="34" charset="0"/>
                <a:ea typeface="Calibri" pitchFamily="34" charset="-122"/>
                <a:cs typeface="Calibri" pitchFamily="34" charset="-120"/>
              </a:rPr>
              <a:t>Mixed precision; best checkpoint chosen on validation Dice</a:t>
            </a:r>
            <a:endParaRPr lang="en-US" sz="1400" dirty="0"/>
          </a:p>
          <a:p>
            <a:pPr marL="177800" indent="-177800">
              <a:spcAft>
                <a:spcPts val="700"/>
              </a:spcAft>
              <a:buSzPct val="100000"/>
              <a:buChar char="•"/>
            </a:pPr>
            <a:r>
              <a:rPr lang="en-US" sz="1300" dirty="0">
                <a:solidFill>
                  <a:srgbClr val="1A2233"/>
                </a:solidFill>
                <a:latin typeface="Calibri" pitchFamily="34" charset="0"/>
                <a:ea typeface="Calibri" pitchFamily="34" charset="-122"/>
                <a:cs typeface="Calibri" pitchFamily="34" charset="-120"/>
              </a:rPr>
              <a:t>Input: 512 x 512, normalized to [-1, 1]</a:t>
            </a:r>
            <a:endParaRPr lang="en-US" sz="1400" dirty="0"/>
          </a:p>
          <a:p>
            <a:pPr marL="177800" indent="-177800">
              <a:spcAft>
                <a:spcPts val="700"/>
              </a:spcAft>
              <a:buSzPct val="100000"/>
              <a:buChar char="•"/>
            </a:pPr>
            <a:r>
              <a:rPr lang="en-US" sz="1300" dirty="0">
                <a:solidFill>
                  <a:srgbClr val="1A2233"/>
                </a:solidFill>
                <a:latin typeface="Calibri" pitchFamily="34" charset="0"/>
                <a:ea typeface="Calibri" pitchFamily="34" charset="-122"/>
                <a:cs typeface="Calibri" pitchFamily="34" charset="-120"/>
              </a:rPr>
              <a:t>Hardware: RTX 3050 Laptop GPU, 4 GB</a:t>
            </a:r>
            <a:endParaRPr lang="en-US" sz="1400" dirty="0"/>
          </a:p>
        </p:txBody>
      </p:sp>
      <p:sp>
        <p:nvSpPr>
          <p:cNvPr id="10" name="Shape 7"/>
          <p:cNvSpPr/>
          <p:nvPr/>
        </p:nvSpPr>
        <p:spPr>
          <a:xfrm>
            <a:off x="548640" y="5029200"/>
            <a:ext cx="5120640" cy="1143000"/>
          </a:xfrm>
          <a:prstGeom prst="roundRect">
            <a:avLst>
              <a:gd name="adj" fmla="val 4800"/>
            </a:avLst>
          </a:prstGeom>
          <a:solidFill>
            <a:srgbClr val="F3F6F9"/>
          </a:solidFill>
          <a:ln w="9525">
            <a:solidFill>
              <a:srgbClr val="DCE3E8"/>
            </a:solidFill>
            <a:prstDash val="solid"/>
          </a:ln>
        </p:spPr>
      </p:sp>
      <p:sp>
        <p:nvSpPr>
          <p:cNvPr id="11" name="Text 8"/>
          <p:cNvSpPr txBox="1"/>
          <p:nvPr/>
        </p:nvSpPr>
        <p:spPr>
          <a:xfrm>
            <a:off x="822960" y="5029200"/>
            <a:ext cx="4663440" cy="1143000"/>
          </a:xfrm>
          <a:prstGeom prst="rect">
            <a:avLst/>
          </a:prstGeom>
          <a:noFill/>
          <a:ln/>
        </p:spPr>
        <p:txBody>
          <a:bodyPr wrap="square" lIns="0" tIns="0" rIns="0" bIns="0" rtlCol="0" anchor="ctr"/>
          <a:lstStyle/>
          <a:p>
            <a:pPr marL="0" indent="0">
              <a:buNone/>
            </a:pPr>
            <a:r>
              <a:rPr lang="en-US" sz="1250" b="1" dirty="0">
                <a:solidFill>
                  <a:srgbClr val="21295C"/>
                </a:solidFill>
                <a:latin typeface="Calibri" pitchFamily="34" charset="0"/>
                <a:ea typeface="Calibri" pitchFamily="34" charset="-122"/>
                <a:cs typeface="Calibri" pitchFamily="34" charset="-120"/>
              </a:rPr>
              <a:t>Metrics.  </a:t>
            </a:r>
            <a:r>
              <a:rPr lang="en-US" sz="1250" dirty="0">
                <a:solidFill>
                  <a:srgbClr val="1A2233"/>
                </a:solidFill>
                <a:latin typeface="Calibri" pitchFamily="34" charset="0"/>
                <a:ea typeface="Calibri" pitchFamily="34" charset="-122"/>
                <a:cs typeface="Calibri" pitchFamily="34" charset="-120"/>
              </a:rPr>
              <a:t>AUC: ranking quality, 0.5 is chance.  Dice: overlap, 1 is perfect.  Violation rate: share of lesion probability outside the kidney, lower is better.</a:t>
            </a:r>
            <a:endParaRPr lang="en-US" sz="1250" dirty="0"/>
          </a:p>
        </p:txBody>
      </p:sp>
      <p:sp>
        <p:nvSpPr>
          <p:cNvPr id="12" name="Text 9"/>
          <p:cNvSpPr txBox="1"/>
          <p:nvPr/>
        </p:nvSpPr>
        <p:spPr>
          <a:xfrm>
            <a:off x="5989320" y="1920240"/>
            <a:ext cx="5650992" cy="292608"/>
          </a:xfrm>
          <a:prstGeom prst="rect">
            <a:avLst/>
          </a:prstGeom>
          <a:noFill/>
          <a:ln/>
        </p:spPr>
        <p:txBody>
          <a:bodyPr wrap="square" lIns="0" tIns="0" rIns="0" bIns="0" rtlCol="0" anchor="t"/>
          <a:lstStyle/>
          <a:p>
            <a:pPr marL="0" indent="0">
              <a:buNone/>
            </a:pPr>
            <a:r>
              <a:rPr lang="en-US" sz="1300" b="1" dirty="0">
                <a:solidFill>
                  <a:srgbClr val="1A2233"/>
                </a:solidFill>
                <a:latin typeface="Calibri" pitchFamily="34" charset="0"/>
                <a:ea typeface="Calibri" pitchFamily="34" charset="-122"/>
                <a:cs typeface="Calibri" pitchFamily="34" charset="-120"/>
              </a:rPr>
              <a:t>Earlier checkpoints re-evaluated with the local implementation</a:t>
            </a:r>
            <a:endParaRPr lang="en-US" sz="13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989320" y="2286000"/>
          <a:ext cx="5650992" cy="2523744"/>
        </p:xfrm>
        <a:graphic>
          <a:graphicData uri="http://schemas.openxmlformats.org/drawingml/2006/table">
            <a:tbl>
              <a:tblPr/>
              <a:tblGrid>
                <a:gridCol w="1234440">
                  <a:extLst>
                    <a:ext uri="{9D8B030D-6E8A-4147-A177-3AD203B41FA5}">
                      <a16:colId xmlns:a16="http://schemas.microsoft.com/office/drawing/2014/main" val="20000"/>
                    </a:ext>
                  </a:extLst>
                </a:gridCol>
                <a:gridCol w="1947672">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tblGrid>
              <a:tr h="420624">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Checkpoint</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21295C"/>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Metric</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21295C"/>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Original</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21295C"/>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Reproduced</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21295C"/>
                    </a:solidFill>
                  </a:tcPr>
                </a:tc>
                <a:extLst>
                  <a:ext uri="{0D108BD9-81ED-4DB2-BD59-A6C34878D82A}">
                    <a16:rowId xmlns:a16="http://schemas.microsoft.com/office/drawing/2014/main" val="10000"/>
                  </a:ext>
                </a:extLst>
              </a:tr>
              <a:tr h="420624">
                <a:tc>
                  <a:txBody>
                    <a:bodyPr/>
                    <a:lstStyle/>
                    <a:p>
                      <a:pPr marL="0" indent="0">
                        <a:buNone/>
                      </a:pPr>
                      <a:r>
                        <a:rPr lang="en-US" sz="1250" b="1" dirty="0">
                          <a:solidFill>
                            <a:srgbClr val="1A2233"/>
                          </a:solidFill>
                          <a:latin typeface="Calibri" pitchFamily="34" charset="0"/>
                          <a:ea typeface="Calibri" pitchFamily="34" charset="-122"/>
                          <a:cs typeface="Calibri" pitchFamily="34" charset="-120"/>
                        </a:rPr>
                        <a:t>Phase 2</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Diagnosis AUC</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0.9003</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0.9001</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extLst>
                  <a:ext uri="{0D108BD9-81ED-4DB2-BD59-A6C34878D82A}">
                    <a16:rowId xmlns:a16="http://schemas.microsoft.com/office/drawing/2014/main" val="10001"/>
                  </a:ext>
                </a:extLst>
              </a:tr>
              <a:tr h="420624">
                <a:tc>
                  <a:txBody>
                    <a:bodyPr/>
                    <a:lstStyle/>
                    <a:p>
                      <a:pPr marL="0" indent="0">
                        <a:buNone/>
                      </a:pPr>
                      <a:r>
                        <a:rPr lang="en-US" sz="1250" b="1" dirty="0">
                          <a:solidFill>
                            <a:srgbClr val="1A2233"/>
                          </a:solidFill>
                          <a:latin typeface="Calibri" pitchFamily="34" charset="0"/>
                          <a:ea typeface="Calibri" pitchFamily="34" charset="-122"/>
                          <a:cs typeface="Calibri" pitchFamily="34" charset="-120"/>
                        </a:rPr>
                        <a:t>Phase 2</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Kidney Dice</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0.8735</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0.8733</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extLst>
                  <a:ext uri="{0D108BD9-81ED-4DB2-BD59-A6C34878D82A}">
                    <a16:rowId xmlns:a16="http://schemas.microsoft.com/office/drawing/2014/main" val="10002"/>
                  </a:ext>
                </a:extLst>
              </a:tr>
              <a:tr h="420624">
                <a:tc>
                  <a:txBody>
                    <a:bodyPr/>
                    <a:lstStyle/>
                    <a:p>
                      <a:pPr marL="0" indent="0">
                        <a:buNone/>
                      </a:pPr>
                      <a:r>
                        <a:rPr lang="en-US" sz="1250" b="1" dirty="0">
                          <a:solidFill>
                            <a:srgbClr val="1A2233"/>
                          </a:solidFill>
                          <a:latin typeface="Calibri" pitchFamily="34" charset="0"/>
                          <a:ea typeface="Calibri" pitchFamily="34" charset="-122"/>
                          <a:cs typeface="Calibri" pitchFamily="34" charset="-120"/>
                        </a:rPr>
                        <a:t>Phase 3</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Diagnosis AUC</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0.8712</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0.8707</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extLst>
                  <a:ext uri="{0D108BD9-81ED-4DB2-BD59-A6C34878D82A}">
                    <a16:rowId xmlns:a16="http://schemas.microsoft.com/office/drawing/2014/main" val="10003"/>
                  </a:ext>
                </a:extLst>
              </a:tr>
              <a:tr h="420624">
                <a:tc>
                  <a:txBody>
                    <a:bodyPr/>
                    <a:lstStyle/>
                    <a:p>
                      <a:pPr marL="0" indent="0">
                        <a:buNone/>
                      </a:pPr>
                      <a:r>
                        <a:rPr lang="en-US" sz="1250" b="1" dirty="0">
                          <a:solidFill>
                            <a:srgbClr val="1A2233"/>
                          </a:solidFill>
                          <a:latin typeface="Calibri" pitchFamily="34" charset="0"/>
                          <a:ea typeface="Calibri" pitchFamily="34" charset="-122"/>
                          <a:cs typeface="Calibri" pitchFamily="34" charset="-120"/>
                        </a:rPr>
                        <a:t>Phase 4</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Local path. AUC</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0.7724</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0.7723</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extLst>
                  <a:ext uri="{0D108BD9-81ED-4DB2-BD59-A6C34878D82A}">
                    <a16:rowId xmlns:a16="http://schemas.microsoft.com/office/drawing/2014/main" val="10004"/>
                  </a:ext>
                </a:extLst>
              </a:tr>
              <a:tr h="420624">
                <a:tc>
                  <a:txBody>
                    <a:bodyPr/>
                    <a:lstStyle/>
                    <a:p>
                      <a:pPr marL="0" indent="0">
                        <a:buNone/>
                      </a:pPr>
                      <a:r>
                        <a:rPr lang="en-US" sz="1250" b="1" dirty="0">
                          <a:solidFill>
                            <a:srgbClr val="1A2233"/>
                          </a:solidFill>
                          <a:latin typeface="Calibri" pitchFamily="34" charset="0"/>
                          <a:ea typeface="Calibri" pitchFamily="34" charset="-122"/>
                          <a:cs typeface="Calibri" pitchFamily="34" charset="-120"/>
                        </a:rPr>
                        <a:t>Phase 5</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Violation rate</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0.3790</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0.3786</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4" name="Shape 10"/>
          <p:cNvSpPr/>
          <p:nvPr/>
        </p:nvSpPr>
        <p:spPr>
          <a:xfrm>
            <a:off x="5989320" y="5029200"/>
            <a:ext cx="5650992" cy="1143000"/>
          </a:xfrm>
          <a:prstGeom prst="roundRect">
            <a:avLst>
              <a:gd name="adj" fmla="val 4800"/>
            </a:avLst>
          </a:prstGeom>
          <a:solidFill>
            <a:srgbClr val="E6F2EC"/>
          </a:solidFill>
          <a:ln w="9525">
            <a:solidFill>
              <a:srgbClr val="E6F2EC"/>
            </a:solidFill>
            <a:prstDash val="solid"/>
          </a:ln>
        </p:spPr>
      </p:sp>
      <p:sp>
        <p:nvSpPr>
          <p:cNvPr id="6" name="Text 11"/>
          <p:cNvSpPr txBox="1"/>
          <p:nvPr/>
        </p:nvSpPr>
        <p:spPr>
          <a:xfrm>
            <a:off x="6263640" y="5029200"/>
            <a:ext cx="5120640" cy="1143000"/>
          </a:xfrm>
          <a:prstGeom prst="rect">
            <a:avLst/>
          </a:prstGeom>
          <a:noFill/>
          <a:ln/>
        </p:spPr>
        <p:txBody>
          <a:bodyPr wrap="square" lIns="0" tIns="0" rIns="0" bIns="0" rtlCol="0" anchor="ctr"/>
          <a:lstStyle/>
          <a:p>
            <a:pPr marL="0" indent="0">
              <a:buNone/>
            </a:pPr>
            <a:r>
              <a:rPr lang="en-US" sz="1800" b="1" dirty="0">
                <a:solidFill>
                  <a:srgbClr val="2E7D5B"/>
                </a:solidFill>
                <a:latin typeface="Calibri" pitchFamily="34" charset="0"/>
                <a:ea typeface="Calibri" pitchFamily="34" charset="-122"/>
                <a:cs typeface="Calibri" pitchFamily="34" charset="-120"/>
              </a:rPr>
              <a:t>Largest difference: 0.0024</a:t>
            </a:r>
            <a:endParaRPr lang="en-US" sz="1400" dirty="0"/>
          </a:p>
          <a:p>
            <a:pPr marL="0" indent="0">
              <a:buNone/>
            </a:pPr>
            <a:r>
              <a:rPr lang="en-US" sz="1250" dirty="0">
                <a:solidFill>
                  <a:srgbClr val="1A2233"/>
                </a:solidFill>
                <a:latin typeface="Calibri" pitchFamily="34" charset="0"/>
                <a:ea typeface="Calibri" pitchFamily="34" charset="-122"/>
                <a:cs typeface="Calibri" pitchFamily="34" charset="-120"/>
              </a:rPr>
              <a:t>The reimplementation matches the original, so earlier and new results are comparable.</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RESULTS  ·  EVALUATION</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The Standard Lesion Dice Was Hiding Real Performance</a:t>
            </a:r>
            <a:endParaRPr lang="en-US" sz="3000" dirty="0"/>
          </a:p>
        </p:txBody>
      </p:sp>
      <p:sp>
        <p:nvSpPr>
          <p:cNvPr id="7" name="Text 4"/>
          <p:cNvSpPr txBox="1"/>
          <p:nvPr/>
        </p:nvSpPr>
        <p:spPr>
          <a:xfrm>
            <a:off x="548640" y="1874520"/>
            <a:ext cx="6126480" cy="292608"/>
          </a:xfrm>
          <a:prstGeom prst="rect">
            <a:avLst/>
          </a:prstGeom>
          <a:noFill/>
          <a:ln/>
        </p:spPr>
        <p:txBody>
          <a:bodyPr wrap="square" lIns="0" tIns="0" rIns="0" bIns="0" rtlCol="0" anchor="t"/>
          <a:lstStyle/>
          <a:p>
            <a:pPr marL="0" indent="0">
              <a:buNone/>
            </a:pPr>
            <a:r>
              <a:rPr lang="en-US" sz="1300" b="1" dirty="0">
                <a:solidFill>
                  <a:srgbClr val="1A2233"/>
                </a:solidFill>
                <a:latin typeface="Calibri" pitchFamily="34" charset="0"/>
                <a:ea typeface="Calibri" pitchFamily="34" charset="-122"/>
                <a:cs typeface="Calibri" pitchFamily="34" charset="-120"/>
              </a:rPr>
              <a:t>Lesion Dice on the test set</a:t>
            </a:r>
            <a:endParaRPr lang="en-US" sz="1300" dirty="0"/>
          </a:p>
        </p:txBody>
      </p:sp>
      <p:graphicFrame>
        <p:nvGraphicFramePr>
          <p:cNvPr id="8" name="Chart 0"/>
          <p:cNvGraphicFramePr/>
          <p:nvPr/>
        </p:nvGraphicFramePr>
        <p:xfrm>
          <a:off x="548640" y="2194560"/>
          <a:ext cx="6126480" cy="397764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5"/>
          <p:cNvSpPr/>
          <p:nvPr/>
        </p:nvSpPr>
        <p:spPr>
          <a:xfrm>
            <a:off x="6995160" y="1920240"/>
            <a:ext cx="4645152" cy="1188720"/>
          </a:xfrm>
          <a:prstGeom prst="roundRect">
            <a:avLst>
              <a:gd name="adj" fmla="val 4615"/>
            </a:avLst>
          </a:prstGeom>
          <a:solidFill>
            <a:srgbClr val="F3F6F9"/>
          </a:solidFill>
          <a:ln w="9525">
            <a:solidFill>
              <a:srgbClr val="DCE3E8"/>
            </a:solidFill>
            <a:prstDash val="solid"/>
          </a:ln>
        </p:spPr>
      </p:sp>
      <p:sp>
        <p:nvSpPr>
          <p:cNvPr id="10" name="Text 6"/>
          <p:cNvSpPr txBox="1"/>
          <p:nvPr/>
        </p:nvSpPr>
        <p:spPr>
          <a:xfrm>
            <a:off x="7269480" y="1920240"/>
            <a:ext cx="4206240" cy="566928"/>
          </a:xfrm>
          <a:prstGeom prst="rect">
            <a:avLst/>
          </a:prstGeom>
          <a:noFill/>
          <a:ln/>
        </p:spPr>
        <p:txBody>
          <a:bodyPr wrap="square" lIns="0" tIns="0" rIns="0" bIns="0" rtlCol="0" anchor="b"/>
          <a:lstStyle/>
          <a:p>
            <a:pPr marL="0" indent="0">
              <a:buNone/>
            </a:pPr>
            <a:r>
              <a:rPr lang="en-US" sz="2600" b="1" dirty="0">
                <a:solidFill>
                  <a:srgbClr val="21295C"/>
                </a:solidFill>
                <a:latin typeface="Cambria" pitchFamily="34" charset="0"/>
                <a:ea typeface="Cambria" pitchFamily="34" charset="-122"/>
                <a:cs typeface="Cambria" pitchFamily="34" charset="-120"/>
              </a:rPr>
              <a:t>0.319 vs 0.344</a:t>
            </a:r>
            <a:endParaRPr lang="en-US" sz="2600" dirty="0"/>
          </a:p>
        </p:txBody>
      </p:sp>
      <p:sp>
        <p:nvSpPr>
          <p:cNvPr id="11" name="Text 7"/>
          <p:cNvSpPr txBox="1"/>
          <p:nvPr/>
        </p:nvSpPr>
        <p:spPr>
          <a:xfrm>
            <a:off x="7269480" y="2523744"/>
            <a:ext cx="4206240" cy="502920"/>
          </a:xfrm>
          <a:prstGeom prst="rect">
            <a:avLst/>
          </a:prstGeom>
          <a:noFill/>
          <a:ln/>
        </p:spPr>
        <p:txBody>
          <a:bodyPr wrap="square" lIns="0" tIns="0" rIns="0" bIns="0" rtlCol="0" anchor="t"/>
          <a:lstStyle/>
          <a:p>
            <a:pPr marL="0" indent="0">
              <a:buNone/>
            </a:pPr>
            <a:r>
              <a:rPr lang="en-US" sz="1200" dirty="0">
                <a:solidFill>
                  <a:srgbClr val="5B6B79"/>
                </a:solidFill>
                <a:latin typeface="Calibri" pitchFamily="34" charset="0"/>
                <a:ea typeface="Calibri" pitchFamily="34" charset="-122"/>
                <a:cs typeface="Calibri" pitchFamily="34" charset="-120"/>
              </a:rPr>
              <a:t>all images: an empty prediction nearly matches the model</a:t>
            </a:r>
            <a:endParaRPr lang="en-US" sz="1200" dirty="0"/>
          </a:p>
        </p:txBody>
      </p:sp>
      <p:sp>
        <p:nvSpPr>
          <p:cNvPr id="12" name="Shape 8"/>
          <p:cNvSpPr/>
          <p:nvPr/>
        </p:nvSpPr>
        <p:spPr>
          <a:xfrm>
            <a:off x="6995160" y="3246120"/>
            <a:ext cx="4645152" cy="1188720"/>
          </a:xfrm>
          <a:prstGeom prst="roundRect">
            <a:avLst>
              <a:gd name="adj" fmla="val 4615"/>
            </a:avLst>
          </a:prstGeom>
          <a:solidFill>
            <a:srgbClr val="F3F6F9"/>
          </a:solidFill>
          <a:ln w="9525">
            <a:solidFill>
              <a:srgbClr val="DCE3E8"/>
            </a:solidFill>
            <a:prstDash val="solid"/>
          </a:ln>
        </p:spPr>
      </p:sp>
      <p:sp>
        <p:nvSpPr>
          <p:cNvPr id="13" name="Text 9"/>
          <p:cNvSpPr txBox="1"/>
          <p:nvPr/>
        </p:nvSpPr>
        <p:spPr>
          <a:xfrm>
            <a:off x="7269480" y="3246120"/>
            <a:ext cx="4206240" cy="566928"/>
          </a:xfrm>
          <a:prstGeom prst="rect">
            <a:avLst/>
          </a:prstGeom>
          <a:noFill/>
          <a:ln/>
        </p:spPr>
        <p:txBody>
          <a:bodyPr wrap="square" lIns="0" tIns="0" rIns="0" bIns="0" rtlCol="0" anchor="b"/>
          <a:lstStyle/>
          <a:p>
            <a:pPr marL="0" indent="0">
              <a:buNone/>
            </a:pPr>
            <a:r>
              <a:rPr lang="en-US" sz="2600" b="1" dirty="0">
                <a:solidFill>
                  <a:srgbClr val="21295C"/>
                </a:solidFill>
                <a:latin typeface="Cambria" pitchFamily="34" charset="0"/>
                <a:ea typeface="Cambria" pitchFamily="34" charset="-122"/>
                <a:cs typeface="Cambria" pitchFamily="34" charset="-120"/>
              </a:rPr>
              <a:t>0.000 vs 0.506</a:t>
            </a:r>
            <a:endParaRPr lang="en-US" sz="2600" dirty="0"/>
          </a:p>
        </p:txBody>
      </p:sp>
      <p:sp>
        <p:nvSpPr>
          <p:cNvPr id="14" name="Text 10"/>
          <p:cNvSpPr txBox="1"/>
          <p:nvPr/>
        </p:nvSpPr>
        <p:spPr>
          <a:xfrm>
            <a:off x="7269480" y="3849624"/>
            <a:ext cx="4206240" cy="502920"/>
          </a:xfrm>
          <a:prstGeom prst="rect">
            <a:avLst/>
          </a:prstGeom>
          <a:noFill/>
          <a:ln/>
        </p:spPr>
        <p:txBody>
          <a:bodyPr wrap="square" lIns="0" tIns="0" rIns="0" bIns="0" rtlCol="0" anchor="t"/>
          <a:lstStyle/>
          <a:p>
            <a:pPr marL="0" indent="0">
              <a:buNone/>
            </a:pPr>
            <a:r>
              <a:rPr lang="en-US" sz="1200" dirty="0">
                <a:solidFill>
                  <a:srgbClr val="5B6B79"/>
                </a:solidFill>
                <a:latin typeface="Calibri" pitchFamily="34" charset="0"/>
                <a:ea typeface="Calibri" pitchFamily="34" charset="-122"/>
                <a:cs typeface="Calibri" pitchFamily="34" charset="-120"/>
              </a:rPr>
              <a:t>lesion-bearing images: the gap is unmistakable</a:t>
            </a:r>
            <a:endParaRPr lang="en-US" sz="1200" dirty="0"/>
          </a:p>
        </p:txBody>
      </p:sp>
      <p:sp>
        <p:nvSpPr>
          <p:cNvPr id="15" name="Text 11"/>
          <p:cNvSpPr txBox="1"/>
          <p:nvPr/>
        </p:nvSpPr>
        <p:spPr>
          <a:xfrm>
            <a:off x="6995160" y="4663440"/>
            <a:ext cx="4645152" cy="155448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A2233"/>
                </a:solidFill>
                <a:latin typeface="Calibri" pitchFamily="34" charset="0"/>
                <a:ea typeface="Calibri" pitchFamily="34" charset="-122"/>
                <a:cs typeface="Calibri" pitchFamily="34" charset="-120"/>
              </a:rPr>
              <a:t>31.9% of test images contain no lesion; an empty prediction scores about 1 on each of them</a:t>
            </a:r>
            <a:endParaRPr lang="en-US" sz="1400" dirty="0"/>
          </a:p>
          <a:p>
            <a:pPr marL="177800" indent="-177800">
              <a:spcAft>
                <a:spcPts val="800"/>
              </a:spcAft>
              <a:buSzPct val="100000"/>
              <a:buChar char="•"/>
            </a:pPr>
            <a:r>
              <a:rPr lang="en-US" sz="1300" dirty="0">
                <a:solidFill>
                  <a:srgbClr val="1A2233"/>
                </a:solidFill>
                <a:latin typeface="Calibri" pitchFamily="34" charset="0"/>
                <a:ea typeface="Calibri" pitchFamily="34" charset="-122"/>
                <a:cs typeface="Calibri" pitchFamily="34" charset="-120"/>
              </a:rPr>
              <a:t>We now report both versions of lesion Dice</a:t>
            </a:r>
            <a:endParaRPr lang="en-US" sz="1400" dirty="0"/>
          </a:p>
          <a:p>
            <a:pPr marL="177800" indent="-177800">
              <a:spcAft>
                <a:spcPts val="800"/>
              </a:spcAft>
              <a:buSzPct val="100000"/>
              <a:buChar char="•"/>
            </a:pPr>
            <a:r>
              <a:rPr lang="en-US" sz="1300" dirty="0">
                <a:solidFill>
                  <a:srgbClr val="1A2233"/>
                </a:solidFill>
                <a:latin typeface="Calibri" pitchFamily="34" charset="0"/>
                <a:ea typeface="Calibri" pitchFamily="34" charset="-122"/>
                <a:cs typeface="Calibri" pitchFamily="34" charset="-120"/>
              </a:rPr>
              <a:t>The optimizer uses the lesion-bearing version, so it cannot be rewarded for predicting nothing</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RESULTS  ·  PHASES 4 AND 5</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The Anatomical Constraint Works Only in Ratio Form</a:t>
            </a:r>
            <a:endParaRPr lang="en-US" sz="3000" dirty="0"/>
          </a:p>
        </p:txBody>
      </p:sp>
      <p:sp>
        <p:nvSpPr>
          <p:cNvPr id="7" name="Text 4"/>
          <p:cNvSpPr txBox="1"/>
          <p:nvPr/>
        </p:nvSpPr>
        <p:spPr>
          <a:xfrm>
            <a:off x="548640" y="1874520"/>
            <a:ext cx="5303520" cy="292608"/>
          </a:xfrm>
          <a:prstGeom prst="rect">
            <a:avLst/>
          </a:prstGeom>
          <a:noFill/>
          <a:ln/>
        </p:spPr>
        <p:txBody>
          <a:bodyPr wrap="square" lIns="0" tIns="0" rIns="0" bIns="0" rtlCol="0" anchor="t"/>
          <a:lstStyle/>
          <a:p>
            <a:pPr marL="0" indent="0">
              <a:buNone/>
            </a:pPr>
            <a:r>
              <a:rPr lang="en-US" sz="1300" b="1" dirty="0">
                <a:solidFill>
                  <a:srgbClr val="1A2233"/>
                </a:solidFill>
                <a:latin typeface="Calibri" pitchFamily="34" charset="0"/>
                <a:ea typeface="Calibri" pitchFamily="34" charset="-122"/>
                <a:cs typeface="Calibri" pitchFamily="34" charset="-120"/>
              </a:rPr>
              <a:t>Violation rate on the test set (lower is better)</a:t>
            </a:r>
            <a:endParaRPr lang="en-US" sz="1300" dirty="0"/>
          </a:p>
        </p:txBody>
      </p:sp>
      <p:graphicFrame>
        <p:nvGraphicFramePr>
          <p:cNvPr id="8" name="Chart 0"/>
          <p:cNvGraphicFramePr/>
          <p:nvPr/>
        </p:nvGraphicFramePr>
        <p:xfrm>
          <a:off x="548640" y="2194560"/>
          <a:ext cx="5303520" cy="397764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5"/>
          <p:cNvSpPr/>
          <p:nvPr/>
        </p:nvSpPr>
        <p:spPr>
          <a:xfrm>
            <a:off x="6172200" y="1920240"/>
            <a:ext cx="5468112" cy="1234440"/>
          </a:xfrm>
          <a:prstGeom prst="roundRect">
            <a:avLst>
              <a:gd name="adj" fmla="val 4444"/>
            </a:avLst>
          </a:prstGeom>
          <a:solidFill>
            <a:srgbClr val="E6F2EC"/>
          </a:solidFill>
          <a:ln w="9525">
            <a:solidFill>
              <a:srgbClr val="E6F2EC"/>
            </a:solidFill>
            <a:prstDash val="solid"/>
          </a:ln>
        </p:spPr>
      </p:sp>
      <p:sp>
        <p:nvSpPr>
          <p:cNvPr id="10" name="Text 6"/>
          <p:cNvSpPr txBox="1"/>
          <p:nvPr/>
        </p:nvSpPr>
        <p:spPr>
          <a:xfrm>
            <a:off x="6446520" y="1920240"/>
            <a:ext cx="5029200" cy="1234440"/>
          </a:xfrm>
          <a:prstGeom prst="rect">
            <a:avLst/>
          </a:prstGeom>
          <a:noFill/>
          <a:ln/>
        </p:spPr>
        <p:txBody>
          <a:bodyPr wrap="square" lIns="0" tIns="0" rIns="0" bIns="0" rtlCol="0" anchor="ctr"/>
          <a:lstStyle/>
          <a:p>
            <a:pPr marL="0" indent="0">
              <a:buNone/>
            </a:pPr>
            <a:r>
              <a:rPr lang="en-US" sz="3400" b="1" dirty="0">
                <a:solidFill>
                  <a:srgbClr val="2E7D5B"/>
                </a:solidFill>
                <a:latin typeface="Cambria" pitchFamily="34" charset="0"/>
                <a:ea typeface="Cambria" pitchFamily="34" charset="-122"/>
                <a:cs typeface="Cambria" pitchFamily="34" charset="-120"/>
              </a:rPr>
              <a:t>-77%  </a:t>
            </a:r>
            <a:r>
              <a:rPr lang="en-US" sz="1350" dirty="0">
                <a:solidFill>
                  <a:srgbClr val="1A2233"/>
                </a:solidFill>
                <a:latin typeface="Calibri" pitchFamily="34" charset="0"/>
                <a:ea typeface="Calibri" pitchFamily="34" charset="-122"/>
                <a:cs typeface="Calibri" pitchFamily="34" charset="-120"/>
              </a:rPr>
              <a:t>out-of-kidney lesion probability, Phase 4 to Phase 5b</a:t>
            </a:r>
            <a:endParaRPr lang="en-US" sz="1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172200" y="3337560"/>
          <a:ext cx="5468112" cy="1920240"/>
        </p:xfrm>
        <a:graphic>
          <a:graphicData uri="http://schemas.openxmlformats.org/drawingml/2006/table">
            <a:tbl>
              <a:tblPr/>
              <a:tblGrid>
                <a:gridCol w="2267712">
                  <a:extLst>
                    <a:ext uri="{9D8B030D-6E8A-4147-A177-3AD203B41FA5}">
                      <a16:colId xmlns:a16="http://schemas.microsoft.com/office/drawing/2014/main" val="20000"/>
                    </a:ext>
                  </a:extLst>
                </a:gridCol>
                <a:gridCol w="1069848">
                  <a:extLst>
                    <a:ext uri="{9D8B030D-6E8A-4147-A177-3AD203B41FA5}">
                      <a16:colId xmlns:a16="http://schemas.microsoft.com/office/drawing/2014/main" val="20001"/>
                    </a:ext>
                  </a:extLst>
                </a:gridCol>
                <a:gridCol w="1069848">
                  <a:extLst>
                    <a:ext uri="{9D8B030D-6E8A-4147-A177-3AD203B41FA5}">
                      <a16:colId xmlns:a16="http://schemas.microsoft.com/office/drawing/2014/main" val="20002"/>
                    </a:ext>
                  </a:extLst>
                </a:gridCol>
                <a:gridCol w="1060704">
                  <a:extLst>
                    <a:ext uri="{9D8B030D-6E8A-4147-A177-3AD203B41FA5}">
                      <a16:colId xmlns:a16="http://schemas.microsoft.com/office/drawing/2014/main" val="20003"/>
                    </a:ext>
                  </a:extLst>
                </a:gridCol>
              </a:tblGrid>
              <a:tr h="38404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Test metric</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21295C"/>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Phase 4</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21295C"/>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Phase 5</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21295C"/>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Phase 5b</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21295C"/>
                    </a:solidFill>
                  </a:tcPr>
                </a:tc>
                <a:extLst>
                  <a:ext uri="{0D108BD9-81ED-4DB2-BD59-A6C34878D82A}">
                    <a16:rowId xmlns:a16="http://schemas.microsoft.com/office/drawing/2014/main" val="10000"/>
                  </a:ext>
                </a:extLst>
              </a:tr>
              <a:tr h="384048">
                <a:tc>
                  <a:txBody>
                    <a:bodyPr/>
                    <a:lstStyle/>
                    <a:p>
                      <a:pPr marL="0" indent="0">
                        <a:buNone/>
                      </a:pPr>
                      <a:r>
                        <a:rPr lang="en-US" sz="1250" b="1" dirty="0">
                          <a:solidFill>
                            <a:srgbClr val="1A2233"/>
                          </a:solidFill>
                          <a:latin typeface="Calibri" pitchFamily="34" charset="0"/>
                          <a:ea typeface="Calibri" pitchFamily="34" charset="-122"/>
                          <a:cs typeface="Calibri" pitchFamily="34" charset="-120"/>
                        </a:rPr>
                        <a:t>Violation rate</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0.2331</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0.2817</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b="1" dirty="0">
                          <a:solidFill>
                            <a:srgbClr val="2E7D5B"/>
                          </a:solidFill>
                          <a:latin typeface="Calibri" pitchFamily="34" charset="0"/>
                          <a:ea typeface="Calibri" pitchFamily="34" charset="-122"/>
                          <a:cs typeface="Calibri" pitchFamily="34" charset="-120"/>
                        </a:rPr>
                        <a:t>0.0543</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250" b="1" dirty="0">
                          <a:solidFill>
                            <a:srgbClr val="1A2233"/>
                          </a:solidFill>
                          <a:latin typeface="Calibri" pitchFamily="34" charset="0"/>
                          <a:ea typeface="Calibri" pitchFamily="34" charset="-122"/>
                          <a:cs typeface="Calibri" pitchFamily="34" charset="-120"/>
                        </a:rPr>
                        <a:t>Diagnosis AUC</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0.8995</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0.8791</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b="1" dirty="0">
                          <a:solidFill>
                            <a:srgbClr val="2E7D5B"/>
                          </a:solidFill>
                          <a:latin typeface="Calibri" pitchFamily="34" charset="0"/>
                          <a:ea typeface="Calibri" pitchFamily="34" charset="-122"/>
                          <a:cs typeface="Calibri" pitchFamily="34" charset="-120"/>
                        </a:rPr>
                        <a:t>0.9014</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250" b="1" dirty="0">
                          <a:solidFill>
                            <a:srgbClr val="1A2233"/>
                          </a:solidFill>
                          <a:latin typeface="Calibri" pitchFamily="34" charset="0"/>
                          <a:ea typeface="Calibri" pitchFamily="34" charset="-122"/>
                          <a:cs typeface="Calibri" pitchFamily="34" charset="-120"/>
                        </a:rPr>
                        <a:t>Kidney Dice</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0.8928</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0.8838</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b="1" dirty="0">
                          <a:solidFill>
                            <a:srgbClr val="2E7D5B"/>
                          </a:solidFill>
                          <a:latin typeface="Calibri" pitchFamily="34" charset="0"/>
                          <a:ea typeface="Calibri" pitchFamily="34" charset="-122"/>
                          <a:cs typeface="Calibri" pitchFamily="34" charset="-120"/>
                        </a:rPr>
                        <a:t>0.8954</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250" b="1" dirty="0">
                          <a:solidFill>
                            <a:srgbClr val="1A2233"/>
                          </a:solidFill>
                          <a:latin typeface="Calibri" pitchFamily="34" charset="0"/>
                          <a:ea typeface="Calibri" pitchFamily="34" charset="-122"/>
                          <a:cs typeface="Calibri" pitchFamily="34" charset="-120"/>
                        </a:rPr>
                        <a:t>Lesion Dice (lesion images)</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b="1" dirty="0">
                          <a:solidFill>
                            <a:srgbClr val="2E7D5B"/>
                          </a:solidFill>
                          <a:latin typeface="Calibri" pitchFamily="34" charset="0"/>
                          <a:ea typeface="Calibri" pitchFamily="34" charset="-122"/>
                          <a:cs typeface="Calibri" pitchFamily="34" charset="-120"/>
                        </a:rPr>
                        <a:t>0.5056</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0.4868</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0.4881</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2" name="Text 7"/>
          <p:cNvSpPr txBox="1"/>
          <p:nvPr/>
        </p:nvSpPr>
        <p:spPr>
          <a:xfrm>
            <a:off x="6172200" y="5440680"/>
            <a:ext cx="5468112" cy="731520"/>
          </a:xfrm>
          <a:prstGeom prst="rect">
            <a:avLst/>
          </a:prstGeom>
          <a:noFill/>
          <a:ln/>
        </p:spPr>
        <p:txBody>
          <a:bodyPr wrap="square" lIns="0" tIns="0" rIns="0" bIns="0" rtlCol="0" anchor="t"/>
          <a:lstStyle/>
          <a:p>
            <a:pPr marL="0" indent="0">
              <a:buNone/>
            </a:pPr>
            <a:r>
              <a:rPr lang="en-US" sz="1250" i="1" dirty="0">
                <a:solidFill>
                  <a:srgbClr val="5B6B79"/>
                </a:solidFill>
                <a:latin typeface="Calibri" pitchFamily="34" charset="0"/>
                <a:ea typeface="Calibri" pitchFamily="34" charset="-122"/>
                <a:cs typeface="Calibri" pitchFamily="34" charset="-120"/>
              </a:rPr>
              <a:t>The absolute form also raised violations on the original checkpoints (0.2572 to 0.3786), so the effect is reproducible.</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RESULTS  ·  PHASES 4 AND 5</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How the Constraint Acts During Training</a:t>
            </a:r>
            <a:endParaRPr lang="en-US" sz="3000" dirty="0"/>
          </a:p>
        </p:txBody>
      </p:sp>
      <p:sp>
        <p:nvSpPr>
          <p:cNvPr id="7" name="Text 4"/>
          <p:cNvSpPr txBox="1"/>
          <p:nvPr/>
        </p:nvSpPr>
        <p:spPr>
          <a:xfrm>
            <a:off x="548640" y="1874520"/>
            <a:ext cx="5440680" cy="292608"/>
          </a:xfrm>
          <a:prstGeom prst="rect">
            <a:avLst/>
          </a:prstGeom>
          <a:noFill/>
          <a:ln/>
        </p:spPr>
        <p:txBody>
          <a:bodyPr wrap="square" lIns="0" tIns="0" rIns="0" bIns="0" rtlCol="0" anchor="t"/>
          <a:lstStyle/>
          <a:p>
            <a:pPr marL="0" indent="0">
              <a:buNone/>
            </a:pPr>
            <a:r>
              <a:rPr lang="en-US" sz="1300" b="1" dirty="0">
                <a:solidFill>
                  <a:srgbClr val="1A2233"/>
                </a:solidFill>
                <a:latin typeface="Calibri" pitchFamily="34" charset="0"/>
                <a:ea typeface="Calibri" pitchFamily="34" charset="-122"/>
                <a:cs typeface="Calibri" pitchFamily="34" charset="-120"/>
              </a:rPr>
              <a:t>Validation violation rate by epoch (lower is better)</a:t>
            </a:r>
            <a:endParaRPr lang="en-US" sz="1300" dirty="0"/>
          </a:p>
        </p:txBody>
      </p:sp>
      <p:graphicFrame>
        <p:nvGraphicFramePr>
          <p:cNvPr id="8" name="Chart 0"/>
          <p:cNvGraphicFramePr/>
          <p:nvPr/>
        </p:nvGraphicFramePr>
        <p:xfrm>
          <a:off x="548640" y="2194560"/>
          <a:ext cx="544068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5"/>
          <p:cNvSpPr txBox="1"/>
          <p:nvPr/>
        </p:nvSpPr>
        <p:spPr>
          <a:xfrm>
            <a:off x="6199632" y="1874520"/>
            <a:ext cx="5440680" cy="292608"/>
          </a:xfrm>
          <a:prstGeom prst="rect">
            <a:avLst/>
          </a:prstGeom>
          <a:noFill/>
          <a:ln/>
        </p:spPr>
        <p:txBody>
          <a:bodyPr wrap="square" lIns="0" tIns="0" rIns="0" bIns="0" rtlCol="0" anchor="t"/>
          <a:lstStyle/>
          <a:p>
            <a:pPr marL="0" indent="0">
              <a:buNone/>
            </a:pPr>
            <a:r>
              <a:rPr lang="en-US" sz="1300" b="1" dirty="0">
                <a:solidFill>
                  <a:srgbClr val="1A2233"/>
                </a:solidFill>
                <a:latin typeface="Calibri" pitchFamily="34" charset="0"/>
                <a:ea typeface="Calibri" pitchFamily="34" charset="-122"/>
                <a:cs typeface="Calibri" pitchFamily="34" charset="-120"/>
              </a:rPr>
              <a:t>Validation lesion Dice on lesion-bearing images by epoch</a:t>
            </a:r>
            <a:endParaRPr lang="en-US" sz="1300" dirty="0"/>
          </a:p>
        </p:txBody>
      </p:sp>
      <p:graphicFrame>
        <p:nvGraphicFramePr>
          <p:cNvPr id="10" name="Chart 1"/>
          <p:cNvGraphicFramePr/>
          <p:nvPr/>
        </p:nvGraphicFramePr>
        <p:xfrm>
          <a:off x="6199632" y="2194560"/>
          <a:ext cx="5440680" cy="3383280"/>
        </p:xfrm>
        <a:graphic>
          <a:graphicData uri="http://schemas.openxmlformats.org/drawingml/2006/chart">
            <c:chart xmlns:c="http://schemas.openxmlformats.org/drawingml/2006/chart" xmlns:r="http://schemas.openxmlformats.org/officeDocument/2006/relationships" r:id="rId4"/>
          </a:graphicData>
        </a:graphic>
      </p:graphicFrame>
      <p:sp>
        <p:nvSpPr>
          <p:cNvPr id="11" name="Shape 6"/>
          <p:cNvSpPr/>
          <p:nvPr/>
        </p:nvSpPr>
        <p:spPr>
          <a:xfrm>
            <a:off x="548640" y="5687568"/>
            <a:ext cx="11094415" cy="566928"/>
          </a:xfrm>
          <a:prstGeom prst="roundRect">
            <a:avLst>
              <a:gd name="adj" fmla="val 9677"/>
            </a:avLst>
          </a:prstGeom>
          <a:solidFill>
            <a:srgbClr val="F3F6F9"/>
          </a:solidFill>
          <a:ln w="9525">
            <a:solidFill>
              <a:srgbClr val="DCE3E8"/>
            </a:solidFill>
            <a:prstDash val="solid"/>
          </a:ln>
        </p:spPr>
      </p:sp>
      <p:sp>
        <p:nvSpPr>
          <p:cNvPr id="12" name="Text 7"/>
          <p:cNvSpPr txBox="1"/>
          <p:nvPr/>
        </p:nvSpPr>
        <p:spPr>
          <a:xfrm>
            <a:off x="822960" y="5687568"/>
            <a:ext cx="10545775" cy="566928"/>
          </a:xfrm>
          <a:prstGeom prst="rect">
            <a:avLst/>
          </a:prstGeom>
          <a:noFill/>
          <a:ln/>
        </p:spPr>
        <p:txBody>
          <a:bodyPr wrap="square" lIns="0" tIns="0" rIns="0" bIns="0" rtlCol="0" anchor="ctr"/>
          <a:lstStyle/>
          <a:p>
            <a:pPr marL="0" indent="0">
              <a:buNone/>
            </a:pPr>
            <a:r>
              <a:rPr lang="en-US" sz="1300" b="1" dirty="0">
                <a:solidFill>
                  <a:srgbClr val="21295C"/>
                </a:solidFill>
                <a:latin typeface="Calibri" pitchFamily="34" charset="0"/>
                <a:ea typeface="Calibri" pitchFamily="34" charset="-122"/>
                <a:cs typeface="Calibri" pitchFamily="34" charset="-120"/>
              </a:rPr>
              <a:t>Reading the curves:  </a:t>
            </a:r>
            <a:r>
              <a:rPr lang="en-US" sz="1300" dirty="0">
                <a:solidFill>
                  <a:srgbClr val="1A2233"/>
                </a:solidFill>
                <a:latin typeface="Calibri" pitchFamily="34" charset="0"/>
                <a:ea typeface="Calibri" pitchFamily="34" charset="-122"/>
                <a:cs typeface="Calibri" pitchFamily="34" charset="-120"/>
              </a:rPr>
              <a:t>the ratio form drives a steady decline in the second half of training and is still improving at epoch 15; lesion Dice rises similarly for all three.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RESULTS  ·  SUMMARY</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All Configurations on the Same Test Set</a:t>
            </a:r>
            <a:endParaRPr lang="en-US" sz="3000" dirty="0"/>
          </a:p>
        </p:txBody>
      </p:sp>
      <p:graphicFrame>
        <p:nvGraphicFramePr>
          <p:cNvPr id="20" name="Table 0"/>
          <p:cNvGraphicFramePr>
            <a:graphicFrameLocks noGrp="1"/>
          </p:cNvGraphicFramePr>
          <p:nvPr>
            <p:extLst>
              <p:ext uri="{D42A27DB-BD31-4B8C-83A1-F6EECF244321}">
                <p14:modId xmlns:p14="http://schemas.microsoft.com/office/powerpoint/2010/main" val="4085788024"/>
              </p:ext>
            </p:extLst>
          </p:nvPr>
        </p:nvGraphicFramePr>
        <p:xfrm>
          <a:off x="548640" y="1920240"/>
          <a:ext cx="11091672" cy="3310128"/>
        </p:xfrm>
        <a:graphic>
          <a:graphicData uri="http://schemas.openxmlformats.org/drawingml/2006/table">
            <a:tbl>
              <a:tblPr/>
              <a:tblGrid>
                <a:gridCol w="685800">
                  <a:extLst>
                    <a:ext uri="{9D8B030D-6E8A-4147-A177-3AD203B41FA5}">
                      <a16:colId xmlns:a16="http://schemas.microsoft.com/office/drawing/2014/main" val="20000"/>
                    </a:ext>
                  </a:extLst>
                </a:gridCol>
                <a:gridCol w="3136392">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gridCol w="100584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143000">
                  <a:extLst>
                    <a:ext uri="{9D8B030D-6E8A-4147-A177-3AD203B41FA5}">
                      <a16:colId xmlns:a16="http://schemas.microsoft.com/office/drawing/2014/main" val="20007"/>
                    </a:ext>
                  </a:extLst>
                </a:gridCol>
                <a:gridCol w="1005840">
                  <a:extLst>
                    <a:ext uri="{9D8B030D-6E8A-4147-A177-3AD203B41FA5}">
                      <a16:colId xmlns:a16="http://schemas.microsoft.com/office/drawing/2014/main" val="20008"/>
                    </a:ext>
                  </a:extLst>
                </a:gridCol>
              </a:tblGrid>
              <a:tr h="56692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Phase</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21295C"/>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Configuration</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21295C"/>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Diag.</a:t>
                      </a:r>
                      <a:endParaRPr lang="en-US" sz="1250" dirty="0">
                        <a:latin typeface="Calibri" charset="0"/>
                        <a:ea typeface="Calibri" charset="0"/>
                        <a:cs typeface="Calibri" charset="0"/>
                      </a:endParaRPr>
                    </a:p>
                    <a:p>
                      <a:pPr marL="0" indent="0">
                        <a:buNone/>
                      </a:pPr>
                      <a:r>
                        <a:rPr lang="en-US" sz="1250" b="1" dirty="0">
                          <a:solidFill>
                            <a:srgbClr val="FFFFFF"/>
                          </a:solidFill>
                          <a:latin typeface="Calibri" pitchFamily="34" charset="0"/>
                          <a:ea typeface="Calibri" pitchFamily="34" charset="-122"/>
                          <a:cs typeface="Calibri" pitchFamily="34" charset="-120"/>
                        </a:rPr>
                        <a:t>AUC</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21295C"/>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Global</a:t>
                      </a:r>
                      <a:endParaRPr lang="en-US" sz="1250" dirty="0">
                        <a:latin typeface="Calibri" charset="0"/>
                        <a:ea typeface="Calibri" charset="0"/>
                        <a:cs typeface="Calibri" charset="0"/>
                      </a:endParaRPr>
                    </a:p>
                    <a:p>
                      <a:pPr marL="0" indent="0">
                        <a:buNone/>
                      </a:pPr>
                      <a:r>
                        <a:rPr lang="en-US" sz="1250" b="1" dirty="0">
                          <a:solidFill>
                            <a:srgbClr val="FFFFFF"/>
                          </a:solidFill>
                          <a:latin typeface="Calibri" pitchFamily="34" charset="0"/>
                          <a:ea typeface="Calibri" pitchFamily="34" charset="-122"/>
                          <a:cs typeface="Calibri" pitchFamily="34" charset="-120"/>
                        </a:rPr>
                        <a:t>AUC</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21295C"/>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Local</a:t>
                      </a:r>
                      <a:endParaRPr lang="en-US" sz="1250" dirty="0">
                        <a:latin typeface="Calibri" charset="0"/>
                        <a:ea typeface="Calibri" charset="0"/>
                        <a:cs typeface="Calibri" charset="0"/>
                      </a:endParaRPr>
                    </a:p>
                    <a:p>
                      <a:pPr marL="0" indent="0">
                        <a:buNone/>
                      </a:pPr>
                      <a:r>
                        <a:rPr lang="en-US" sz="1250" b="1" dirty="0">
                          <a:solidFill>
                            <a:srgbClr val="FFFFFF"/>
                          </a:solidFill>
                          <a:latin typeface="Calibri" pitchFamily="34" charset="0"/>
                          <a:ea typeface="Calibri" pitchFamily="34" charset="-122"/>
                          <a:cs typeface="Calibri" pitchFamily="34" charset="-120"/>
                        </a:rPr>
                        <a:t>AUC</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21295C"/>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Kidney</a:t>
                      </a:r>
                      <a:endParaRPr lang="en-US" sz="1250" dirty="0">
                        <a:latin typeface="Calibri" charset="0"/>
                        <a:ea typeface="Calibri" charset="0"/>
                        <a:cs typeface="Calibri" charset="0"/>
                      </a:endParaRPr>
                    </a:p>
                    <a:p>
                      <a:pPr marL="0" indent="0">
                        <a:buNone/>
                      </a:pPr>
                      <a:r>
                        <a:rPr lang="en-US" sz="1250" b="1" dirty="0">
                          <a:solidFill>
                            <a:srgbClr val="FFFFFF"/>
                          </a:solidFill>
                          <a:latin typeface="Calibri" pitchFamily="34" charset="0"/>
                          <a:ea typeface="Calibri" pitchFamily="34" charset="-122"/>
                          <a:cs typeface="Calibri" pitchFamily="34" charset="-120"/>
                        </a:rPr>
                        <a:t>Dice</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21295C"/>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Lesion Dice</a:t>
                      </a:r>
                      <a:endParaRPr lang="en-US" sz="1250" dirty="0">
                        <a:latin typeface="Calibri" charset="0"/>
                        <a:ea typeface="Calibri" charset="0"/>
                        <a:cs typeface="Calibri" charset="0"/>
                      </a:endParaRPr>
                    </a:p>
                    <a:p>
                      <a:pPr marL="0" indent="0">
                        <a:buNone/>
                      </a:pPr>
                      <a:r>
                        <a:rPr lang="en-US" sz="1250" b="1" dirty="0">
                          <a:solidFill>
                            <a:srgbClr val="FFFFFF"/>
                          </a:solidFill>
                          <a:latin typeface="Calibri" pitchFamily="34" charset="0"/>
                          <a:ea typeface="Calibri" pitchFamily="34" charset="-122"/>
                          <a:cs typeface="Calibri" pitchFamily="34" charset="-120"/>
                        </a:rPr>
                        <a:t>(all)</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21295C"/>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Lesion Dice</a:t>
                      </a:r>
                      <a:endParaRPr lang="en-US" sz="1250" dirty="0">
                        <a:latin typeface="Calibri" charset="0"/>
                        <a:ea typeface="Calibri" charset="0"/>
                        <a:cs typeface="Calibri" charset="0"/>
                      </a:endParaRPr>
                    </a:p>
                    <a:p>
                      <a:pPr marL="0" indent="0">
                        <a:buNone/>
                      </a:pPr>
                      <a:r>
                        <a:rPr lang="en-US" sz="1250" b="1" dirty="0">
                          <a:solidFill>
                            <a:srgbClr val="FFFFFF"/>
                          </a:solidFill>
                          <a:latin typeface="Calibri" pitchFamily="34" charset="0"/>
                          <a:ea typeface="Calibri" pitchFamily="34" charset="-122"/>
                          <a:cs typeface="Calibri" pitchFamily="34" charset="-120"/>
                        </a:rPr>
                        <a:t>(lesion imgs)</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21295C"/>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Violation</a:t>
                      </a:r>
                      <a:endParaRPr lang="en-US" sz="1250" dirty="0">
                        <a:latin typeface="Calibri" charset="0"/>
                        <a:ea typeface="Calibri" charset="0"/>
                        <a:cs typeface="Calibri" charset="0"/>
                      </a:endParaRPr>
                    </a:p>
                    <a:p>
                      <a:pPr marL="0" indent="0">
                        <a:buNone/>
                      </a:pPr>
                      <a:r>
                        <a:rPr lang="en-US" sz="1250" b="1" dirty="0">
                          <a:solidFill>
                            <a:srgbClr val="FFFFFF"/>
                          </a:solidFill>
                          <a:latin typeface="Calibri" pitchFamily="34" charset="0"/>
                          <a:ea typeface="Calibri" pitchFamily="34" charset="-122"/>
                          <a:cs typeface="Calibri" pitchFamily="34" charset="-120"/>
                        </a:rPr>
                        <a:t>rate</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21295C"/>
                    </a:solidFill>
                  </a:tcPr>
                </a:tc>
                <a:extLst>
                  <a:ext uri="{0D108BD9-81ED-4DB2-BD59-A6C34878D82A}">
                    <a16:rowId xmlns:a16="http://schemas.microsoft.com/office/drawing/2014/main" val="10000"/>
                  </a:ext>
                </a:extLst>
              </a:tr>
              <a:tr h="457200">
                <a:tc>
                  <a:txBody>
                    <a:bodyPr/>
                    <a:lstStyle/>
                    <a:p>
                      <a:pPr marL="0" indent="0">
                        <a:buNone/>
                      </a:pPr>
                      <a:r>
                        <a:rPr lang="en-US" sz="1250" b="1" dirty="0">
                          <a:solidFill>
                            <a:srgbClr val="1A2233"/>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Equal weights, no enhancement</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dirty="0">
                          <a:solidFill>
                            <a:srgbClr val="1A2233"/>
                          </a:solidFill>
                          <a:latin typeface="Calibri" pitchFamily="34" charset="0"/>
                          <a:ea typeface="Calibri" pitchFamily="34" charset="-122"/>
                          <a:cs typeface="Calibri" pitchFamily="34" charset="-120"/>
                        </a:rPr>
                        <a:t>0.9013</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b="1" dirty="0">
                          <a:solidFill>
                            <a:srgbClr val="2E7D5B"/>
                          </a:solidFill>
                          <a:latin typeface="Calibri" pitchFamily="34" charset="0"/>
                          <a:ea typeface="Calibri" pitchFamily="34" charset="-122"/>
                          <a:cs typeface="Calibri" pitchFamily="34" charset="-120"/>
                        </a:rPr>
                        <a:t>0.8038</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dirty="0">
                          <a:solidFill>
                            <a:srgbClr val="5B6B79"/>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dirty="0">
                          <a:solidFill>
                            <a:srgbClr val="1A2233"/>
                          </a:solidFill>
                          <a:latin typeface="Calibri" pitchFamily="34" charset="0"/>
                          <a:ea typeface="Calibri" pitchFamily="34" charset="-122"/>
                          <a:cs typeface="Calibri" pitchFamily="34" charset="-120"/>
                        </a:rPr>
                        <a:t>0.8991</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dirty="0">
                          <a:solidFill>
                            <a:srgbClr val="5B6B79"/>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dirty="0">
                          <a:solidFill>
                            <a:srgbClr val="5B6B79"/>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dirty="0">
                          <a:solidFill>
                            <a:srgbClr val="5B6B79"/>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250" b="1" dirty="0">
                          <a:solidFill>
                            <a:srgbClr val="1A2233"/>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Hand-picked enhancement</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dirty="0">
                          <a:solidFill>
                            <a:srgbClr val="1A2233"/>
                          </a:solidFill>
                          <a:latin typeface="Calibri" pitchFamily="34" charset="0"/>
                          <a:ea typeface="Calibri" pitchFamily="34" charset="-122"/>
                          <a:cs typeface="Calibri" pitchFamily="34" charset="-120"/>
                        </a:rPr>
                        <a:t>0.8903</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dirty="0">
                          <a:solidFill>
                            <a:srgbClr val="1A2233"/>
                          </a:solidFill>
                          <a:latin typeface="Calibri" pitchFamily="34" charset="0"/>
                          <a:ea typeface="Calibri" pitchFamily="34" charset="-122"/>
                          <a:cs typeface="Calibri" pitchFamily="34" charset="-120"/>
                        </a:rPr>
                        <a:t>0.7802</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dirty="0">
                          <a:solidFill>
                            <a:srgbClr val="5B6B79"/>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dirty="0">
                          <a:solidFill>
                            <a:srgbClr val="1A2233"/>
                          </a:solidFill>
                          <a:latin typeface="Calibri" pitchFamily="34" charset="0"/>
                          <a:ea typeface="Calibri" pitchFamily="34" charset="-122"/>
                          <a:cs typeface="Calibri" pitchFamily="34" charset="-120"/>
                        </a:rPr>
                        <a:t>0.9021</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dirty="0">
                          <a:solidFill>
                            <a:srgbClr val="5B6B79"/>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dirty="0">
                          <a:solidFill>
                            <a:srgbClr val="5B6B79"/>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dirty="0">
                          <a:solidFill>
                            <a:srgbClr val="5B6B79"/>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250" b="1" dirty="0">
                          <a:solidFill>
                            <a:srgbClr val="1A2233"/>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Five heads, no constraint</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dirty="0">
                          <a:solidFill>
                            <a:srgbClr val="1A2233"/>
                          </a:solidFill>
                          <a:latin typeface="Calibri" pitchFamily="34" charset="0"/>
                          <a:ea typeface="Calibri" pitchFamily="34" charset="-122"/>
                          <a:cs typeface="Calibri" pitchFamily="34" charset="-120"/>
                        </a:rPr>
                        <a:t>0.8995</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dirty="0">
                          <a:solidFill>
                            <a:srgbClr val="1A2233"/>
                          </a:solidFill>
                          <a:latin typeface="Calibri" pitchFamily="34" charset="0"/>
                          <a:ea typeface="Calibri" pitchFamily="34" charset="-122"/>
                          <a:cs typeface="Calibri" pitchFamily="34" charset="-120"/>
                        </a:rPr>
                        <a:t>0.8012</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dirty="0">
                          <a:solidFill>
                            <a:srgbClr val="1A2233"/>
                          </a:solidFill>
                          <a:latin typeface="Calibri" pitchFamily="34" charset="0"/>
                          <a:ea typeface="Calibri" pitchFamily="34" charset="-122"/>
                          <a:cs typeface="Calibri" pitchFamily="34" charset="-120"/>
                        </a:rPr>
                        <a:t>0.7704</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dirty="0">
                          <a:solidFill>
                            <a:srgbClr val="1A2233"/>
                          </a:solidFill>
                          <a:latin typeface="Calibri" pitchFamily="34" charset="0"/>
                          <a:ea typeface="Calibri" pitchFamily="34" charset="-122"/>
                          <a:cs typeface="Calibri" pitchFamily="34" charset="-120"/>
                        </a:rPr>
                        <a:t>0.8928</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dirty="0">
                          <a:solidFill>
                            <a:srgbClr val="1A2233"/>
                          </a:solidFill>
                          <a:latin typeface="Calibri" pitchFamily="34" charset="0"/>
                          <a:ea typeface="Calibri" pitchFamily="34" charset="-122"/>
                          <a:cs typeface="Calibri" pitchFamily="34" charset="-120"/>
                        </a:rPr>
                        <a:t>0.3444</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b="1" dirty="0">
                          <a:solidFill>
                            <a:srgbClr val="2E7D5B"/>
                          </a:solidFill>
                          <a:latin typeface="Calibri" pitchFamily="34" charset="0"/>
                          <a:ea typeface="Calibri" pitchFamily="34" charset="-122"/>
                          <a:cs typeface="Calibri" pitchFamily="34" charset="-120"/>
                        </a:rPr>
                        <a:t>0.5056</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dirty="0">
                          <a:solidFill>
                            <a:srgbClr val="1A2233"/>
                          </a:solidFill>
                          <a:latin typeface="Calibri" pitchFamily="34" charset="0"/>
                          <a:ea typeface="Calibri" pitchFamily="34" charset="-122"/>
                          <a:cs typeface="Calibri" pitchFamily="34" charset="-120"/>
                        </a:rPr>
                        <a:t>0.2331</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1250" b="1" dirty="0">
                          <a:solidFill>
                            <a:srgbClr val="1A2233"/>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Constraint, absolute form</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dirty="0">
                          <a:solidFill>
                            <a:srgbClr val="1A2233"/>
                          </a:solidFill>
                          <a:latin typeface="Calibri" pitchFamily="34" charset="0"/>
                          <a:ea typeface="Calibri" pitchFamily="34" charset="-122"/>
                          <a:cs typeface="Calibri" pitchFamily="34" charset="-120"/>
                        </a:rPr>
                        <a:t>0.8791</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dirty="0">
                          <a:solidFill>
                            <a:srgbClr val="1A2233"/>
                          </a:solidFill>
                          <a:latin typeface="Calibri" pitchFamily="34" charset="0"/>
                          <a:ea typeface="Calibri" pitchFamily="34" charset="-122"/>
                          <a:cs typeface="Calibri" pitchFamily="34" charset="-120"/>
                        </a:rPr>
                        <a:t>0.8004</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b="1" dirty="0">
                          <a:solidFill>
                            <a:srgbClr val="2E7D5B"/>
                          </a:solidFill>
                          <a:latin typeface="Calibri" pitchFamily="34" charset="0"/>
                          <a:ea typeface="Calibri" pitchFamily="34" charset="-122"/>
                          <a:cs typeface="Calibri" pitchFamily="34" charset="-120"/>
                        </a:rPr>
                        <a:t>0.7752</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dirty="0">
                          <a:solidFill>
                            <a:srgbClr val="1A2233"/>
                          </a:solidFill>
                          <a:latin typeface="Calibri" pitchFamily="34" charset="0"/>
                          <a:ea typeface="Calibri" pitchFamily="34" charset="-122"/>
                          <a:cs typeface="Calibri" pitchFamily="34" charset="-120"/>
                        </a:rPr>
                        <a:t>0.8838</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b="1" dirty="0">
                          <a:solidFill>
                            <a:srgbClr val="2E7D5B"/>
                          </a:solidFill>
                          <a:latin typeface="Calibri" pitchFamily="34" charset="0"/>
                          <a:ea typeface="Calibri" pitchFamily="34" charset="-122"/>
                          <a:cs typeface="Calibri" pitchFamily="34" charset="-120"/>
                        </a:rPr>
                        <a:t>0.3518</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dirty="0">
                          <a:solidFill>
                            <a:srgbClr val="1A2233"/>
                          </a:solidFill>
                          <a:latin typeface="Calibri" pitchFamily="34" charset="0"/>
                          <a:ea typeface="Calibri" pitchFamily="34" charset="-122"/>
                          <a:cs typeface="Calibri" pitchFamily="34" charset="-120"/>
                        </a:rPr>
                        <a:t>0.4868</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dirty="0">
                          <a:solidFill>
                            <a:srgbClr val="1A2233"/>
                          </a:solidFill>
                          <a:latin typeface="Calibri" pitchFamily="34" charset="0"/>
                          <a:ea typeface="Calibri" pitchFamily="34" charset="-122"/>
                          <a:cs typeface="Calibri" pitchFamily="34" charset="-120"/>
                        </a:rPr>
                        <a:t>0.2817</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buNone/>
                      </a:pPr>
                      <a:r>
                        <a:rPr lang="en-US" sz="1250" b="1" dirty="0">
                          <a:solidFill>
                            <a:srgbClr val="1A2233"/>
                          </a:solidFill>
                          <a:latin typeface="Calibri" pitchFamily="34" charset="0"/>
                          <a:ea typeface="Calibri" pitchFamily="34" charset="-122"/>
                          <a:cs typeface="Calibri" pitchFamily="34" charset="-120"/>
                        </a:rPr>
                        <a:t>5b</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Constraint, ratio form</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b="1" dirty="0">
                          <a:solidFill>
                            <a:srgbClr val="2E7D5B"/>
                          </a:solidFill>
                          <a:latin typeface="Calibri" pitchFamily="34" charset="0"/>
                          <a:ea typeface="Calibri" pitchFamily="34" charset="-122"/>
                          <a:cs typeface="Calibri" pitchFamily="34" charset="-120"/>
                        </a:rPr>
                        <a:t>0.9014</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dirty="0">
                          <a:solidFill>
                            <a:srgbClr val="1A2233"/>
                          </a:solidFill>
                          <a:latin typeface="Calibri" pitchFamily="34" charset="0"/>
                          <a:ea typeface="Calibri" pitchFamily="34" charset="-122"/>
                          <a:cs typeface="Calibri" pitchFamily="34" charset="-120"/>
                        </a:rPr>
                        <a:t>0.7932</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dirty="0">
                          <a:solidFill>
                            <a:srgbClr val="1A2233"/>
                          </a:solidFill>
                          <a:latin typeface="Calibri" pitchFamily="34" charset="0"/>
                          <a:ea typeface="Calibri" pitchFamily="34" charset="-122"/>
                          <a:cs typeface="Calibri" pitchFamily="34" charset="-120"/>
                        </a:rPr>
                        <a:t>0.7416</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dirty="0">
                          <a:solidFill>
                            <a:srgbClr val="1A2233"/>
                          </a:solidFill>
                          <a:latin typeface="Calibri" pitchFamily="34" charset="0"/>
                          <a:ea typeface="Calibri" pitchFamily="34" charset="-122"/>
                          <a:cs typeface="Calibri" pitchFamily="34" charset="-120"/>
                        </a:rPr>
                        <a:t>0.8954</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dirty="0">
                          <a:solidFill>
                            <a:srgbClr val="1A2233"/>
                          </a:solidFill>
                          <a:latin typeface="Calibri" pitchFamily="34" charset="0"/>
                          <a:ea typeface="Calibri" pitchFamily="34" charset="-122"/>
                          <a:cs typeface="Calibri" pitchFamily="34" charset="-120"/>
                        </a:rPr>
                        <a:t>0.3325</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dirty="0">
                          <a:solidFill>
                            <a:srgbClr val="1A2233"/>
                          </a:solidFill>
                          <a:latin typeface="Calibri" pitchFamily="34" charset="0"/>
                          <a:ea typeface="Calibri" pitchFamily="34" charset="-122"/>
                          <a:cs typeface="Calibri" pitchFamily="34" charset="-120"/>
                        </a:rPr>
                        <a:t>0.4881</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b="1" dirty="0">
                          <a:solidFill>
                            <a:srgbClr val="2E7D5B"/>
                          </a:solidFill>
                          <a:latin typeface="Calibri" pitchFamily="34" charset="0"/>
                          <a:ea typeface="Calibri" pitchFamily="34" charset="-122"/>
                          <a:cs typeface="Calibri" pitchFamily="34" charset="-120"/>
                        </a:rPr>
                        <a:t>0.0543</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extLst>
                  <a:ext uri="{0D108BD9-81ED-4DB2-BD59-A6C34878D82A}">
                    <a16:rowId xmlns:a16="http://schemas.microsoft.com/office/drawing/2014/main" val="10005"/>
                  </a:ext>
                </a:extLst>
              </a:tr>
              <a:tr h="457200">
                <a:tc>
                  <a:txBody>
                    <a:bodyPr/>
                    <a:lstStyle/>
                    <a:p>
                      <a:pPr marL="0" indent="0">
                        <a:buNone/>
                      </a:pPr>
                      <a:r>
                        <a:rPr lang="en-US" sz="1250" b="1" dirty="0">
                          <a:solidFill>
                            <a:srgbClr val="1A2233"/>
                          </a:solidFill>
                          <a:latin typeface="Calibri" pitchFamily="34" charset="0"/>
                          <a:ea typeface="Calibri" pitchFamily="34" charset="-122"/>
                          <a:cs typeface="Calibri" pitchFamily="34" charset="-120"/>
                        </a:rPr>
                        <a:t>6</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COA-optimized weights + enhancement</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dirty="0">
                          <a:solidFill>
                            <a:srgbClr val="1A2233"/>
                          </a:solidFill>
                          <a:latin typeface="Calibri" pitchFamily="34" charset="0"/>
                          <a:ea typeface="Calibri" pitchFamily="34" charset="-122"/>
                          <a:cs typeface="Calibri" pitchFamily="34" charset="-120"/>
                        </a:rPr>
                        <a:t>0.8753</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dirty="0">
                          <a:solidFill>
                            <a:srgbClr val="1A2233"/>
                          </a:solidFill>
                          <a:latin typeface="Calibri" pitchFamily="34" charset="0"/>
                          <a:ea typeface="Calibri" pitchFamily="34" charset="-122"/>
                          <a:cs typeface="Calibri" pitchFamily="34" charset="-120"/>
                        </a:rPr>
                        <a:t>0.7255</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dirty="0">
                          <a:solidFill>
                            <a:srgbClr val="1A2233"/>
                          </a:solidFill>
                          <a:latin typeface="Calibri" pitchFamily="34" charset="0"/>
                          <a:ea typeface="Calibri" pitchFamily="34" charset="-122"/>
                          <a:cs typeface="Calibri" pitchFamily="34" charset="-120"/>
                        </a:rPr>
                        <a:t>0.7314</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b="1" dirty="0">
                          <a:solidFill>
                            <a:srgbClr val="2E7D5B"/>
                          </a:solidFill>
                          <a:latin typeface="Calibri" pitchFamily="34" charset="0"/>
                          <a:ea typeface="Calibri" pitchFamily="34" charset="-122"/>
                          <a:cs typeface="Calibri" pitchFamily="34" charset="-120"/>
                        </a:rPr>
                        <a:t>0.9081</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dirty="0">
                          <a:solidFill>
                            <a:srgbClr val="1A2233"/>
                          </a:solidFill>
                          <a:latin typeface="Calibri" pitchFamily="34" charset="0"/>
                          <a:ea typeface="Calibri" pitchFamily="34" charset="-122"/>
                          <a:cs typeface="Calibri" pitchFamily="34" charset="-120"/>
                        </a:rPr>
                        <a:t>0.2847</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dirty="0">
                          <a:solidFill>
                            <a:srgbClr val="1A2233"/>
                          </a:solidFill>
                          <a:latin typeface="Calibri" pitchFamily="34" charset="0"/>
                          <a:ea typeface="Calibri" pitchFamily="34" charset="-122"/>
                          <a:cs typeface="Calibri" pitchFamily="34" charset="-120"/>
                        </a:rPr>
                        <a:t>0.4180</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dirty="0">
                          <a:solidFill>
                            <a:srgbClr val="1A2233"/>
                          </a:solidFill>
                          <a:latin typeface="Calibri" pitchFamily="34" charset="0"/>
                          <a:ea typeface="Calibri" pitchFamily="34" charset="-122"/>
                          <a:cs typeface="Calibri" pitchFamily="34" charset="-120"/>
                        </a:rPr>
                        <a:t>0.0545</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RESULTS  ·  PHASE 6</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What the Optimizers Chose</a:t>
            </a:r>
            <a:endParaRPr lang="en-US" sz="3000" dirty="0"/>
          </a:p>
        </p:txBody>
      </p:sp>
      <p:sp>
        <p:nvSpPr>
          <p:cNvPr id="7" name="Text 4"/>
          <p:cNvSpPr txBox="1"/>
          <p:nvPr/>
        </p:nvSpPr>
        <p:spPr>
          <a:xfrm>
            <a:off x="548640" y="1874520"/>
            <a:ext cx="6492240" cy="292608"/>
          </a:xfrm>
          <a:prstGeom prst="rect">
            <a:avLst/>
          </a:prstGeom>
          <a:noFill/>
          <a:ln/>
        </p:spPr>
        <p:txBody>
          <a:bodyPr wrap="square" lIns="0" tIns="0" rIns="0" bIns="0" rtlCol="0" anchor="t"/>
          <a:lstStyle/>
          <a:p>
            <a:pPr marL="0" indent="0">
              <a:buNone/>
            </a:pPr>
            <a:r>
              <a:rPr lang="en-US" sz="1300" b="1" dirty="0">
                <a:solidFill>
                  <a:srgbClr val="1A2233"/>
                </a:solidFill>
                <a:latin typeface="Calibri" pitchFamily="34" charset="0"/>
                <a:ea typeface="Calibri" pitchFamily="34" charset="-122"/>
                <a:cs typeface="Calibri" pitchFamily="34" charset="-120"/>
              </a:rPr>
              <a:t>Loss weights found by each optimizer (baseline: all weights = 1.0)</a:t>
            </a:r>
            <a:endParaRPr lang="en-US" sz="1300" dirty="0"/>
          </a:p>
        </p:txBody>
      </p:sp>
      <p:graphicFrame>
        <p:nvGraphicFramePr>
          <p:cNvPr id="8" name="Chart 0"/>
          <p:cNvGraphicFramePr/>
          <p:nvPr/>
        </p:nvGraphicFramePr>
        <p:xfrm>
          <a:off x="548640" y="2194560"/>
          <a:ext cx="649224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5"/>
          <p:cNvSpPr txBox="1"/>
          <p:nvPr/>
        </p:nvSpPr>
        <p:spPr>
          <a:xfrm>
            <a:off x="7360920" y="1874520"/>
            <a:ext cx="4279392" cy="292608"/>
          </a:xfrm>
          <a:prstGeom prst="rect">
            <a:avLst/>
          </a:prstGeom>
          <a:noFill/>
          <a:ln/>
        </p:spPr>
        <p:txBody>
          <a:bodyPr wrap="square" lIns="0" tIns="0" rIns="0" bIns="0" rtlCol="0" anchor="t"/>
          <a:lstStyle/>
          <a:p>
            <a:pPr marL="0" indent="0">
              <a:buNone/>
            </a:pPr>
            <a:r>
              <a:rPr lang="en-US" sz="1300" b="1" dirty="0">
                <a:solidFill>
                  <a:srgbClr val="1A2233"/>
                </a:solidFill>
                <a:latin typeface="Calibri" pitchFamily="34" charset="0"/>
                <a:ea typeface="Calibri" pitchFamily="34" charset="-122"/>
                <a:cs typeface="Calibri" pitchFamily="34" charset="-120"/>
              </a:rPr>
              <a:t>Enhancement parameters</a:t>
            </a:r>
            <a:endParaRPr lang="en-US" sz="13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7360920" y="2194560"/>
          <a:ext cx="4279392" cy="1920240"/>
        </p:xfrm>
        <a:graphic>
          <a:graphicData uri="http://schemas.openxmlformats.org/drawingml/2006/table">
            <a:tbl>
              <a:tblPr/>
              <a:tblGrid>
                <a:gridCol w="1170432">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tblGrid>
              <a:tr h="384048">
                <a:tc>
                  <a:txBody>
                    <a:bodyPr/>
                    <a:lstStyle/>
                    <a:p>
                      <a:pPr marL="0" indent="0">
                        <a:buNone/>
                      </a:pP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21295C"/>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Clip</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21295C"/>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Tile</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21295C"/>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Denoise</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21295C"/>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Gamma</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21295C"/>
                    </a:solidFill>
                  </a:tcPr>
                </a:tc>
                <a:extLst>
                  <a:ext uri="{0D108BD9-81ED-4DB2-BD59-A6C34878D82A}">
                    <a16:rowId xmlns:a16="http://schemas.microsoft.com/office/drawing/2014/main" val="10000"/>
                  </a:ext>
                </a:extLst>
              </a:tr>
              <a:tr h="384048">
                <a:tc>
                  <a:txBody>
                    <a:bodyPr/>
                    <a:lstStyle/>
                    <a:p>
                      <a:pPr marL="0" indent="0">
                        <a:buNone/>
                      </a:pPr>
                      <a:r>
                        <a:rPr lang="en-US" sz="1250" b="1" dirty="0">
                          <a:solidFill>
                            <a:srgbClr val="5B6B79"/>
                          </a:solidFill>
                          <a:latin typeface="Calibri" pitchFamily="34" charset="0"/>
                          <a:ea typeface="Calibri" pitchFamily="34" charset="-122"/>
                          <a:cs typeface="Calibri" pitchFamily="34" charset="-120"/>
                        </a:rPr>
                        <a:t>Hand-picked</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5B6B79"/>
                          </a:solidFill>
                          <a:latin typeface="Calibri" pitchFamily="34" charset="0"/>
                          <a:ea typeface="Calibri" pitchFamily="34" charset="-122"/>
                          <a:cs typeface="Calibri" pitchFamily="34" charset="-120"/>
                        </a:rPr>
                        <a:t>2.00</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5B6B79"/>
                          </a:solidFill>
                          <a:latin typeface="Calibri" pitchFamily="34" charset="0"/>
                          <a:ea typeface="Calibri" pitchFamily="34" charset="-122"/>
                          <a:cs typeface="Calibri" pitchFamily="34" charset="-120"/>
                        </a:rPr>
                        <a:t>8</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5B6B79"/>
                          </a:solidFill>
                          <a:latin typeface="Calibri" pitchFamily="34" charset="0"/>
                          <a:ea typeface="Calibri" pitchFamily="34" charset="-122"/>
                          <a:cs typeface="Calibri" pitchFamily="34" charset="-120"/>
                        </a:rPr>
                        <a:t>10.0</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5B6B79"/>
                          </a:solidFill>
                          <a:latin typeface="Calibri" pitchFamily="34" charset="0"/>
                          <a:ea typeface="Calibri" pitchFamily="34" charset="-122"/>
                          <a:cs typeface="Calibri" pitchFamily="34" charset="-120"/>
                        </a:rPr>
                        <a:t>1.20</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250" b="1" dirty="0">
                          <a:solidFill>
                            <a:srgbClr val="1A2233"/>
                          </a:solidFill>
                          <a:latin typeface="Calibri" pitchFamily="34" charset="0"/>
                          <a:ea typeface="Calibri" pitchFamily="34" charset="-122"/>
                          <a:cs typeface="Calibri" pitchFamily="34" charset="-120"/>
                        </a:rPr>
                        <a:t>COA</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3.40</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13</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0.7</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0.76</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250" b="1" dirty="0">
                          <a:solidFill>
                            <a:srgbClr val="1A2233"/>
                          </a:solidFill>
                          <a:latin typeface="Calibri" pitchFamily="34" charset="0"/>
                          <a:ea typeface="Calibri" pitchFamily="34" charset="-122"/>
                          <a:cs typeface="Calibri" pitchFamily="34" charset="-120"/>
                        </a:rPr>
                        <a:t>WOA</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2.57</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16</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1.9</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0.79</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250" b="1" dirty="0">
                          <a:solidFill>
                            <a:srgbClr val="1A2233"/>
                          </a:solidFill>
                          <a:latin typeface="Calibri" pitchFamily="34" charset="0"/>
                          <a:ea typeface="Calibri" pitchFamily="34" charset="-122"/>
                          <a:cs typeface="Calibri" pitchFamily="34" charset="-120"/>
                        </a:rPr>
                        <a:t>GWO</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5.00</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10</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9.3</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0.54</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1" name="Text 6"/>
          <p:cNvSpPr txBox="1"/>
          <p:nvPr/>
        </p:nvSpPr>
        <p:spPr>
          <a:xfrm>
            <a:off x="7360920" y="4251960"/>
            <a:ext cx="4279392" cy="146304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A2233"/>
                </a:solidFill>
                <a:latin typeface="Calibri" pitchFamily="34" charset="0"/>
                <a:ea typeface="Calibri" pitchFamily="34" charset="-122"/>
                <a:cs typeface="Calibri" pitchFamily="34" charset="-120"/>
              </a:rPr>
              <a:t>All three: gamma below 1 and a larger tile grid than hand-picked</a:t>
            </a:r>
            <a:endParaRPr lang="en-US" sz="1400" dirty="0"/>
          </a:p>
          <a:p>
            <a:pPr marL="177800" indent="-177800">
              <a:spcAft>
                <a:spcPts val="700"/>
              </a:spcAft>
              <a:buSzPct val="100000"/>
              <a:buChar char="•"/>
            </a:pPr>
            <a:r>
              <a:rPr lang="en-US" sz="1250" dirty="0">
                <a:solidFill>
                  <a:srgbClr val="1A2233"/>
                </a:solidFill>
                <a:latin typeface="Calibri" pitchFamily="34" charset="0"/>
                <a:ea typeface="Calibri" pitchFamily="34" charset="-122"/>
                <a:cs typeface="Calibri" pitchFamily="34" charset="-120"/>
              </a:rPr>
              <a:t>COA and WOA: denoising nearly off</a:t>
            </a:r>
            <a:endParaRPr lang="en-US" sz="1400" dirty="0"/>
          </a:p>
          <a:p>
            <a:pPr marL="177800" indent="-177800">
              <a:spcAft>
                <a:spcPts val="700"/>
              </a:spcAft>
              <a:buSzPct val="100000"/>
              <a:buChar char="•"/>
            </a:pPr>
            <a:r>
              <a:rPr lang="en-US" sz="1250" dirty="0">
                <a:solidFill>
                  <a:srgbClr val="1A2233"/>
                </a:solidFill>
                <a:latin typeface="Calibri" pitchFamily="34" charset="0"/>
                <a:ea typeface="Calibri" pitchFamily="34" charset="-122"/>
                <a:cs typeface="Calibri" pitchFamily="34" charset="-120"/>
              </a:rPr>
              <a:t>COA and WOA: diagnosis weight near the 0.1 floor; GWO keeps it at 2.9</a:t>
            </a:r>
            <a:endParaRPr lang="en-US" sz="1400" dirty="0"/>
          </a:p>
        </p:txBody>
      </p:sp>
      <p:sp>
        <p:nvSpPr>
          <p:cNvPr id="12" name="Shape 7"/>
          <p:cNvSpPr/>
          <p:nvPr/>
        </p:nvSpPr>
        <p:spPr>
          <a:xfrm>
            <a:off x="548640" y="5760720"/>
            <a:ext cx="11094415" cy="457200"/>
          </a:xfrm>
          <a:prstGeom prst="roundRect">
            <a:avLst>
              <a:gd name="adj" fmla="val 12000"/>
            </a:avLst>
          </a:prstGeom>
          <a:solidFill>
            <a:srgbClr val="F3F6F9"/>
          </a:solidFill>
          <a:ln w="9525">
            <a:solidFill>
              <a:srgbClr val="DCE3E8"/>
            </a:solidFill>
            <a:prstDash val="solid"/>
          </a:ln>
        </p:spPr>
      </p:sp>
      <p:sp>
        <p:nvSpPr>
          <p:cNvPr id="13" name="Text 8"/>
          <p:cNvSpPr txBox="1"/>
          <p:nvPr/>
        </p:nvSpPr>
        <p:spPr>
          <a:xfrm>
            <a:off x="822960" y="5760720"/>
            <a:ext cx="10545775" cy="457200"/>
          </a:xfrm>
          <a:prstGeom prst="rect">
            <a:avLst/>
          </a:prstGeom>
          <a:noFill/>
          <a:ln/>
        </p:spPr>
        <p:txBody>
          <a:bodyPr wrap="square" lIns="0" tIns="0" rIns="0" bIns="0" rtlCol="0" anchor="ctr"/>
          <a:lstStyle/>
          <a:p>
            <a:pPr marL="0" indent="0">
              <a:buNone/>
            </a:pPr>
            <a:r>
              <a:rPr lang="en-US" sz="1300" b="1" dirty="0">
                <a:solidFill>
                  <a:srgbClr val="21295C"/>
                </a:solidFill>
                <a:latin typeface="Calibri" pitchFamily="34" charset="0"/>
                <a:ea typeface="Calibri" pitchFamily="34" charset="-122"/>
                <a:cs typeface="Calibri" pitchFamily="34" charset="-120"/>
              </a:rPr>
              <a:t>Pattern:  </a:t>
            </a:r>
            <a:r>
              <a:rPr lang="en-US" sz="1300" dirty="0">
                <a:solidFill>
                  <a:srgbClr val="1A2233"/>
                </a:solidFill>
                <a:latin typeface="Calibri" pitchFamily="34" charset="0"/>
                <a:ea typeface="Calibri" pitchFamily="34" charset="-122"/>
                <a:cs typeface="Calibri" pitchFamily="34" charset="-120"/>
              </a:rPr>
              <a:t>the cheap search consistently favoured segmentation-heavy weightings, which matters for the next slide.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RESULTS  ·  PHASE 6</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Does the Optimized Configuration Hold Up?</a:t>
            </a:r>
            <a:endParaRPr lang="en-US" sz="3000" dirty="0"/>
          </a:p>
        </p:txBody>
      </p:sp>
      <p:sp>
        <p:nvSpPr>
          <p:cNvPr id="7" name="Text 4"/>
          <p:cNvSpPr txBox="1"/>
          <p:nvPr/>
        </p:nvSpPr>
        <p:spPr>
          <a:xfrm>
            <a:off x="548640" y="1874520"/>
            <a:ext cx="6675120" cy="292608"/>
          </a:xfrm>
          <a:prstGeom prst="rect">
            <a:avLst/>
          </a:prstGeom>
          <a:noFill/>
          <a:ln/>
        </p:spPr>
        <p:txBody>
          <a:bodyPr wrap="square" lIns="0" tIns="0" rIns="0" bIns="0" rtlCol="0" anchor="t"/>
          <a:lstStyle/>
          <a:p>
            <a:pPr marL="0" indent="0">
              <a:buNone/>
            </a:pPr>
            <a:r>
              <a:rPr lang="en-US" sz="1300" b="1" dirty="0">
                <a:solidFill>
                  <a:srgbClr val="1A2233"/>
                </a:solidFill>
                <a:latin typeface="Calibri" pitchFamily="34" charset="0"/>
                <a:ea typeface="Calibri" pitchFamily="34" charset="-122"/>
                <a:cs typeface="Calibri" pitchFamily="34" charset="-120"/>
              </a:rPr>
              <a:t>Full-fidelity test results (15 epochs, 512 x 512)</a:t>
            </a:r>
            <a:endParaRPr lang="en-US" sz="1300" dirty="0"/>
          </a:p>
        </p:txBody>
      </p:sp>
      <p:graphicFrame>
        <p:nvGraphicFramePr>
          <p:cNvPr id="8" name="Chart 0"/>
          <p:cNvGraphicFramePr/>
          <p:nvPr/>
        </p:nvGraphicFramePr>
        <p:xfrm>
          <a:off x="548640" y="2194560"/>
          <a:ext cx="6675120" cy="397764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5"/>
          <p:cNvSpPr/>
          <p:nvPr/>
        </p:nvSpPr>
        <p:spPr>
          <a:xfrm>
            <a:off x="7543800" y="1920240"/>
            <a:ext cx="4096512" cy="4251960"/>
          </a:xfrm>
          <a:prstGeom prst="roundRect">
            <a:avLst>
              <a:gd name="adj" fmla="val 1339"/>
            </a:avLst>
          </a:prstGeom>
          <a:solidFill>
            <a:srgbClr val="F3F6F9"/>
          </a:solidFill>
          <a:ln w="9525">
            <a:solidFill>
              <a:srgbClr val="DCE3E8"/>
            </a:solidFill>
            <a:prstDash val="solid"/>
          </a:ln>
        </p:spPr>
      </p:sp>
      <p:sp>
        <p:nvSpPr>
          <p:cNvPr id="10" name="Text 6"/>
          <p:cNvSpPr txBox="1"/>
          <p:nvPr/>
        </p:nvSpPr>
        <p:spPr>
          <a:xfrm>
            <a:off x="7818120" y="2103120"/>
            <a:ext cx="3657600" cy="365760"/>
          </a:xfrm>
          <a:prstGeom prst="rect">
            <a:avLst/>
          </a:prstGeom>
          <a:noFill/>
          <a:ln/>
        </p:spPr>
        <p:txBody>
          <a:bodyPr wrap="square" lIns="0" tIns="0" rIns="0" bIns="0" rtlCol="0" anchor="t"/>
          <a:lstStyle/>
          <a:p>
            <a:pPr marL="0" indent="0">
              <a:buNone/>
            </a:pPr>
            <a:r>
              <a:rPr lang="en-US" sz="1600" b="1" dirty="0">
                <a:solidFill>
                  <a:srgbClr val="21295C"/>
                </a:solidFill>
                <a:latin typeface="Calibri" pitchFamily="34" charset="0"/>
                <a:ea typeface="Calibri" pitchFamily="34" charset="-122"/>
                <a:cs typeface="Calibri" pitchFamily="34" charset="-120"/>
              </a:rPr>
              <a:t>COA-optimized vs equal weights</a:t>
            </a:r>
            <a:endParaRPr lang="en-US" sz="1600" dirty="0"/>
          </a:p>
        </p:txBody>
      </p:sp>
      <p:sp>
        <p:nvSpPr>
          <p:cNvPr id="11" name="Text 7"/>
          <p:cNvSpPr txBox="1"/>
          <p:nvPr/>
        </p:nvSpPr>
        <p:spPr>
          <a:xfrm>
            <a:off x="7818120" y="2560320"/>
            <a:ext cx="3657600" cy="457200"/>
          </a:xfrm>
          <a:prstGeom prst="rect">
            <a:avLst/>
          </a:prstGeom>
          <a:noFill/>
          <a:ln/>
        </p:spPr>
        <p:txBody>
          <a:bodyPr wrap="square" lIns="0" tIns="0" rIns="0" bIns="0" rtlCol="0" anchor="ctr"/>
          <a:lstStyle/>
          <a:p>
            <a:pPr marL="0" indent="0">
              <a:buNone/>
            </a:pPr>
            <a:r>
              <a:rPr lang="en-US" sz="2200" b="1" dirty="0">
                <a:solidFill>
                  <a:srgbClr val="2E7D5B"/>
                </a:solidFill>
                <a:latin typeface="Cambria" pitchFamily="34" charset="0"/>
                <a:ea typeface="Cambria" pitchFamily="34" charset="-122"/>
                <a:cs typeface="Cambria" pitchFamily="34" charset="-120"/>
              </a:rPr>
              <a:t>+0.013  </a:t>
            </a:r>
            <a:r>
              <a:rPr lang="en-US" sz="1300" dirty="0">
                <a:solidFill>
                  <a:srgbClr val="1A2233"/>
                </a:solidFill>
                <a:latin typeface="Calibri" pitchFamily="34" charset="0"/>
                <a:ea typeface="Calibri" pitchFamily="34" charset="-122"/>
                <a:cs typeface="Calibri" pitchFamily="34" charset="-120"/>
              </a:rPr>
              <a:t>kidney Dice</a:t>
            </a:r>
            <a:endParaRPr lang="en-US" sz="1400" dirty="0"/>
          </a:p>
        </p:txBody>
      </p:sp>
      <p:sp>
        <p:nvSpPr>
          <p:cNvPr id="12" name="Text 8"/>
          <p:cNvSpPr txBox="1"/>
          <p:nvPr/>
        </p:nvSpPr>
        <p:spPr>
          <a:xfrm>
            <a:off x="7818120" y="3063240"/>
            <a:ext cx="3657600" cy="457200"/>
          </a:xfrm>
          <a:prstGeom prst="rect">
            <a:avLst/>
          </a:prstGeom>
          <a:noFill/>
          <a:ln/>
        </p:spPr>
        <p:txBody>
          <a:bodyPr wrap="square" lIns="0" tIns="0" rIns="0" bIns="0" rtlCol="0" anchor="ctr"/>
          <a:lstStyle/>
          <a:p>
            <a:pPr marL="0" indent="0">
              <a:buNone/>
            </a:pPr>
            <a:r>
              <a:rPr lang="en-US" sz="2200" b="1" dirty="0">
                <a:solidFill>
                  <a:srgbClr val="B5483B"/>
                </a:solidFill>
                <a:latin typeface="Cambria" pitchFamily="34" charset="0"/>
                <a:ea typeface="Cambria" pitchFamily="34" charset="-122"/>
                <a:cs typeface="Cambria" pitchFamily="34" charset="-120"/>
              </a:rPr>
              <a:t>-0.026  </a:t>
            </a:r>
            <a:r>
              <a:rPr lang="en-US" sz="1300" dirty="0">
                <a:solidFill>
                  <a:srgbClr val="1A2233"/>
                </a:solidFill>
                <a:latin typeface="Calibri" pitchFamily="34" charset="0"/>
                <a:ea typeface="Calibri" pitchFamily="34" charset="-122"/>
                <a:cs typeface="Calibri" pitchFamily="34" charset="-120"/>
              </a:rPr>
              <a:t>diagnosis AUC</a:t>
            </a:r>
            <a:endParaRPr lang="en-US" sz="1400" dirty="0"/>
          </a:p>
        </p:txBody>
      </p:sp>
      <p:sp>
        <p:nvSpPr>
          <p:cNvPr id="13" name="Text 9"/>
          <p:cNvSpPr txBox="1"/>
          <p:nvPr/>
        </p:nvSpPr>
        <p:spPr>
          <a:xfrm>
            <a:off x="7818120" y="3566160"/>
            <a:ext cx="3657600" cy="457200"/>
          </a:xfrm>
          <a:prstGeom prst="rect">
            <a:avLst/>
          </a:prstGeom>
          <a:noFill/>
          <a:ln/>
        </p:spPr>
        <p:txBody>
          <a:bodyPr wrap="square" lIns="0" tIns="0" rIns="0" bIns="0" rtlCol="0" anchor="ctr"/>
          <a:lstStyle/>
          <a:p>
            <a:pPr marL="0" indent="0">
              <a:buNone/>
            </a:pPr>
            <a:r>
              <a:rPr lang="en-US" sz="2200" b="1" dirty="0">
                <a:solidFill>
                  <a:srgbClr val="B5483B"/>
                </a:solidFill>
                <a:latin typeface="Cambria" pitchFamily="34" charset="0"/>
                <a:ea typeface="Cambria" pitchFamily="34" charset="-122"/>
                <a:cs typeface="Cambria" pitchFamily="34" charset="-120"/>
              </a:rPr>
              <a:t>-0.070  </a:t>
            </a:r>
            <a:r>
              <a:rPr lang="en-US" sz="1300" dirty="0">
                <a:solidFill>
                  <a:srgbClr val="1A2233"/>
                </a:solidFill>
                <a:latin typeface="Calibri" pitchFamily="34" charset="0"/>
                <a:ea typeface="Calibri" pitchFamily="34" charset="-122"/>
                <a:cs typeface="Calibri" pitchFamily="34" charset="-120"/>
              </a:rPr>
              <a:t>lesion Dice (lesion images)</a:t>
            </a:r>
            <a:endParaRPr lang="en-US" sz="1400" dirty="0"/>
          </a:p>
        </p:txBody>
      </p:sp>
      <p:sp>
        <p:nvSpPr>
          <p:cNvPr id="14" name="Text 10"/>
          <p:cNvSpPr txBox="1"/>
          <p:nvPr/>
        </p:nvSpPr>
        <p:spPr>
          <a:xfrm>
            <a:off x="7818120" y="4160520"/>
            <a:ext cx="3611880" cy="1920240"/>
          </a:xfrm>
          <a:prstGeom prst="rect">
            <a:avLst/>
          </a:prstGeom>
          <a:noFill/>
          <a:ln/>
        </p:spPr>
        <p:txBody>
          <a:bodyPr wrap="square" lIns="0" tIns="0" rIns="0" bIns="0" rtlCol="0" anchor="t"/>
          <a:lstStyle/>
          <a:p>
            <a:pPr marL="0" indent="0">
              <a:buNone/>
            </a:pPr>
            <a:r>
              <a:rPr lang="en-US" sz="1250" b="1" dirty="0">
                <a:solidFill>
                  <a:srgbClr val="21295C"/>
                </a:solidFill>
                <a:latin typeface="Calibri" pitchFamily="34" charset="0"/>
                <a:ea typeface="Calibri" pitchFamily="34" charset="-122"/>
                <a:cs typeface="Calibri" pitchFamily="34" charset="-120"/>
              </a:rPr>
              <a:t>Likely cause.  </a:t>
            </a:r>
            <a:r>
              <a:rPr lang="en-US" sz="1250" dirty="0">
                <a:solidFill>
                  <a:srgbClr val="1A2233"/>
                </a:solidFill>
                <a:latin typeface="Calibri" pitchFamily="34" charset="0"/>
                <a:ea typeface="Calibri" pitchFamily="34" charset="-122"/>
                <a:cs typeface="Calibri" pitchFamily="34" charset="-120"/>
              </a:rPr>
              <a:t>Candidates were scored after 3 epochs at 256 x 256, when segmentation gains come fastest. COA pushed the diagnosis weight to the 0.1 floor, a choice that does not survive full training.</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RESULTS  ·  PHASE 7 ABLATIONS</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Does Sharing One Encoder Help?</a:t>
            </a:r>
            <a:endParaRPr lang="en-US" sz="3000" dirty="0"/>
          </a:p>
        </p:txBody>
      </p:sp>
      <p:sp>
        <p:nvSpPr>
          <p:cNvPr id="7" name="Text 4"/>
          <p:cNvSpPr txBox="1"/>
          <p:nvPr/>
        </p:nvSpPr>
        <p:spPr>
          <a:xfrm>
            <a:off x="548640" y="1874520"/>
            <a:ext cx="6675120" cy="292608"/>
          </a:xfrm>
          <a:prstGeom prst="rect">
            <a:avLst/>
          </a:prstGeom>
          <a:noFill/>
          <a:ln/>
        </p:spPr>
        <p:txBody>
          <a:bodyPr wrap="square" lIns="0" tIns="0" rIns="0" bIns="0" rtlCol="0" anchor="t"/>
          <a:lstStyle/>
          <a:p>
            <a:pPr marL="0" indent="0">
              <a:buNone/>
            </a:pPr>
            <a:r>
              <a:rPr lang="en-US" sz="1300" b="1" dirty="0">
                <a:solidFill>
                  <a:srgbClr val="1A2233"/>
                </a:solidFill>
                <a:latin typeface="Calibri" pitchFamily="34" charset="0"/>
                <a:ea typeface="Calibri" pitchFamily="34" charset="-122"/>
                <a:cs typeface="Calibri" pitchFamily="34" charset="-120"/>
              </a:rPr>
              <a:t>Each task trained alone vs inside the multi-task model (test set)</a:t>
            </a:r>
            <a:endParaRPr lang="en-US" sz="1300" dirty="0"/>
          </a:p>
        </p:txBody>
      </p:sp>
      <p:graphicFrame>
        <p:nvGraphicFramePr>
          <p:cNvPr id="8" name="Chart 0"/>
          <p:cNvGraphicFramePr/>
          <p:nvPr/>
        </p:nvGraphicFramePr>
        <p:xfrm>
          <a:off x="548640" y="2194560"/>
          <a:ext cx="6675120" cy="397764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5"/>
          <p:cNvSpPr/>
          <p:nvPr/>
        </p:nvSpPr>
        <p:spPr>
          <a:xfrm>
            <a:off x="7543800" y="1920240"/>
            <a:ext cx="4096512" cy="4251960"/>
          </a:xfrm>
          <a:prstGeom prst="roundRect">
            <a:avLst>
              <a:gd name="adj" fmla="val 1339"/>
            </a:avLst>
          </a:prstGeom>
          <a:solidFill>
            <a:srgbClr val="F3F6F9"/>
          </a:solidFill>
          <a:ln w="9525">
            <a:solidFill>
              <a:srgbClr val="DCE3E8"/>
            </a:solidFill>
            <a:prstDash val="solid"/>
          </a:ln>
        </p:spPr>
      </p:sp>
      <p:sp>
        <p:nvSpPr>
          <p:cNvPr id="10" name="Text 6"/>
          <p:cNvSpPr txBox="1"/>
          <p:nvPr/>
        </p:nvSpPr>
        <p:spPr>
          <a:xfrm>
            <a:off x="7818120" y="2103120"/>
            <a:ext cx="3657600" cy="365760"/>
          </a:xfrm>
          <a:prstGeom prst="rect">
            <a:avLst/>
          </a:prstGeom>
          <a:noFill/>
          <a:ln/>
        </p:spPr>
        <p:txBody>
          <a:bodyPr wrap="square" lIns="0" tIns="0" rIns="0" bIns="0" rtlCol="0" anchor="t"/>
          <a:lstStyle/>
          <a:p>
            <a:pPr marL="0" indent="0">
              <a:buNone/>
            </a:pPr>
            <a:r>
              <a:rPr lang="en-US" sz="1600" b="1" dirty="0">
                <a:solidFill>
                  <a:srgbClr val="21295C"/>
                </a:solidFill>
                <a:latin typeface="Calibri" pitchFamily="34" charset="0"/>
                <a:ea typeface="Calibri" pitchFamily="34" charset="-122"/>
                <a:cs typeface="Calibri" pitchFamily="34" charset="-120"/>
              </a:rPr>
              <a:t>Effect of multi-task sharing</a:t>
            </a:r>
            <a:endParaRPr lang="en-US" sz="1600" dirty="0"/>
          </a:p>
        </p:txBody>
      </p:sp>
      <p:sp>
        <p:nvSpPr>
          <p:cNvPr id="11" name="Text 7"/>
          <p:cNvSpPr txBox="1"/>
          <p:nvPr/>
        </p:nvSpPr>
        <p:spPr>
          <a:xfrm>
            <a:off x="7818120" y="2560320"/>
            <a:ext cx="3657600" cy="457200"/>
          </a:xfrm>
          <a:prstGeom prst="rect">
            <a:avLst/>
          </a:prstGeom>
          <a:noFill/>
          <a:ln/>
        </p:spPr>
        <p:txBody>
          <a:bodyPr wrap="square" lIns="0" tIns="0" rIns="0" bIns="0" rtlCol="0" anchor="ctr"/>
          <a:lstStyle/>
          <a:p>
            <a:pPr marL="0" indent="0">
              <a:buNone/>
            </a:pPr>
            <a:r>
              <a:rPr lang="en-US" sz="2200" b="1" dirty="0">
                <a:solidFill>
                  <a:srgbClr val="2E7D5B"/>
                </a:solidFill>
                <a:latin typeface="Cambria" pitchFamily="34" charset="0"/>
                <a:ea typeface="Cambria" pitchFamily="34" charset="-122"/>
                <a:cs typeface="Cambria" pitchFamily="34" charset="-120"/>
              </a:rPr>
              <a:t>+0.058  </a:t>
            </a:r>
            <a:r>
              <a:rPr lang="en-US" sz="1300" dirty="0">
                <a:solidFill>
                  <a:srgbClr val="1A2233"/>
                </a:solidFill>
                <a:latin typeface="Calibri" pitchFamily="34" charset="0"/>
                <a:ea typeface="Calibri" pitchFamily="34" charset="-122"/>
                <a:cs typeface="Calibri" pitchFamily="34" charset="-120"/>
              </a:rPr>
              <a:t>diagnosis AUC with sharing</a:t>
            </a:r>
            <a:endParaRPr lang="en-US" sz="1400" dirty="0"/>
          </a:p>
        </p:txBody>
      </p:sp>
      <p:sp>
        <p:nvSpPr>
          <p:cNvPr id="12" name="Text 8"/>
          <p:cNvSpPr txBox="1"/>
          <p:nvPr/>
        </p:nvSpPr>
        <p:spPr>
          <a:xfrm>
            <a:off x="7818120" y="3063240"/>
            <a:ext cx="3657600" cy="457200"/>
          </a:xfrm>
          <a:prstGeom prst="rect">
            <a:avLst/>
          </a:prstGeom>
          <a:noFill/>
          <a:ln/>
        </p:spPr>
        <p:txBody>
          <a:bodyPr wrap="square" lIns="0" tIns="0" rIns="0" bIns="0" rtlCol="0" anchor="ctr"/>
          <a:lstStyle/>
          <a:p>
            <a:pPr marL="0" indent="0">
              <a:buNone/>
            </a:pPr>
            <a:r>
              <a:rPr lang="en-US" sz="2200" b="1" dirty="0">
                <a:solidFill>
                  <a:srgbClr val="B5483B"/>
                </a:solidFill>
                <a:latin typeface="Cambria" pitchFamily="34" charset="0"/>
                <a:ea typeface="Cambria" pitchFamily="34" charset="-122"/>
                <a:cs typeface="Cambria" pitchFamily="34" charset="-120"/>
              </a:rPr>
              <a:t>-0.021  </a:t>
            </a:r>
            <a:r>
              <a:rPr lang="en-US" sz="1300" dirty="0">
                <a:solidFill>
                  <a:srgbClr val="1A2233"/>
                </a:solidFill>
                <a:latin typeface="Calibri" pitchFamily="34" charset="0"/>
                <a:ea typeface="Calibri" pitchFamily="34" charset="-122"/>
                <a:cs typeface="Calibri" pitchFamily="34" charset="-120"/>
              </a:rPr>
              <a:t>kidney Dice with sharing</a:t>
            </a:r>
            <a:endParaRPr lang="en-US" sz="1400" dirty="0"/>
          </a:p>
        </p:txBody>
      </p:sp>
      <p:sp>
        <p:nvSpPr>
          <p:cNvPr id="13" name="Text 9"/>
          <p:cNvSpPr txBox="1"/>
          <p:nvPr/>
        </p:nvSpPr>
        <p:spPr>
          <a:xfrm>
            <a:off x="7818120" y="3566160"/>
            <a:ext cx="3657600" cy="457200"/>
          </a:xfrm>
          <a:prstGeom prst="rect">
            <a:avLst/>
          </a:prstGeom>
          <a:noFill/>
          <a:ln/>
        </p:spPr>
        <p:txBody>
          <a:bodyPr wrap="square" lIns="0" tIns="0" rIns="0" bIns="0" rtlCol="0" anchor="ctr"/>
          <a:lstStyle/>
          <a:p>
            <a:pPr marL="0" indent="0">
              <a:buNone/>
            </a:pPr>
            <a:r>
              <a:rPr lang="en-US" sz="2200" b="1" dirty="0">
                <a:solidFill>
                  <a:srgbClr val="B5483B"/>
                </a:solidFill>
                <a:latin typeface="Cambria" pitchFamily="34" charset="0"/>
                <a:ea typeface="Cambria" pitchFamily="34" charset="-122"/>
                <a:cs typeface="Cambria" pitchFamily="34" charset="-120"/>
              </a:rPr>
              <a:t>-0.008  </a:t>
            </a:r>
            <a:r>
              <a:rPr lang="en-US" sz="1300" dirty="0">
                <a:solidFill>
                  <a:srgbClr val="1A2233"/>
                </a:solidFill>
                <a:latin typeface="Calibri" pitchFamily="34" charset="0"/>
                <a:ea typeface="Calibri" pitchFamily="34" charset="-122"/>
                <a:cs typeface="Calibri" pitchFamily="34" charset="-120"/>
              </a:rPr>
              <a:t>lesion Dice with sharing</a:t>
            </a:r>
            <a:endParaRPr lang="en-US" sz="1400" dirty="0"/>
          </a:p>
        </p:txBody>
      </p:sp>
      <p:sp>
        <p:nvSpPr>
          <p:cNvPr id="14" name="Text 10"/>
          <p:cNvSpPr txBox="1"/>
          <p:nvPr/>
        </p:nvSpPr>
        <p:spPr>
          <a:xfrm>
            <a:off x="7818120" y="4160520"/>
            <a:ext cx="3611880" cy="192024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A2233"/>
                </a:solidFill>
                <a:latin typeface="Calibri" pitchFamily="34" charset="0"/>
                <a:ea typeface="Calibri" pitchFamily="34" charset="-122"/>
                <a:cs typeface="Calibri" pitchFamily="34" charset="-120"/>
              </a:rPr>
              <a:t>Sharing mainly strengthens classification</a:t>
            </a:r>
            <a:endParaRPr lang="en-US" sz="1400" dirty="0"/>
          </a:p>
          <a:p>
            <a:pPr marL="177800" indent="-177800">
              <a:spcAft>
                <a:spcPts val="700"/>
              </a:spcAft>
              <a:buSzPct val="100000"/>
              <a:buChar char="•"/>
            </a:pPr>
            <a:r>
              <a:rPr lang="en-US" sz="1250" dirty="0">
                <a:solidFill>
                  <a:srgbClr val="1A2233"/>
                </a:solidFill>
                <a:latin typeface="Calibri" pitchFamily="34" charset="0"/>
                <a:ea typeface="Calibri" pitchFamily="34" charset="-122"/>
                <a:cs typeface="Calibri" pitchFamily="34" charset="-120"/>
              </a:rPr>
              <a:t>Segmentation is marginally better trained alone</a:t>
            </a:r>
            <a:endParaRPr lang="en-US" sz="1400" dirty="0"/>
          </a:p>
          <a:p>
            <a:pPr marL="177800" indent="-177800">
              <a:spcAft>
                <a:spcPts val="700"/>
              </a:spcAft>
              <a:buSzPct val="100000"/>
              <a:buChar char="•"/>
            </a:pPr>
            <a:r>
              <a:rPr lang="en-US" sz="1250" dirty="0">
                <a:solidFill>
                  <a:srgbClr val="1A2233"/>
                </a:solidFill>
                <a:latin typeface="Calibri" pitchFamily="34" charset="0"/>
                <a:ea typeface="Calibri" pitchFamily="34" charset="-122"/>
                <a:cs typeface="Calibri" pitchFamily="34" charset="-120"/>
              </a:rPr>
              <a:t>One network replaces three single-task models</a:t>
            </a:r>
            <a:endParaRPr lang="en-US" sz="1400" dirty="0"/>
          </a:p>
          <a:p>
            <a:pPr marL="177800" indent="-177800">
              <a:spcAft>
                <a:spcPts val="700"/>
              </a:spcAft>
              <a:buSzPct val="100000"/>
              <a:buChar char="•"/>
            </a:pPr>
            <a:r>
              <a:rPr lang="en-US" sz="1250" dirty="0">
                <a:solidFill>
                  <a:srgbClr val="1A2233"/>
                </a:solidFill>
                <a:latin typeface="Calibri" pitchFamily="34" charset="0"/>
                <a:ea typeface="Calibri" pitchFamily="34" charset="-122"/>
                <a:cs typeface="Calibri" pitchFamily="34" charset="-120"/>
              </a:rPr>
              <a:t>Single seed: gaps of about 0.01 need Phase 8 confirmation</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RESULTS  ·  LOCAL PATHOLOGY</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Per-Category Performance and Its Limits</a:t>
            </a:r>
            <a:endParaRPr lang="en-US" sz="3000" dirty="0"/>
          </a:p>
        </p:txBody>
      </p:sp>
      <p:sp>
        <p:nvSpPr>
          <p:cNvPr id="7" name="Text 4"/>
          <p:cNvSpPr txBox="1"/>
          <p:nvPr/>
        </p:nvSpPr>
        <p:spPr>
          <a:xfrm>
            <a:off x="548640" y="1874520"/>
            <a:ext cx="7772400" cy="292608"/>
          </a:xfrm>
          <a:prstGeom prst="rect">
            <a:avLst/>
          </a:prstGeom>
          <a:noFill/>
          <a:ln/>
        </p:spPr>
        <p:txBody>
          <a:bodyPr wrap="square" lIns="0" tIns="0" rIns="0" bIns="0" rtlCol="0" anchor="t"/>
          <a:lstStyle/>
          <a:p>
            <a:pPr marL="0" indent="0">
              <a:buNone/>
            </a:pPr>
            <a:r>
              <a:rPr lang="en-US" sz="1300" b="1" dirty="0">
                <a:solidFill>
                  <a:srgbClr val="1A2233"/>
                </a:solidFill>
                <a:latin typeface="Calibri" pitchFamily="34" charset="0"/>
                <a:ea typeface="Calibri" pitchFamily="34" charset="-122"/>
                <a:cs typeface="Calibri" pitchFamily="34" charset="-120"/>
              </a:rPr>
              <a:t>Local pathology AUC by category (number of test images with that category in brackets)</a:t>
            </a:r>
            <a:endParaRPr lang="en-US" sz="1300" dirty="0"/>
          </a:p>
        </p:txBody>
      </p:sp>
      <p:graphicFrame>
        <p:nvGraphicFramePr>
          <p:cNvPr id="8" name="Chart 0"/>
          <p:cNvGraphicFramePr/>
          <p:nvPr/>
        </p:nvGraphicFramePr>
        <p:xfrm>
          <a:off x="548640" y="2194560"/>
          <a:ext cx="7772400" cy="397764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5"/>
          <p:cNvSpPr/>
          <p:nvPr/>
        </p:nvSpPr>
        <p:spPr>
          <a:xfrm>
            <a:off x="8595360" y="1920240"/>
            <a:ext cx="3044952" cy="4251960"/>
          </a:xfrm>
          <a:prstGeom prst="roundRect">
            <a:avLst>
              <a:gd name="adj" fmla="val 1802"/>
            </a:avLst>
          </a:prstGeom>
          <a:solidFill>
            <a:srgbClr val="F3F6F9"/>
          </a:solidFill>
          <a:ln w="9525">
            <a:solidFill>
              <a:srgbClr val="DCE3E8"/>
            </a:solidFill>
            <a:prstDash val="solid"/>
          </a:ln>
        </p:spPr>
      </p:sp>
      <p:sp>
        <p:nvSpPr>
          <p:cNvPr id="10" name="Text 6"/>
          <p:cNvSpPr txBox="1"/>
          <p:nvPr/>
        </p:nvSpPr>
        <p:spPr>
          <a:xfrm>
            <a:off x="8823960" y="2103120"/>
            <a:ext cx="2651760" cy="365760"/>
          </a:xfrm>
          <a:prstGeom prst="rect">
            <a:avLst/>
          </a:prstGeom>
          <a:noFill/>
          <a:ln/>
        </p:spPr>
        <p:txBody>
          <a:bodyPr wrap="square" lIns="0" tIns="0" rIns="0" bIns="0" rtlCol="0" anchor="t"/>
          <a:lstStyle/>
          <a:p>
            <a:pPr marL="0" indent="0">
              <a:buNone/>
            </a:pPr>
            <a:r>
              <a:rPr lang="en-US" sz="1600" b="1" dirty="0">
                <a:solidFill>
                  <a:srgbClr val="21295C"/>
                </a:solidFill>
                <a:latin typeface="Calibri" pitchFamily="34" charset="0"/>
                <a:ea typeface="Calibri" pitchFamily="34" charset="-122"/>
                <a:cs typeface="Calibri" pitchFamily="34" charset="-120"/>
              </a:rPr>
              <a:t>How to read this</a:t>
            </a:r>
            <a:endParaRPr lang="en-US" sz="1600" dirty="0"/>
          </a:p>
        </p:txBody>
      </p:sp>
      <p:sp>
        <p:nvSpPr>
          <p:cNvPr id="11" name="Text 7"/>
          <p:cNvSpPr txBox="1"/>
          <p:nvPr/>
        </p:nvSpPr>
        <p:spPr>
          <a:xfrm>
            <a:off x="8823960" y="2560320"/>
            <a:ext cx="2651760" cy="352044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1A2233"/>
                </a:solidFill>
                <a:latin typeface="Calibri" pitchFamily="34" charset="0"/>
                <a:ea typeface="Calibri" pitchFamily="34" charset="-122"/>
                <a:cs typeface="Calibri" pitchFamily="34" charset="-120"/>
              </a:rPr>
              <a:t>AUC 0.5 is chance level</a:t>
            </a:r>
            <a:endParaRPr lang="en-US" sz="1400" dirty="0"/>
          </a:p>
          <a:p>
            <a:pPr marL="177800" indent="-177800">
              <a:spcAft>
                <a:spcPts val="800"/>
              </a:spcAft>
              <a:buSzPct val="100000"/>
              <a:buChar char="•"/>
            </a:pPr>
            <a:r>
              <a:rPr lang="en-US" sz="1250" dirty="0">
                <a:solidFill>
                  <a:srgbClr val="1A2233"/>
                </a:solidFill>
                <a:latin typeface="Calibri" pitchFamily="34" charset="0"/>
                <a:ea typeface="Calibri" pitchFamily="34" charset="-122"/>
                <a:cs typeface="Calibri" pitchFamily="34" charset="-120"/>
              </a:rPr>
              <a:t>Common categories 2 and 7 (97 and 65 test images) are strong</a:t>
            </a:r>
            <a:endParaRPr lang="en-US" sz="1400" dirty="0"/>
          </a:p>
          <a:p>
            <a:pPr marL="177800" indent="-177800">
              <a:spcAft>
                <a:spcPts val="800"/>
              </a:spcAft>
              <a:buSzPct val="100000"/>
              <a:buChar char="•"/>
            </a:pPr>
            <a:r>
              <a:rPr lang="en-US" sz="1250" dirty="0">
                <a:solidFill>
                  <a:srgbClr val="1A2233"/>
                </a:solidFill>
                <a:latin typeface="Calibri" pitchFamily="34" charset="0"/>
                <a:ea typeface="Calibri" pitchFamily="34" charset="-122"/>
                <a:cs typeface="Calibri" pitchFamily="34" charset="-120"/>
              </a:rPr>
              <a:t>Categories 8 and 9 are weakest</a:t>
            </a:r>
            <a:endParaRPr lang="en-US" sz="1400" dirty="0"/>
          </a:p>
          <a:p>
            <a:pPr marL="177800" indent="-177800">
              <a:spcAft>
                <a:spcPts val="800"/>
              </a:spcAft>
              <a:buSzPct val="100000"/>
              <a:buChar char="•"/>
            </a:pPr>
            <a:r>
              <a:rPr lang="en-US" sz="1250" dirty="0">
                <a:solidFill>
                  <a:srgbClr val="1A2233"/>
                </a:solidFill>
                <a:latin typeface="Calibri" pitchFamily="34" charset="0"/>
                <a:ea typeface="Calibri" pitchFamily="34" charset="-122"/>
                <a:cs typeface="Calibri" pitchFamily="34" charset="-120"/>
              </a:rPr>
              <a:t>Categories 5 and 6 have 4 and 2 test images: their AUCs are not reliable</a:t>
            </a:r>
            <a:endParaRPr lang="en-US" sz="1400" dirty="0"/>
          </a:p>
          <a:p>
            <a:pPr marL="177800" indent="-177800">
              <a:spcAft>
                <a:spcPts val="800"/>
              </a:spcAft>
              <a:buSzPct val="100000"/>
              <a:buChar char="•"/>
            </a:pPr>
            <a:r>
              <a:rPr lang="en-US" sz="1250" dirty="0">
                <a:solidFill>
                  <a:srgbClr val="1A2233"/>
                </a:solidFill>
                <a:latin typeface="Calibri" pitchFamily="34" charset="0"/>
                <a:ea typeface="Calibri" pitchFamily="34" charset="-122"/>
                <a:cs typeface="Calibri" pitchFamily="34" charset="-120"/>
              </a:rPr>
              <a:t>Report per-category counts alongside the mean</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STATUS</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Where the Project Stands</a:t>
            </a:r>
            <a:endParaRPr lang="en-US" sz="3000" dirty="0"/>
          </a:p>
        </p:txBody>
      </p:sp>
      <p:sp>
        <p:nvSpPr>
          <p:cNvPr id="7" name="Shape 4"/>
          <p:cNvSpPr/>
          <p:nvPr/>
        </p:nvSpPr>
        <p:spPr>
          <a:xfrm>
            <a:off x="548640" y="1874520"/>
            <a:ext cx="3566160" cy="1207008"/>
          </a:xfrm>
          <a:prstGeom prst="roundRect">
            <a:avLst>
              <a:gd name="adj" fmla="val 4545"/>
            </a:avLst>
          </a:prstGeom>
          <a:solidFill>
            <a:srgbClr val="F3F6F9"/>
          </a:solidFill>
          <a:ln w="9525">
            <a:solidFill>
              <a:srgbClr val="DCE3E8"/>
            </a:solidFill>
            <a:prstDash val="solid"/>
          </a:ln>
        </p:spPr>
      </p:sp>
      <p:sp>
        <p:nvSpPr>
          <p:cNvPr id="8" name="Text 5"/>
          <p:cNvSpPr txBox="1"/>
          <p:nvPr/>
        </p:nvSpPr>
        <p:spPr>
          <a:xfrm>
            <a:off x="777240" y="2011680"/>
            <a:ext cx="1371600" cy="274320"/>
          </a:xfrm>
          <a:prstGeom prst="rect">
            <a:avLst/>
          </a:prstGeom>
          <a:noFill/>
          <a:ln/>
        </p:spPr>
        <p:txBody>
          <a:bodyPr wrap="square" lIns="0" tIns="0" rIns="0" bIns="0" rtlCol="0" anchor="t"/>
          <a:lstStyle/>
          <a:p>
            <a:pPr marL="0" indent="0">
              <a:buNone/>
            </a:pPr>
            <a:r>
              <a:rPr lang="en-US" sz="1100" b="1" kern="0" spc="200" dirty="0">
                <a:solidFill>
                  <a:srgbClr val="1C7293"/>
                </a:solidFill>
                <a:latin typeface="Calibri" pitchFamily="34" charset="0"/>
                <a:ea typeface="Calibri" pitchFamily="34" charset="-122"/>
                <a:cs typeface="Calibri" pitchFamily="34" charset="-120"/>
              </a:rPr>
              <a:t>PHASE 1</a:t>
            </a:r>
            <a:endParaRPr lang="en-US" sz="1100" dirty="0"/>
          </a:p>
        </p:txBody>
      </p:sp>
      <p:sp>
        <p:nvSpPr>
          <p:cNvPr id="9" name="Shape 6"/>
          <p:cNvSpPr/>
          <p:nvPr/>
        </p:nvSpPr>
        <p:spPr>
          <a:xfrm>
            <a:off x="3154680" y="2002536"/>
            <a:ext cx="731520" cy="274320"/>
          </a:xfrm>
          <a:prstGeom prst="roundRect">
            <a:avLst>
              <a:gd name="adj" fmla="val 20000"/>
            </a:avLst>
          </a:prstGeom>
          <a:solidFill>
            <a:srgbClr val="E6F2EC"/>
          </a:solidFill>
          <a:ln/>
        </p:spPr>
      </p:sp>
      <p:sp>
        <p:nvSpPr>
          <p:cNvPr id="10" name="Text 7"/>
          <p:cNvSpPr txBox="1"/>
          <p:nvPr/>
        </p:nvSpPr>
        <p:spPr>
          <a:xfrm>
            <a:off x="3154680" y="2002536"/>
            <a:ext cx="731520" cy="274320"/>
          </a:xfrm>
          <a:prstGeom prst="rect">
            <a:avLst/>
          </a:prstGeom>
          <a:noFill/>
          <a:ln/>
        </p:spPr>
        <p:txBody>
          <a:bodyPr wrap="square" lIns="0" tIns="0" rIns="0" bIns="0" rtlCol="0" anchor="ctr"/>
          <a:lstStyle/>
          <a:p>
            <a:pPr marL="0" indent="0" algn="ctr">
              <a:buNone/>
            </a:pPr>
            <a:r>
              <a:rPr lang="en-US" sz="1000" b="1" dirty="0">
                <a:solidFill>
                  <a:srgbClr val="2E7D5B"/>
                </a:solidFill>
                <a:latin typeface="Calibri" pitchFamily="34" charset="0"/>
                <a:ea typeface="Calibri" pitchFamily="34" charset="-122"/>
                <a:cs typeface="Calibri" pitchFamily="34" charset="-120"/>
              </a:rPr>
              <a:t>COMPLETE</a:t>
            </a:r>
            <a:endParaRPr lang="en-US" sz="1000" dirty="0"/>
          </a:p>
        </p:txBody>
      </p:sp>
      <p:sp>
        <p:nvSpPr>
          <p:cNvPr id="11" name="Text 8"/>
          <p:cNvSpPr txBox="1"/>
          <p:nvPr/>
        </p:nvSpPr>
        <p:spPr>
          <a:xfrm>
            <a:off x="777240" y="2304288"/>
            <a:ext cx="3154680" cy="329184"/>
          </a:xfrm>
          <a:prstGeom prst="rect">
            <a:avLst/>
          </a:prstGeom>
          <a:noFill/>
          <a:ln/>
        </p:spPr>
        <p:txBody>
          <a:bodyPr wrap="square" lIns="0" tIns="0" rIns="0" bIns="0" rtlCol="0" anchor="t"/>
          <a:lstStyle/>
          <a:p>
            <a:pPr marL="0" indent="0">
              <a:buNone/>
            </a:pPr>
            <a:r>
              <a:rPr lang="en-US" sz="1500" b="1" dirty="0">
                <a:solidFill>
                  <a:srgbClr val="1A2233"/>
                </a:solidFill>
                <a:latin typeface="Calibri" pitchFamily="34" charset="0"/>
                <a:ea typeface="Calibri" pitchFamily="34" charset="-122"/>
                <a:cs typeface="Calibri" pitchFamily="34" charset="-120"/>
              </a:rPr>
              <a:t>Data pipeline</a:t>
            </a:r>
            <a:endParaRPr lang="en-US" sz="1500" dirty="0"/>
          </a:p>
        </p:txBody>
      </p:sp>
      <p:sp>
        <p:nvSpPr>
          <p:cNvPr id="12" name="Text 9"/>
          <p:cNvSpPr txBox="1"/>
          <p:nvPr/>
        </p:nvSpPr>
        <p:spPr>
          <a:xfrm>
            <a:off x="777240" y="2633472"/>
            <a:ext cx="3154680" cy="365760"/>
          </a:xfrm>
          <a:prstGeom prst="rect">
            <a:avLst/>
          </a:prstGeom>
          <a:noFill/>
          <a:ln/>
        </p:spPr>
        <p:txBody>
          <a:bodyPr wrap="square" lIns="0" tIns="0" rIns="0" bIns="0" rtlCol="0" anchor="t"/>
          <a:lstStyle/>
          <a:p>
            <a:pPr marL="0" indent="0">
              <a:buNone/>
            </a:pPr>
            <a:r>
              <a:rPr lang="en-US" sz="1150" dirty="0">
                <a:solidFill>
                  <a:srgbClr val="5B6B79"/>
                </a:solidFill>
                <a:latin typeface="Calibri" pitchFamily="34" charset="0"/>
                <a:ea typeface="Calibri" pitchFamily="34" charset="-122"/>
                <a:cs typeface="Calibri" pitchFamily="34" charset="-120"/>
              </a:rPr>
              <a:t>Ingestion, masks, lesion parsing, stratified split</a:t>
            </a:r>
            <a:endParaRPr lang="en-US" sz="1150" dirty="0"/>
          </a:p>
        </p:txBody>
      </p:sp>
      <p:sp>
        <p:nvSpPr>
          <p:cNvPr id="13" name="Shape 10"/>
          <p:cNvSpPr/>
          <p:nvPr/>
        </p:nvSpPr>
        <p:spPr>
          <a:xfrm>
            <a:off x="4311396" y="1874520"/>
            <a:ext cx="3566160" cy="1207008"/>
          </a:xfrm>
          <a:prstGeom prst="roundRect">
            <a:avLst>
              <a:gd name="adj" fmla="val 4545"/>
            </a:avLst>
          </a:prstGeom>
          <a:solidFill>
            <a:srgbClr val="F3F6F9"/>
          </a:solidFill>
          <a:ln w="9525">
            <a:solidFill>
              <a:srgbClr val="DCE3E8"/>
            </a:solidFill>
            <a:prstDash val="solid"/>
          </a:ln>
        </p:spPr>
      </p:sp>
      <p:sp>
        <p:nvSpPr>
          <p:cNvPr id="14" name="Text 11"/>
          <p:cNvSpPr txBox="1"/>
          <p:nvPr/>
        </p:nvSpPr>
        <p:spPr>
          <a:xfrm>
            <a:off x="4539996" y="2011680"/>
            <a:ext cx="1371600" cy="274320"/>
          </a:xfrm>
          <a:prstGeom prst="rect">
            <a:avLst/>
          </a:prstGeom>
          <a:noFill/>
          <a:ln/>
        </p:spPr>
        <p:txBody>
          <a:bodyPr wrap="square" lIns="0" tIns="0" rIns="0" bIns="0" rtlCol="0" anchor="t"/>
          <a:lstStyle/>
          <a:p>
            <a:pPr marL="0" indent="0">
              <a:buNone/>
            </a:pPr>
            <a:r>
              <a:rPr lang="en-US" sz="1100" b="1" kern="0" spc="200" dirty="0">
                <a:solidFill>
                  <a:srgbClr val="1C7293"/>
                </a:solidFill>
                <a:latin typeface="Calibri" pitchFamily="34" charset="0"/>
                <a:ea typeface="Calibri" pitchFamily="34" charset="-122"/>
                <a:cs typeface="Calibri" pitchFamily="34" charset="-120"/>
              </a:rPr>
              <a:t>PHASE 2</a:t>
            </a:r>
            <a:endParaRPr lang="en-US" sz="1100" dirty="0"/>
          </a:p>
        </p:txBody>
      </p:sp>
      <p:sp>
        <p:nvSpPr>
          <p:cNvPr id="15" name="Shape 12"/>
          <p:cNvSpPr/>
          <p:nvPr/>
        </p:nvSpPr>
        <p:spPr>
          <a:xfrm>
            <a:off x="6917436" y="2002536"/>
            <a:ext cx="731520" cy="274320"/>
          </a:xfrm>
          <a:prstGeom prst="roundRect">
            <a:avLst>
              <a:gd name="adj" fmla="val 20000"/>
            </a:avLst>
          </a:prstGeom>
          <a:solidFill>
            <a:srgbClr val="E6F2EC"/>
          </a:solidFill>
          <a:ln/>
        </p:spPr>
      </p:sp>
      <p:sp>
        <p:nvSpPr>
          <p:cNvPr id="16" name="Text 13"/>
          <p:cNvSpPr txBox="1"/>
          <p:nvPr/>
        </p:nvSpPr>
        <p:spPr>
          <a:xfrm>
            <a:off x="6917436" y="2002536"/>
            <a:ext cx="731520" cy="274320"/>
          </a:xfrm>
          <a:prstGeom prst="rect">
            <a:avLst/>
          </a:prstGeom>
          <a:noFill/>
          <a:ln/>
        </p:spPr>
        <p:txBody>
          <a:bodyPr wrap="square" lIns="0" tIns="0" rIns="0" bIns="0" rtlCol="0" anchor="ctr"/>
          <a:lstStyle/>
          <a:p>
            <a:pPr marL="0" indent="0" algn="ctr">
              <a:buNone/>
            </a:pPr>
            <a:r>
              <a:rPr lang="en-US" sz="1000" b="1" dirty="0">
                <a:solidFill>
                  <a:srgbClr val="2E7D5B"/>
                </a:solidFill>
                <a:latin typeface="Calibri" pitchFamily="34" charset="0"/>
                <a:ea typeface="Calibri" pitchFamily="34" charset="-122"/>
                <a:cs typeface="Calibri" pitchFamily="34" charset="-120"/>
              </a:rPr>
              <a:t>COMPLETE</a:t>
            </a:r>
            <a:endParaRPr lang="en-US" sz="1000" dirty="0"/>
          </a:p>
        </p:txBody>
      </p:sp>
      <p:sp>
        <p:nvSpPr>
          <p:cNvPr id="17" name="Text 14"/>
          <p:cNvSpPr txBox="1"/>
          <p:nvPr/>
        </p:nvSpPr>
        <p:spPr>
          <a:xfrm>
            <a:off x="4539996" y="2304288"/>
            <a:ext cx="3154680" cy="329184"/>
          </a:xfrm>
          <a:prstGeom prst="rect">
            <a:avLst/>
          </a:prstGeom>
          <a:noFill/>
          <a:ln/>
        </p:spPr>
        <p:txBody>
          <a:bodyPr wrap="square" lIns="0" tIns="0" rIns="0" bIns="0" rtlCol="0" anchor="t"/>
          <a:lstStyle/>
          <a:p>
            <a:pPr marL="0" indent="0">
              <a:buNone/>
            </a:pPr>
            <a:r>
              <a:rPr lang="en-US" sz="1500" b="1" dirty="0">
                <a:solidFill>
                  <a:srgbClr val="1A2233"/>
                </a:solidFill>
                <a:latin typeface="Calibri" pitchFamily="34" charset="0"/>
                <a:ea typeface="Calibri" pitchFamily="34" charset="-122"/>
                <a:cs typeface="Calibri" pitchFamily="34" charset="-120"/>
              </a:rPr>
              <a:t>Fixed-weight baseline</a:t>
            </a:r>
            <a:endParaRPr lang="en-US" sz="1500" dirty="0"/>
          </a:p>
        </p:txBody>
      </p:sp>
      <p:sp>
        <p:nvSpPr>
          <p:cNvPr id="18" name="Text 15"/>
          <p:cNvSpPr txBox="1"/>
          <p:nvPr/>
        </p:nvSpPr>
        <p:spPr>
          <a:xfrm>
            <a:off x="4539996" y="2633472"/>
            <a:ext cx="3154680" cy="365760"/>
          </a:xfrm>
          <a:prstGeom prst="rect">
            <a:avLst/>
          </a:prstGeom>
          <a:noFill/>
          <a:ln/>
        </p:spPr>
        <p:txBody>
          <a:bodyPr wrap="square" lIns="0" tIns="0" rIns="0" bIns="0" rtlCol="0" anchor="t"/>
          <a:lstStyle/>
          <a:p>
            <a:pPr marL="0" indent="0">
              <a:buNone/>
            </a:pPr>
            <a:r>
              <a:rPr lang="en-US" sz="1150" dirty="0">
                <a:solidFill>
                  <a:srgbClr val="5B6B79"/>
                </a:solidFill>
                <a:latin typeface="Calibri" pitchFamily="34" charset="0"/>
                <a:ea typeface="Calibri" pitchFamily="34" charset="-122"/>
                <a:cs typeface="Calibri" pitchFamily="34" charset="-120"/>
              </a:rPr>
              <a:t>Diagnosis AUC 0.901, kidney Dice 0.899</a:t>
            </a:r>
            <a:endParaRPr lang="en-US" sz="1150" dirty="0"/>
          </a:p>
        </p:txBody>
      </p:sp>
      <p:sp>
        <p:nvSpPr>
          <p:cNvPr id="19" name="Shape 16"/>
          <p:cNvSpPr/>
          <p:nvPr/>
        </p:nvSpPr>
        <p:spPr>
          <a:xfrm>
            <a:off x="8074152" y="1874520"/>
            <a:ext cx="3566160" cy="1207008"/>
          </a:xfrm>
          <a:prstGeom prst="roundRect">
            <a:avLst>
              <a:gd name="adj" fmla="val 4545"/>
            </a:avLst>
          </a:prstGeom>
          <a:solidFill>
            <a:srgbClr val="F3F6F9"/>
          </a:solidFill>
          <a:ln w="9525">
            <a:solidFill>
              <a:srgbClr val="DCE3E8"/>
            </a:solidFill>
            <a:prstDash val="solid"/>
          </a:ln>
        </p:spPr>
      </p:sp>
      <p:sp>
        <p:nvSpPr>
          <p:cNvPr id="20" name="Text 17"/>
          <p:cNvSpPr txBox="1"/>
          <p:nvPr/>
        </p:nvSpPr>
        <p:spPr>
          <a:xfrm>
            <a:off x="8302752" y="2011680"/>
            <a:ext cx="1371600" cy="274320"/>
          </a:xfrm>
          <a:prstGeom prst="rect">
            <a:avLst/>
          </a:prstGeom>
          <a:noFill/>
          <a:ln/>
        </p:spPr>
        <p:txBody>
          <a:bodyPr wrap="square" lIns="0" tIns="0" rIns="0" bIns="0" rtlCol="0" anchor="t"/>
          <a:lstStyle/>
          <a:p>
            <a:pPr marL="0" indent="0">
              <a:buNone/>
            </a:pPr>
            <a:r>
              <a:rPr lang="en-US" sz="1100" b="1" kern="0" spc="200" dirty="0">
                <a:solidFill>
                  <a:srgbClr val="1C7293"/>
                </a:solidFill>
                <a:latin typeface="Calibri" pitchFamily="34" charset="0"/>
                <a:ea typeface="Calibri" pitchFamily="34" charset="-122"/>
                <a:cs typeface="Calibri" pitchFamily="34" charset="-120"/>
              </a:rPr>
              <a:t>PHASE 3</a:t>
            </a:r>
            <a:endParaRPr lang="en-US" sz="1100" dirty="0"/>
          </a:p>
        </p:txBody>
      </p:sp>
      <p:sp>
        <p:nvSpPr>
          <p:cNvPr id="21" name="Shape 18"/>
          <p:cNvSpPr/>
          <p:nvPr/>
        </p:nvSpPr>
        <p:spPr>
          <a:xfrm>
            <a:off x="10680192" y="2002536"/>
            <a:ext cx="731520" cy="274320"/>
          </a:xfrm>
          <a:prstGeom prst="roundRect">
            <a:avLst>
              <a:gd name="adj" fmla="val 20000"/>
            </a:avLst>
          </a:prstGeom>
          <a:solidFill>
            <a:srgbClr val="E6F2EC"/>
          </a:solidFill>
          <a:ln/>
        </p:spPr>
      </p:sp>
      <p:sp>
        <p:nvSpPr>
          <p:cNvPr id="22" name="Text 19"/>
          <p:cNvSpPr txBox="1"/>
          <p:nvPr/>
        </p:nvSpPr>
        <p:spPr>
          <a:xfrm>
            <a:off x="10680192" y="2002536"/>
            <a:ext cx="731520" cy="274320"/>
          </a:xfrm>
          <a:prstGeom prst="rect">
            <a:avLst/>
          </a:prstGeom>
          <a:noFill/>
          <a:ln/>
        </p:spPr>
        <p:txBody>
          <a:bodyPr wrap="square" lIns="0" tIns="0" rIns="0" bIns="0" rtlCol="0" anchor="ctr"/>
          <a:lstStyle/>
          <a:p>
            <a:pPr marL="0" indent="0" algn="ctr">
              <a:buNone/>
            </a:pPr>
            <a:r>
              <a:rPr lang="en-US" sz="1000" b="1" dirty="0">
                <a:solidFill>
                  <a:srgbClr val="2E7D5B"/>
                </a:solidFill>
                <a:latin typeface="Calibri" pitchFamily="34" charset="0"/>
                <a:ea typeface="Calibri" pitchFamily="34" charset="-122"/>
                <a:cs typeface="Calibri" pitchFamily="34" charset="-120"/>
              </a:rPr>
              <a:t>COMPLETE</a:t>
            </a:r>
            <a:endParaRPr lang="en-US" sz="1000" dirty="0"/>
          </a:p>
        </p:txBody>
      </p:sp>
      <p:sp>
        <p:nvSpPr>
          <p:cNvPr id="23" name="Text 20"/>
          <p:cNvSpPr txBox="1"/>
          <p:nvPr/>
        </p:nvSpPr>
        <p:spPr>
          <a:xfrm>
            <a:off x="8302752" y="2304288"/>
            <a:ext cx="3154680" cy="329184"/>
          </a:xfrm>
          <a:prstGeom prst="rect">
            <a:avLst/>
          </a:prstGeom>
          <a:noFill/>
          <a:ln/>
        </p:spPr>
        <p:txBody>
          <a:bodyPr wrap="square" lIns="0" tIns="0" rIns="0" bIns="0" rtlCol="0" anchor="t"/>
          <a:lstStyle/>
          <a:p>
            <a:pPr marL="0" indent="0">
              <a:buNone/>
            </a:pPr>
            <a:r>
              <a:rPr lang="en-US" sz="1500" b="1" dirty="0">
                <a:solidFill>
                  <a:srgbClr val="1A2233"/>
                </a:solidFill>
                <a:latin typeface="Calibri" pitchFamily="34" charset="0"/>
                <a:ea typeface="Calibri" pitchFamily="34" charset="-122"/>
                <a:cs typeface="Calibri" pitchFamily="34" charset="-120"/>
              </a:rPr>
              <a:t>Hand-picked enhancement</a:t>
            </a:r>
            <a:endParaRPr lang="en-US" sz="1500" dirty="0"/>
          </a:p>
        </p:txBody>
      </p:sp>
      <p:sp>
        <p:nvSpPr>
          <p:cNvPr id="24" name="Text 21"/>
          <p:cNvSpPr txBox="1"/>
          <p:nvPr/>
        </p:nvSpPr>
        <p:spPr>
          <a:xfrm>
            <a:off x="8302752" y="2633472"/>
            <a:ext cx="3154680" cy="365760"/>
          </a:xfrm>
          <a:prstGeom prst="rect">
            <a:avLst/>
          </a:prstGeom>
          <a:noFill/>
          <a:ln/>
        </p:spPr>
        <p:txBody>
          <a:bodyPr wrap="square" lIns="0" tIns="0" rIns="0" bIns="0" rtlCol="0" anchor="t"/>
          <a:lstStyle/>
          <a:p>
            <a:pPr marL="0" indent="0">
              <a:buNone/>
            </a:pPr>
            <a:r>
              <a:rPr lang="en-US" sz="1150" dirty="0">
                <a:solidFill>
                  <a:srgbClr val="5B6B79"/>
                </a:solidFill>
                <a:latin typeface="Calibri" pitchFamily="34" charset="0"/>
                <a:ea typeface="Calibri" pitchFamily="34" charset="-122"/>
                <a:cs typeface="Calibri" pitchFamily="34" charset="-120"/>
              </a:rPr>
              <a:t>Rerun at matched 15 epochs</a:t>
            </a:r>
            <a:endParaRPr lang="en-US" sz="1150" dirty="0"/>
          </a:p>
        </p:txBody>
      </p:sp>
      <p:sp>
        <p:nvSpPr>
          <p:cNvPr id="25" name="Shape 22"/>
          <p:cNvSpPr/>
          <p:nvPr/>
        </p:nvSpPr>
        <p:spPr>
          <a:xfrm>
            <a:off x="548640" y="3246120"/>
            <a:ext cx="3566160" cy="1207008"/>
          </a:xfrm>
          <a:prstGeom prst="roundRect">
            <a:avLst>
              <a:gd name="adj" fmla="val 4545"/>
            </a:avLst>
          </a:prstGeom>
          <a:solidFill>
            <a:srgbClr val="F3F6F9"/>
          </a:solidFill>
          <a:ln w="9525">
            <a:solidFill>
              <a:srgbClr val="DCE3E8"/>
            </a:solidFill>
            <a:prstDash val="solid"/>
          </a:ln>
        </p:spPr>
      </p:sp>
      <p:sp>
        <p:nvSpPr>
          <p:cNvPr id="26" name="Text 23"/>
          <p:cNvSpPr txBox="1"/>
          <p:nvPr/>
        </p:nvSpPr>
        <p:spPr>
          <a:xfrm>
            <a:off x="777240" y="3383280"/>
            <a:ext cx="1371600" cy="274320"/>
          </a:xfrm>
          <a:prstGeom prst="rect">
            <a:avLst/>
          </a:prstGeom>
          <a:noFill/>
          <a:ln/>
        </p:spPr>
        <p:txBody>
          <a:bodyPr wrap="square" lIns="0" tIns="0" rIns="0" bIns="0" rtlCol="0" anchor="t"/>
          <a:lstStyle/>
          <a:p>
            <a:pPr marL="0" indent="0">
              <a:buNone/>
            </a:pPr>
            <a:r>
              <a:rPr lang="en-US" sz="1100" b="1" kern="0" spc="200" dirty="0">
                <a:solidFill>
                  <a:srgbClr val="1C7293"/>
                </a:solidFill>
                <a:latin typeface="Calibri" pitchFamily="34" charset="0"/>
                <a:ea typeface="Calibri" pitchFamily="34" charset="-122"/>
                <a:cs typeface="Calibri" pitchFamily="34" charset="-120"/>
              </a:rPr>
              <a:t>PHASE 4</a:t>
            </a:r>
            <a:endParaRPr lang="en-US" sz="1100" dirty="0"/>
          </a:p>
        </p:txBody>
      </p:sp>
      <p:sp>
        <p:nvSpPr>
          <p:cNvPr id="27" name="Shape 24"/>
          <p:cNvSpPr/>
          <p:nvPr/>
        </p:nvSpPr>
        <p:spPr>
          <a:xfrm>
            <a:off x="3154680" y="3374136"/>
            <a:ext cx="731520" cy="274320"/>
          </a:xfrm>
          <a:prstGeom prst="roundRect">
            <a:avLst>
              <a:gd name="adj" fmla="val 20000"/>
            </a:avLst>
          </a:prstGeom>
          <a:solidFill>
            <a:srgbClr val="E6F2EC"/>
          </a:solidFill>
          <a:ln/>
        </p:spPr>
      </p:sp>
      <p:sp>
        <p:nvSpPr>
          <p:cNvPr id="28" name="Text 25"/>
          <p:cNvSpPr txBox="1"/>
          <p:nvPr/>
        </p:nvSpPr>
        <p:spPr>
          <a:xfrm>
            <a:off x="3154680" y="3374136"/>
            <a:ext cx="731520" cy="274320"/>
          </a:xfrm>
          <a:prstGeom prst="rect">
            <a:avLst/>
          </a:prstGeom>
          <a:noFill/>
          <a:ln/>
        </p:spPr>
        <p:txBody>
          <a:bodyPr wrap="square" lIns="0" tIns="0" rIns="0" bIns="0" rtlCol="0" anchor="ctr"/>
          <a:lstStyle/>
          <a:p>
            <a:pPr marL="0" indent="0" algn="ctr">
              <a:buNone/>
            </a:pPr>
            <a:r>
              <a:rPr lang="en-US" sz="1000" b="1" dirty="0">
                <a:solidFill>
                  <a:srgbClr val="2E7D5B"/>
                </a:solidFill>
                <a:latin typeface="Calibri" pitchFamily="34" charset="0"/>
                <a:ea typeface="Calibri" pitchFamily="34" charset="-122"/>
                <a:cs typeface="Calibri" pitchFamily="34" charset="-120"/>
              </a:rPr>
              <a:t>COMPLETE</a:t>
            </a:r>
            <a:endParaRPr lang="en-US" sz="1000" dirty="0"/>
          </a:p>
        </p:txBody>
      </p:sp>
      <p:sp>
        <p:nvSpPr>
          <p:cNvPr id="29" name="Text 26"/>
          <p:cNvSpPr txBox="1"/>
          <p:nvPr/>
        </p:nvSpPr>
        <p:spPr>
          <a:xfrm>
            <a:off x="777240" y="3675888"/>
            <a:ext cx="3154680" cy="329184"/>
          </a:xfrm>
          <a:prstGeom prst="rect">
            <a:avLst/>
          </a:prstGeom>
          <a:noFill/>
          <a:ln/>
        </p:spPr>
        <p:txBody>
          <a:bodyPr wrap="square" lIns="0" tIns="0" rIns="0" bIns="0" rtlCol="0" anchor="t"/>
          <a:lstStyle/>
          <a:p>
            <a:pPr marL="0" indent="0">
              <a:buNone/>
            </a:pPr>
            <a:r>
              <a:rPr lang="en-US" sz="1500" b="1" dirty="0">
                <a:solidFill>
                  <a:srgbClr val="1A2233"/>
                </a:solidFill>
                <a:latin typeface="Calibri" pitchFamily="34" charset="0"/>
                <a:ea typeface="Calibri" pitchFamily="34" charset="-122"/>
                <a:cs typeface="Calibri" pitchFamily="34" charset="-120"/>
              </a:rPr>
              <a:t>Five-head multi-task model</a:t>
            </a:r>
            <a:endParaRPr lang="en-US" sz="1500" dirty="0"/>
          </a:p>
        </p:txBody>
      </p:sp>
      <p:sp>
        <p:nvSpPr>
          <p:cNvPr id="30" name="Text 27"/>
          <p:cNvSpPr txBox="1"/>
          <p:nvPr/>
        </p:nvSpPr>
        <p:spPr>
          <a:xfrm>
            <a:off x="777240" y="4005072"/>
            <a:ext cx="3154680" cy="365760"/>
          </a:xfrm>
          <a:prstGeom prst="rect">
            <a:avLst/>
          </a:prstGeom>
          <a:noFill/>
          <a:ln/>
        </p:spPr>
        <p:txBody>
          <a:bodyPr wrap="square" lIns="0" tIns="0" rIns="0" bIns="0" rtlCol="0" anchor="t"/>
          <a:lstStyle/>
          <a:p>
            <a:pPr marL="0" indent="0">
              <a:buNone/>
            </a:pPr>
            <a:r>
              <a:rPr lang="en-US" sz="1150" dirty="0">
                <a:solidFill>
                  <a:srgbClr val="5B6B79"/>
                </a:solidFill>
                <a:latin typeface="Calibri" pitchFamily="34" charset="0"/>
                <a:ea typeface="Calibri" pitchFamily="34" charset="-122"/>
                <a:cs typeface="Calibri" pitchFamily="34" charset="-120"/>
              </a:rPr>
              <a:t>Lesion and local pathology heads added</a:t>
            </a:r>
            <a:endParaRPr lang="en-US" sz="1150" dirty="0"/>
          </a:p>
        </p:txBody>
      </p:sp>
      <p:sp>
        <p:nvSpPr>
          <p:cNvPr id="31" name="Shape 28"/>
          <p:cNvSpPr/>
          <p:nvPr/>
        </p:nvSpPr>
        <p:spPr>
          <a:xfrm>
            <a:off x="4311396" y="3246120"/>
            <a:ext cx="3566160" cy="1207008"/>
          </a:xfrm>
          <a:prstGeom prst="roundRect">
            <a:avLst>
              <a:gd name="adj" fmla="val 4545"/>
            </a:avLst>
          </a:prstGeom>
          <a:solidFill>
            <a:srgbClr val="F3F6F9"/>
          </a:solidFill>
          <a:ln w="9525">
            <a:solidFill>
              <a:srgbClr val="DCE3E8"/>
            </a:solidFill>
            <a:prstDash val="solid"/>
          </a:ln>
        </p:spPr>
      </p:sp>
      <p:sp>
        <p:nvSpPr>
          <p:cNvPr id="32" name="Text 29"/>
          <p:cNvSpPr txBox="1"/>
          <p:nvPr/>
        </p:nvSpPr>
        <p:spPr>
          <a:xfrm>
            <a:off x="4539996" y="3383280"/>
            <a:ext cx="1371600" cy="274320"/>
          </a:xfrm>
          <a:prstGeom prst="rect">
            <a:avLst/>
          </a:prstGeom>
          <a:noFill/>
          <a:ln/>
        </p:spPr>
        <p:txBody>
          <a:bodyPr wrap="square" lIns="0" tIns="0" rIns="0" bIns="0" rtlCol="0" anchor="t"/>
          <a:lstStyle/>
          <a:p>
            <a:pPr marL="0" indent="0">
              <a:buNone/>
            </a:pPr>
            <a:r>
              <a:rPr lang="en-US" sz="1100" b="1" kern="0" spc="200" dirty="0">
                <a:solidFill>
                  <a:srgbClr val="1C7293"/>
                </a:solidFill>
                <a:latin typeface="Calibri" pitchFamily="34" charset="0"/>
                <a:ea typeface="Calibri" pitchFamily="34" charset="-122"/>
                <a:cs typeface="Calibri" pitchFamily="34" charset="-120"/>
              </a:rPr>
              <a:t>PHASE 5</a:t>
            </a:r>
            <a:endParaRPr lang="en-US" sz="1100" dirty="0"/>
          </a:p>
        </p:txBody>
      </p:sp>
      <p:sp>
        <p:nvSpPr>
          <p:cNvPr id="33" name="Shape 30"/>
          <p:cNvSpPr/>
          <p:nvPr/>
        </p:nvSpPr>
        <p:spPr>
          <a:xfrm>
            <a:off x="6917436" y="3374136"/>
            <a:ext cx="731520" cy="274320"/>
          </a:xfrm>
          <a:prstGeom prst="roundRect">
            <a:avLst>
              <a:gd name="adj" fmla="val 20000"/>
            </a:avLst>
          </a:prstGeom>
          <a:solidFill>
            <a:srgbClr val="E6F2EC"/>
          </a:solidFill>
          <a:ln/>
        </p:spPr>
      </p:sp>
      <p:sp>
        <p:nvSpPr>
          <p:cNvPr id="34" name="Text 31"/>
          <p:cNvSpPr txBox="1"/>
          <p:nvPr/>
        </p:nvSpPr>
        <p:spPr>
          <a:xfrm>
            <a:off x="6917436" y="3374136"/>
            <a:ext cx="731520" cy="274320"/>
          </a:xfrm>
          <a:prstGeom prst="rect">
            <a:avLst/>
          </a:prstGeom>
          <a:noFill/>
          <a:ln/>
        </p:spPr>
        <p:txBody>
          <a:bodyPr wrap="square" lIns="0" tIns="0" rIns="0" bIns="0" rtlCol="0" anchor="ctr"/>
          <a:lstStyle/>
          <a:p>
            <a:pPr marL="0" indent="0" algn="ctr">
              <a:buNone/>
            </a:pPr>
            <a:r>
              <a:rPr lang="en-US" sz="1000" b="1" dirty="0">
                <a:solidFill>
                  <a:srgbClr val="2E7D5B"/>
                </a:solidFill>
                <a:latin typeface="Calibri" pitchFamily="34" charset="0"/>
                <a:ea typeface="Calibri" pitchFamily="34" charset="-122"/>
                <a:cs typeface="Calibri" pitchFamily="34" charset="-120"/>
              </a:rPr>
              <a:t>COMPLETE</a:t>
            </a:r>
            <a:endParaRPr lang="en-US" sz="1000" dirty="0"/>
          </a:p>
        </p:txBody>
      </p:sp>
      <p:sp>
        <p:nvSpPr>
          <p:cNvPr id="35" name="Text 32"/>
          <p:cNvSpPr txBox="1"/>
          <p:nvPr/>
        </p:nvSpPr>
        <p:spPr>
          <a:xfrm>
            <a:off x="4539996" y="3675888"/>
            <a:ext cx="3154680" cy="329184"/>
          </a:xfrm>
          <a:prstGeom prst="rect">
            <a:avLst/>
          </a:prstGeom>
          <a:noFill/>
          <a:ln/>
        </p:spPr>
        <p:txBody>
          <a:bodyPr wrap="square" lIns="0" tIns="0" rIns="0" bIns="0" rtlCol="0" anchor="t"/>
          <a:lstStyle/>
          <a:p>
            <a:pPr marL="0" indent="0">
              <a:buNone/>
            </a:pPr>
            <a:r>
              <a:rPr lang="en-US" sz="1500" b="1" dirty="0">
                <a:solidFill>
                  <a:srgbClr val="1A2233"/>
                </a:solidFill>
                <a:latin typeface="Calibri" pitchFamily="34" charset="0"/>
                <a:ea typeface="Calibri" pitchFamily="34" charset="-122"/>
                <a:cs typeface="Calibri" pitchFamily="34" charset="-120"/>
              </a:rPr>
              <a:t>Anatomical consistency</a:t>
            </a:r>
            <a:endParaRPr lang="en-US" sz="1500" dirty="0"/>
          </a:p>
        </p:txBody>
      </p:sp>
      <p:sp>
        <p:nvSpPr>
          <p:cNvPr id="36" name="Text 33"/>
          <p:cNvSpPr txBox="1"/>
          <p:nvPr/>
        </p:nvSpPr>
        <p:spPr>
          <a:xfrm>
            <a:off x="4539996" y="4005072"/>
            <a:ext cx="3154680" cy="365760"/>
          </a:xfrm>
          <a:prstGeom prst="rect">
            <a:avLst/>
          </a:prstGeom>
          <a:noFill/>
          <a:ln/>
        </p:spPr>
        <p:txBody>
          <a:bodyPr wrap="square" lIns="0" tIns="0" rIns="0" bIns="0" rtlCol="0" anchor="t"/>
          <a:lstStyle/>
          <a:p>
            <a:pPr marL="0" indent="0">
              <a:buNone/>
            </a:pPr>
            <a:r>
              <a:rPr lang="en-US" sz="1150" dirty="0">
                <a:solidFill>
                  <a:srgbClr val="5B6B79"/>
                </a:solidFill>
                <a:latin typeface="Calibri" pitchFamily="34" charset="0"/>
                <a:ea typeface="Calibri" pitchFamily="34" charset="-122"/>
                <a:cs typeface="Calibri" pitchFamily="34" charset="-120"/>
              </a:rPr>
              <a:t>Absolute form diagnosed; ratio form validated</a:t>
            </a:r>
            <a:endParaRPr lang="en-US" sz="1150" dirty="0"/>
          </a:p>
        </p:txBody>
      </p:sp>
      <p:sp>
        <p:nvSpPr>
          <p:cNvPr id="37" name="Shape 34"/>
          <p:cNvSpPr/>
          <p:nvPr/>
        </p:nvSpPr>
        <p:spPr>
          <a:xfrm>
            <a:off x="8074152" y="3246120"/>
            <a:ext cx="3566160" cy="1207008"/>
          </a:xfrm>
          <a:prstGeom prst="roundRect">
            <a:avLst>
              <a:gd name="adj" fmla="val 4545"/>
            </a:avLst>
          </a:prstGeom>
          <a:solidFill>
            <a:srgbClr val="F3F6F9"/>
          </a:solidFill>
          <a:ln w="9525">
            <a:solidFill>
              <a:srgbClr val="DCE3E8"/>
            </a:solidFill>
            <a:prstDash val="solid"/>
          </a:ln>
        </p:spPr>
      </p:sp>
      <p:sp>
        <p:nvSpPr>
          <p:cNvPr id="38" name="Text 35"/>
          <p:cNvSpPr txBox="1"/>
          <p:nvPr/>
        </p:nvSpPr>
        <p:spPr>
          <a:xfrm>
            <a:off x="8302752" y="3383280"/>
            <a:ext cx="1371600" cy="274320"/>
          </a:xfrm>
          <a:prstGeom prst="rect">
            <a:avLst/>
          </a:prstGeom>
          <a:noFill/>
          <a:ln/>
        </p:spPr>
        <p:txBody>
          <a:bodyPr wrap="square" lIns="0" tIns="0" rIns="0" bIns="0" rtlCol="0" anchor="t"/>
          <a:lstStyle/>
          <a:p>
            <a:pPr marL="0" indent="0">
              <a:buNone/>
            </a:pPr>
            <a:r>
              <a:rPr lang="en-US" sz="1100" b="1" kern="0" spc="200" dirty="0">
                <a:solidFill>
                  <a:srgbClr val="1C7293"/>
                </a:solidFill>
                <a:latin typeface="Calibri" pitchFamily="34" charset="0"/>
                <a:ea typeface="Calibri" pitchFamily="34" charset="-122"/>
                <a:cs typeface="Calibri" pitchFamily="34" charset="-120"/>
              </a:rPr>
              <a:t>PHASE 6</a:t>
            </a:r>
            <a:endParaRPr lang="en-US" sz="1100" dirty="0"/>
          </a:p>
        </p:txBody>
      </p:sp>
      <p:sp>
        <p:nvSpPr>
          <p:cNvPr id="39" name="Shape 36"/>
          <p:cNvSpPr/>
          <p:nvPr/>
        </p:nvSpPr>
        <p:spPr>
          <a:xfrm>
            <a:off x="10680192" y="3374136"/>
            <a:ext cx="731520" cy="274320"/>
          </a:xfrm>
          <a:prstGeom prst="roundRect">
            <a:avLst>
              <a:gd name="adj" fmla="val 20000"/>
            </a:avLst>
          </a:prstGeom>
          <a:solidFill>
            <a:srgbClr val="E6F2EC"/>
          </a:solidFill>
          <a:ln/>
        </p:spPr>
      </p:sp>
      <p:sp>
        <p:nvSpPr>
          <p:cNvPr id="40" name="Text 37"/>
          <p:cNvSpPr txBox="1"/>
          <p:nvPr/>
        </p:nvSpPr>
        <p:spPr>
          <a:xfrm>
            <a:off x="10680192" y="3374136"/>
            <a:ext cx="731520" cy="274320"/>
          </a:xfrm>
          <a:prstGeom prst="rect">
            <a:avLst/>
          </a:prstGeom>
          <a:noFill/>
          <a:ln/>
        </p:spPr>
        <p:txBody>
          <a:bodyPr wrap="square" lIns="0" tIns="0" rIns="0" bIns="0" rtlCol="0" anchor="ctr"/>
          <a:lstStyle/>
          <a:p>
            <a:pPr marL="0" indent="0" algn="ctr">
              <a:buNone/>
            </a:pPr>
            <a:r>
              <a:rPr lang="en-US" sz="1000" b="1" dirty="0">
                <a:solidFill>
                  <a:srgbClr val="2E7D5B"/>
                </a:solidFill>
                <a:latin typeface="Calibri" pitchFamily="34" charset="0"/>
                <a:ea typeface="Calibri" pitchFamily="34" charset="-122"/>
                <a:cs typeface="Calibri" pitchFamily="34" charset="-120"/>
              </a:rPr>
              <a:t>COMPLETE</a:t>
            </a:r>
            <a:endParaRPr lang="en-US" sz="1000" dirty="0"/>
          </a:p>
        </p:txBody>
      </p:sp>
      <p:sp>
        <p:nvSpPr>
          <p:cNvPr id="41" name="Text 38"/>
          <p:cNvSpPr txBox="1"/>
          <p:nvPr/>
        </p:nvSpPr>
        <p:spPr>
          <a:xfrm>
            <a:off x="8302752" y="3675888"/>
            <a:ext cx="3154680" cy="329184"/>
          </a:xfrm>
          <a:prstGeom prst="rect">
            <a:avLst/>
          </a:prstGeom>
          <a:noFill/>
          <a:ln/>
        </p:spPr>
        <p:txBody>
          <a:bodyPr wrap="square" lIns="0" tIns="0" rIns="0" bIns="0" rtlCol="0" anchor="t"/>
          <a:lstStyle/>
          <a:p>
            <a:pPr marL="0" indent="0">
              <a:buNone/>
            </a:pPr>
            <a:r>
              <a:rPr lang="en-US" sz="1500" b="1" dirty="0">
                <a:solidFill>
                  <a:srgbClr val="1A2233"/>
                </a:solidFill>
                <a:latin typeface="Calibri" pitchFamily="34" charset="0"/>
                <a:ea typeface="Calibri" pitchFamily="34" charset="-122"/>
                <a:cs typeface="Calibri" pitchFamily="34" charset="-120"/>
              </a:rPr>
              <a:t>Metaheuristic optimization</a:t>
            </a:r>
            <a:endParaRPr lang="en-US" sz="1500" dirty="0"/>
          </a:p>
        </p:txBody>
      </p:sp>
      <p:sp>
        <p:nvSpPr>
          <p:cNvPr id="42" name="Text 39"/>
          <p:cNvSpPr txBox="1"/>
          <p:nvPr/>
        </p:nvSpPr>
        <p:spPr>
          <a:xfrm>
            <a:off x="8302752" y="4005072"/>
            <a:ext cx="3154680" cy="365760"/>
          </a:xfrm>
          <a:prstGeom prst="rect">
            <a:avLst/>
          </a:prstGeom>
          <a:noFill/>
          <a:ln/>
        </p:spPr>
        <p:txBody>
          <a:bodyPr wrap="square" lIns="0" tIns="0" rIns="0" bIns="0" rtlCol="0" anchor="t"/>
          <a:lstStyle/>
          <a:p>
            <a:pPr marL="0" indent="0">
              <a:buNone/>
            </a:pPr>
            <a:r>
              <a:rPr lang="en-US" sz="1150" dirty="0">
                <a:solidFill>
                  <a:srgbClr val="5B6B79"/>
                </a:solidFill>
                <a:latin typeface="Calibri" pitchFamily="34" charset="0"/>
                <a:ea typeface="Calibri" pitchFamily="34" charset="-122"/>
                <a:cs typeface="Calibri" pitchFamily="34" charset="-120"/>
              </a:rPr>
              <a:t>COA, WOA, GWO; 180 trainings; full retrain</a:t>
            </a:r>
            <a:endParaRPr lang="en-US" sz="1150" dirty="0"/>
          </a:p>
        </p:txBody>
      </p:sp>
      <p:sp>
        <p:nvSpPr>
          <p:cNvPr id="43" name="Shape 40"/>
          <p:cNvSpPr/>
          <p:nvPr/>
        </p:nvSpPr>
        <p:spPr>
          <a:xfrm>
            <a:off x="548640" y="4617720"/>
            <a:ext cx="3566160" cy="1207008"/>
          </a:xfrm>
          <a:prstGeom prst="roundRect">
            <a:avLst>
              <a:gd name="adj" fmla="val 4545"/>
            </a:avLst>
          </a:prstGeom>
          <a:solidFill>
            <a:srgbClr val="FFFFFF"/>
          </a:solidFill>
          <a:ln w="9525">
            <a:solidFill>
              <a:srgbClr val="DCE3E8"/>
            </a:solidFill>
            <a:prstDash val="solid"/>
          </a:ln>
        </p:spPr>
      </p:sp>
      <p:sp>
        <p:nvSpPr>
          <p:cNvPr id="44" name="Text 41"/>
          <p:cNvSpPr txBox="1"/>
          <p:nvPr/>
        </p:nvSpPr>
        <p:spPr>
          <a:xfrm>
            <a:off x="777240" y="4754880"/>
            <a:ext cx="1371600" cy="274320"/>
          </a:xfrm>
          <a:prstGeom prst="rect">
            <a:avLst/>
          </a:prstGeom>
          <a:noFill/>
          <a:ln/>
        </p:spPr>
        <p:txBody>
          <a:bodyPr wrap="square" lIns="0" tIns="0" rIns="0" bIns="0" rtlCol="0" anchor="t"/>
          <a:lstStyle/>
          <a:p>
            <a:pPr marL="0" indent="0">
              <a:buNone/>
            </a:pPr>
            <a:r>
              <a:rPr lang="en-US" sz="1100" b="1" kern="0" spc="200" dirty="0">
                <a:solidFill>
                  <a:srgbClr val="1C7293"/>
                </a:solidFill>
                <a:latin typeface="Calibri" pitchFamily="34" charset="0"/>
                <a:ea typeface="Calibri" pitchFamily="34" charset="-122"/>
                <a:cs typeface="Calibri" pitchFamily="34" charset="-120"/>
              </a:rPr>
              <a:t>PHASE 7</a:t>
            </a:r>
            <a:endParaRPr lang="en-US" sz="1100" dirty="0"/>
          </a:p>
        </p:txBody>
      </p:sp>
      <p:sp>
        <p:nvSpPr>
          <p:cNvPr id="45" name="Shape 42"/>
          <p:cNvSpPr/>
          <p:nvPr/>
        </p:nvSpPr>
        <p:spPr>
          <a:xfrm>
            <a:off x="2921508" y="4745736"/>
            <a:ext cx="964692" cy="274320"/>
          </a:xfrm>
          <a:prstGeom prst="roundRect">
            <a:avLst>
              <a:gd name="adj" fmla="val 20000"/>
            </a:avLst>
          </a:prstGeom>
          <a:solidFill>
            <a:srgbClr val="FBF0DF"/>
          </a:solidFill>
          <a:ln/>
        </p:spPr>
      </p:sp>
      <p:sp>
        <p:nvSpPr>
          <p:cNvPr id="46" name="Text 43"/>
          <p:cNvSpPr txBox="1"/>
          <p:nvPr/>
        </p:nvSpPr>
        <p:spPr>
          <a:xfrm>
            <a:off x="2921508" y="4745736"/>
            <a:ext cx="964692" cy="274320"/>
          </a:xfrm>
          <a:prstGeom prst="rect">
            <a:avLst/>
          </a:prstGeom>
          <a:noFill/>
          <a:ln/>
        </p:spPr>
        <p:txBody>
          <a:bodyPr wrap="square" lIns="0" tIns="0" rIns="0" bIns="0" rtlCol="0" anchor="ctr"/>
          <a:lstStyle/>
          <a:p>
            <a:pPr marL="0" indent="0" algn="ctr">
              <a:buNone/>
            </a:pPr>
            <a:r>
              <a:rPr lang="en-US" sz="1000" b="1" dirty="0">
                <a:solidFill>
                  <a:srgbClr val="8A5A12"/>
                </a:solidFill>
                <a:latin typeface="Calibri" pitchFamily="34" charset="0"/>
                <a:ea typeface="Calibri" pitchFamily="34" charset="-122"/>
                <a:cs typeface="Calibri" pitchFamily="34" charset="-120"/>
              </a:rPr>
              <a:t>IN PROGRESS</a:t>
            </a:r>
            <a:endParaRPr lang="en-US" sz="1000" dirty="0"/>
          </a:p>
        </p:txBody>
      </p:sp>
      <p:sp>
        <p:nvSpPr>
          <p:cNvPr id="47" name="Text 44"/>
          <p:cNvSpPr txBox="1"/>
          <p:nvPr/>
        </p:nvSpPr>
        <p:spPr>
          <a:xfrm>
            <a:off x="777240" y="5047488"/>
            <a:ext cx="3154680" cy="329184"/>
          </a:xfrm>
          <a:prstGeom prst="rect">
            <a:avLst/>
          </a:prstGeom>
          <a:noFill/>
          <a:ln/>
        </p:spPr>
        <p:txBody>
          <a:bodyPr wrap="square" lIns="0" tIns="0" rIns="0" bIns="0" rtlCol="0" anchor="t"/>
          <a:lstStyle/>
          <a:p>
            <a:pPr marL="0" indent="0">
              <a:buNone/>
            </a:pPr>
            <a:r>
              <a:rPr lang="en-US" sz="1500" b="1" dirty="0">
                <a:solidFill>
                  <a:srgbClr val="1A2233"/>
                </a:solidFill>
                <a:latin typeface="Calibri" pitchFamily="34" charset="0"/>
                <a:ea typeface="Calibri" pitchFamily="34" charset="-122"/>
                <a:cs typeface="Calibri" pitchFamily="34" charset="-120"/>
              </a:rPr>
              <a:t>Ablations</a:t>
            </a:r>
            <a:endParaRPr lang="en-US" sz="1500" dirty="0"/>
          </a:p>
        </p:txBody>
      </p:sp>
      <p:sp>
        <p:nvSpPr>
          <p:cNvPr id="48" name="Text 45"/>
          <p:cNvSpPr txBox="1"/>
          <p:nvPr/>
        </p:nvSpPr>
        <p:spPr>
          <a:xfrm>
            <a:off x="777240" y="5376672"/>
            <a:ext cx="3154680" cy="365760"/>
          </a:xfrm>
          <a:prstGeom prst="rect">
            <a:avLst/>
          </a:prstGeom>
          <a:noFill/>
          <a:ln/>
        </p:spPr>
        <p:txBody>
          <a:bodyPr wrap="square" lIns="0" tIns="0" rIns="0" bIns="0" rtlCol="0" anchor="t"/>
          <a:lstStyle/>
          <a:p>
            <a:pPr marL="0" indent="0">
              <a:buNone/>
            </a:pPr>
            <a:r>
              <a:rPr lang="en-US" sz="1150" dirty="0">
                <a:solidFill>
                  <a:srgbClr val="5B6B79"/>
                </a:solidFill>
                <a:latin typeface="Calibri" pitchFamily="34" charset="0"/>
                <a:ea typeface="Calibri" pitchFamily="34" charset="-122"/>
                <a:cs typeface="Calibri" pitchFamily="34" charset="-120"/>
              </a:rPr>
              <a:t>To check which component of the system is actually responsible for the improvement.</a:t>
            </a:r>
            <a:endParaRPr lang="en-US" sz="1150" dirty="0"/>
          </a:p>
        </p:txBody>
      </p:sp>
      <p:sp>
        <p:nvSpPr>
          <p:cNvPr id="49" name="Shape 46"/>
          <p:cNvSpPr/>
          <p:nvPr/>
        </p:nvSpPr>
        <p:spPr>
          <a:xfrm>
            <a:off x="4311396" y="4617720"/>
            <a:ext cx="3566160" cy="1207008"/>
          </a:xfrm>
          <a:prstGeom prst="roundRect">
            <a:avLst>
              <a:gd name="adj" fmla="val 4545"/>
            </a:avLst>
          </a:prstGeom>
          <a:solidFill>
            <a:srgbClr val="FFFFFF"/>
          </a:solidFill>
          <a:ln w="9525">
            <a:solidFill>
              <a:srgbClr val="DCE3E8"/>
            </a:solidFill>
            <a:prstDash val="solid"/>
          </a:ln>
        </p:spPr>
      </p:sp>
      <p:sp>
        <p:nvSpPr>
          <p:cNvPr id="50" name="Text 47"/>
          <p:cNvSpPr txBox="1"/>
          <p:nvPr/>
        </p:nvSpPr>
        <p:spPr>
          <a:xfrm>
            <a:off x="4539996" y="4754880"/>
            <a:ext cx="1371600" cy="274320"/>
          </a:xfrm>
          <a:prstGeom prst="rect">
            <a:avLst/>
          </a:prstGeom>
          <a:noFill/>
          <a:ln/>
        </p:spPr>
        <p:txBody>
          <a:bodyPr wrap="square" lIns="0" tIns="0" rIns="0" bIns="0" rtlCol="0" anchor="t"/>
          <a:lstStyle/>
          <a:p>
            <a:pPr marL="0" indent="0">
              <a:buNone/>
            </a:pPr>
            <a:r>
              <a:rPr lang="en-US" sz="1100" b="1" kern="0" spc="200" dirty="0">
                <a:solidFill>
                  <a:srgbClr val="1C7293"/>
                </a:solidFill>
                <a:latin typeface="Calibri" pitchFamily="34" charset="0"/>
                <a:ea typeface="Calibri" pitchFamily="34" charset="-122"/>
                <a:cs typeface="Calibri" pitchFamily="34" charset="-120"/>
              </a:rPr>
              <a:t>PHASE 8</a:t>
            </a:r>
            <a:endParaRPr lang="en-US" sz="1100" dirty="0"/>
          </a:p>
        </p:txBody>
      </p:sp>
      <p:sp>
        <p:nvSpPr>
          <p:cNvPr id="51" name="Shape 48"/>
          <p:cNvSpPr/>
          <p:nvPr/>
        </p:nvSpPr>
        <p:spPr>
          <a:xfrm>
            <a:off x="6995160" y="4745736"/>
            <a:ext cx="653796" cy="274320"/>
          </a:xfrm>
          <a:prstGeom prst="roundRect">
            <a:avLst>
              <a:gd name="adj" fmla="val 20000"/>
            </a:avLst>
          </a:prstGeom>
          <a:solidFill>
            <a:srgbClr val="FBF0DF"/>
          </a:solidFill>
          <a:ln/>
        </p:spPr>
      </p:sp>
      <p:sp>
        <p:nvSpPr>
          <p:cNvPr id="52" name="Text 49"/>
          <p:cNvSpPr txBox="1"/>
          <p:nvPr/>
        </p:nvSpPr>
        <p:spPr>
          <a:xfrm>
            <a:off x="6995160" y="4745736"/>
            <a:ext cx="653796" cy="274320"/>
          </a:xfrm>
          <a:prstGeom prst="rect">
            <a:avLst/>
          </a:prstGeom>
          <a:noFill/>
          <a:ln/>
        </p:spPr>
        <p:txBody>
          <a:bodyPr wrap="square" lIns="0" tIns="0" rIns="0" bIns="0" rtlCol="0" anchor="ctr"/>
          <a:lstStyle/>
          <a:p>
            <a:pPr marL="0" indent="0" algn="ctr">
              <a:buNone/>
            </a:pPr>
            <a:r>
              <a:rPr lang="en-US" sz="1000" b="1" dirty="0">
                <a:solidFill>
                  <a:srgbClr val="8A5A12"/>
                </a:solidFill>
                <a:latin typeface="Calibri" pitchFamily="34" charset="0"/>
                <a:ea typeface="Calibri" pitchFamily="34" charset="-122"/>
                <a:cs typeface="Calibri" pitchFamily="34" charset="-120"/>
              </a:rPr>
              <a:t>PLANNED</a:t>
            </a:r>
            <a:endParaRPr lang="en-US" sz="1000" dirty="0"/>
          </a:p>
        </p:txBody>
      </p:sp>
      <p:sp>
        <p:nvSpPr>
          <p:cNvPr id="53" name="Text 50"/>
          <p:cNvSpPr txBox="1"/>
          <p:nvPr/>
        </p:nvSpPr>
        <p:spPr>
          <a:xfrm>
            <a:off x="4539996" y="5047488"/>
            <a:ext cx="3154680" cy="329184"/>
          </a:xfrm>
          <a:prstGeom prst="rect">
            <a:avLst/>
          </a:prstGeom>
          <a:noFill/>
          <a:ln/>
        </p:spPr>
        <p:txBody>
          <a:bodyPr wrap="square" lIns="0" tIns="0" rIns="0" bIns="0" rtlCol="0" anchor="t"/>
          <a:lstStyle/>
          <a:p>
            <a:pPr marL="0" indent="0">
              <a:buNone/>
            </a:pPr>
            <a:r>
              <a:rPr lang="en-US" sz="1500" b="1" dirty="0">
                <a:solidFill>
                  <a:srgbClr val="1A2233"/>
                </a:solidFill>
                <a:latin typeface="Calibri" pitchFamily="34" charset="0"/>
                <a:ea typeface="Calibri" pitchFamily="34" charset="-122"/>
                <a:cs typeface="Calibri" pitchFamily="34" charset="-120"/>
              </a:rPr>
              <a:t>Cross-validation and external test</a:t>
            </a:r>
            <a:endParaRPr lang="en-US" sz="1500" dirty="0"/>
          </a:p>
        </p:txBody>
      </p:sp>
      <p:sp>
        <p:nvSpPr>
          <p:cNvPr id="54" name="Text 51"/>
          <p:cNvSpPr txBox="1"/>
          <p:nvPr/>
        </p:nvSpPr>
        <p:spPr>
          <a:xfrm>
            <a:off x="4539996" y="5376672"/>
            <a:ext cx="3154680" cy="365760"/>
          </a:xfrm>
          <a:prstGeom prst="rect">
            <a:avLst/>
          </a:prstGeom>
          <a:noFill/>
          <a:ln/>
        </p:spPr>
        <p:txBody>
          <a:bodyPr wrap="square" lIns="0" tIns="0" rIns="0" bIns="0" rtlCol="0" anchor="t"/>
          <a:lstStyle/>
          <a:p>
            <a:pPr marL="0" indent="0">
              <a:buNone/>
            </a:pPr>
            <a:r>
              <a:rPr lang="en-US" sz="1150" dirty="0">
                <a:solidFill>
                  <a:srgbClr val="5B6B79"/>
                </a:solidFill>
                <a:latin typeface="Calibri" pitchFamily="34" charset="0"/>
                <a:ea typeface="Calibri" pitchFamily="34" charset="-122"/>
                <a:cs typeface="Calibri" pitchFamily="34" charset="-120"/>
              </a:rPr>
              <a:t>Five-fold scripts ready; proxy check ready</a:t>
            </a:r>
            <a:endParaRPr lang="en-US" sz="1150" dirty="0"/>
          </a:p>
        </p:txBody>
      </p:sp>
      <p:sp>
        <p:nvSpPr>
          <p:cNvPr id="55" name="Shape 52"/>
          <p:cNvSpPr/>
          <p:nvPr/>
        </p:nvSpPr>
        <p:spPr>
          <a:xfrm>
            <a:off x="8074152" y="4617720"/>
            <a:ext cx="3566160" cy="1207008"/>
          </a:xfrm>
          <a:prstGeom prst="roundRect">
            <a:avLst>
              <a:gd name="adj" fmla="val 4545"/>
            </a:avLst>
          </a:prstGeom>
          <a:solidFill>
            <a:srgbClr val="FFFFFF"/>
          </a:solidFill>
          <a:ln w="9525">
            <a:solidFill>
              <a:srgbClr val="DCE3E8"/>
            </a:solidFill>
            <a:prstDash val="solid"/>
          </a:ln>
        </p:spPr>
      </p:sp>
      <p:sp>
        <p:nvSpPr>
          <p:cNvPr id="56" name="Text 53"/>
          <p:cNvSpPr txBox="1"/>
          <p:nvPr/>
        </p:nvSpPr>
        <p:spPr>
          <a:xfrm>
            <a:off x="8302752" y="4754880"/>
            <a:ext cx="1371600" cy="274320"/>
          </a:xfrm>
          <a:prstGeom prst="rect">
            <a:avLst/>
          </a:prstGeom>
          <a:noFill/>
          <a:ln/>
        </p:spPr>
        <p:txBody>
          <a:bodyPr wrap="square" lIns="0" tIns="0" rIns="0" bIns="0" rtlCol="0" anchor="t"/>
          <a:lstStyle/>
          <a:p>
            <a:pPr marL="0" indent="0">
              <a:buNone/>
            </a:pPr>
            <a:r>
              <a:rPr lang="en-US" sz="1100" b="1" kern="0" spc="200" dirty="0">
                <a:solidFill>
                  <a:srgbClr val="1C7293"/>
                </a:solidFill>
                <a:latin typeface="Calibri" pitchFamily="34" charset="0"/>
                <a:ea typeface="Calibri" pitchFamily="34" charset="-122"/>
                <a:cs typeface="Calibri" pitchFamily="34" charset="-120"/>
              </a:rPr>
              <a:t>PHASE 9</a:t>
            </a:r>
            <a:endParaRPr lang="en-US" sz="1100" dirty="0"/>
          </a:p>
        </p:txBody>
      </p:sp>
      <p:sp>
        <p:nvSpPr>
          <p:cNvPr id="57" name="Shape 54"/>
          <p:cNvSpPr/>
          <p:nvPr/>
        </p:nvSpPr>
        <p:spPr>
          <a:xfrm>
            <a:off x="10757916" y="4745736"/>
            <a:ext cx="653796" cy="274320"/>
          </a:xfrm>
          <a:prstGeom prst="roundRect">
            <a:avLst>
              <a:gd name="adj" fmla="val 20000"/>
            </a:avLst>
          </a:prstGeom>
          <a:solidFill>
            <a:srgbClr val="FBF0DF"/>
          </a:solidFill>
          <a:ln/>
        </p:spPr>
      </p:sp>
      <p:sp>
        <p:nvSpPr>
          <p:cNvPr id="58" name="Text 55"/>
          <p:cNvSpPr txBox="1"/>
          <p:nvPr/>
        </p:nvSpPr>
        <p:spPr>
          <a:xfrm>
            <a:off x="10757916" y="4745736"/>
            <a:ext cx="653796" cy="274320"/>
          </a:xfrm>
          <a:prstGeom prst="rect">
            <a:avLst/>
          </a:prstGeom>
          <a:noFill/>
          <a:ln/>
        </p:spPr>
        <p:txBody>
          <a:bodyPr wrap="square" lIns="0" tIns="0" rIns="0" bIns="0" rtlCol="0" anchor="ctr"/>
          <a:lstStyle/>
          <a:p>
            <a:pPr marL="0" indent="0" algn="ctr">
              <a:buNone/>
            </a:pPr>
            <a:r>
              <a:rPr lang="en-US" sz="1000" b="1" dirty="0">
                <a:solidFill>
                  <a:srgbClr val="8A5A12"/>
                </a:solidFill>
                <a:latin typeface="Calibri" pitchFamily="34" charset="0"/>
                <a:ea typeface="Calibri" pitchFamily="34" charset="-122"/>
                <a:cs typeface="Calibri" pitchFamily="34" charset="-120"/>
              </a:rPr>
              <a:t>PLANNED</a:t>
            </a:r>
            <a:endParaRPr lang="en-US" sz="1000" dirty="0"/>
          </a:p>
        </p:txBody>
      </p:sp>
      <p:sp>
        <p:nvSpPr>
          <p:cNvPr id="59" name="Text 56"/>
          <p:cNvSpPr txBox="1"/>
          <p:nvPr/>
        </p:nvSpPr>
        <p:spPr>
          <a:xfrm>
            <a:off x="8302752" y="5047488"/>
            <a:ext cx="3154680" cy="329184"/>
          </a:xfrm>
          <a:prstGeom prst="rect">
            <a:avLst/>
          </a:prstGeom>
          <a:noFill/>
          <a:ln/>
        </p:spPr>
        <p:txBody>
          <a:bodyPr wrap="square" lIns="0" tIns="0" rIns="0" bIns="0" rtlCol="0" anchor="t"/>
          <a:lstStyle/>
          <a:p>
            <a:pPr marL="0" indent="0">
              <a:buNone/>
            </a:pPr>
            <a:r>
              <a:rPr lang="en-US" sz="1500" b="1" dirty="0">
                <a:solidFill>
                  <a:srgbClr val="1A2233"/>
                </a:solidFill>
                <a:latin typeface="Calibri" pitchFamily="34" charset="0"/>
                <a:ea typeface="Calibri" pitchFamily="34" charset="-122"/>
                <a:cs typeface="Calibri" pitchFamily="34" charset="-120"/>
              </a:rPr>
              <a:t>Write-up</a:t>
            </a:r>
            <a:endParaRPr lang="en-US" sz="1500" dirty="0"/>
          </a:p>
        </p:txBody>
      </p:sp>
      <p:sp>
        <p:nvSpPr>
          <p:cNvPr id="60" name="Text 57"/>
          <p:cNvSpPr txBox="1"/>
          <p:nvPr/>
        </p:nvSpPr>
        <p:spPr>
          <a:xfrm>
            <a:off x="8302752" y="5376672"/>
            <a:ext cx="3154680" cy="365760"/>
          </a:xfrm>
          <a:prstGeom prst="rect">
            <a:avLst/>
          </a:prstGeom>
          <a:noFill/>
          <a:ln/>
        </p:spPr>
        <p:txBody>
          <a:bodyPr wrap="square" lIns="0" tIns="0" rIns="0" bIns="0" rtlCol="0" anchor="t"/>
          <a:lstStyle/>
          <a:p>
            <a:pPr marL="0" indent="0">
              <a:buNone/>
            </a:pPr>
            <a:r>
              <a:rPr lang="en-US" sz="1150" dirty="0">
                <a:solidFill>
                  <a:srgbClr val="5B6B79"/>
                </a:solidFill>
                <a:latin typeface="Calibri" pitchFamily="34" charset="0"/>
                <a:ea typeface="Calibri" pitchFamily="34" charset="-122"/>
                <a:cs typeface="Calibri" pitchFamily="34" charset="-120"/>
              </a:rPr>
              <a:t>Paper draft from results document</a:t>
            </a:r>
            <a:endParaRPr lang="en-US" sz="1150" dirty="0"/>
          </a:p>
        </p:txBody>
      </p:sp>
      <p:sp>
        <p:nvSpPr>
          <p:cNvPr id="61" name="Text 58"/>
          <p:cNvSpPr txBox="1"/>
          <p:nvPr/>
        </p:nvSpPr>
        <p:spPr>
          <a:xfrm>
            <a:off x="548640" y="5943600"/>
            <a:ext cx="11094415" cy="320040"/>
          </a:xfrm>
          <a:prstGeom prst="rect">
            <a:avLst/>
          </a:prstGeom>
          <a:noFill/>
          <a:ln/>
        </p:spPr>
        <p:txBody>
          <a:bodyPr wrap="square" lIns="0" tIns="0" rIns="0" bIns="0" rtlCol="0" anchor="t"/>
          <a:lstStyle/>
          <a:p>
            <a:pPr marL="0" indent="0" algn="ctr">
              <a:buNone/>
            </a:pPr>
            <a:r>
              <a:rPr lang="en-US" sz="1400" b="1" dirty="0">
                <a:solidFill>
                  <a:srgbClr val="21295C"/>
                </a:solidFill>
                <a:latin typeface="Calibri" pitchFamily="34" charset="0"/>
                <a:ea typeface="Calibri" pitchFamily="34" charset="-122"/>
                <a:cs typeface="Calibri" pitchFamily="34" charset="-120"/>
              </a:rPr>
              <a:t>6 of 9 phases complete  ·  Phase 7 in progress  ·  2 phases remaining</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9">
    <p:bg>
      <p:bgPr>
        <a:solidFill>
          <a:srgbClr val="21295C"/>
        </a:solidFill>
        <a:effectLst/>
      </p:bgPr>
    </p:bg>
    <p:spTree>
      <p:nvGrpSpPr>
        <p:cNvPr id="1" name=""/>
        <p:cNvGrpSpPr/>
        <p:nvPr/>
      </p:nvGrpSpPr>
      <p:grpSpPr>
        <a:xfrm>
          <a:off x="0" y="0"/>
          <a:ext cx="0" cy="0"/>
          <a:chOff x="0" y="0"/>
          <a:chExt cx="0" cy="0"/>
        </a:xfrm>
      </p:grpSpPr>
      <p:sp>
        <p:nvSpPr>
          <p:cNvPr id="3" name="Text 0"/>
          <p:cNvSpPr txBox="1"/>
          <p:nvPr/>
        </p:nvSpPr>
        <p:spPr>
          <a:xfrm>
            <a:off x="731520" y="731520"/>
            <a:ext cx="7315200" cy="320040"/>
          </a:xfrm>
          <a:prstGeom prst="rect">
            <a:avLst/>
          </a:prstGeom>
          <a:noFill/>
          <a:ln/>
        </p:spPr>
        <p:txBody>
          <a:bodyPr wrap="square" lIns="0" tIns="0" rIns="0" bIns="0" rtlCol="0" anchor="t"/>
          <a:lstStyle/>
          <a:p>
            <a:pPr marL="0" indent="0">
              <a:buNone/>
            </a:pPr>
            <a:r>
              <a:rPr lang="en-US" sz="1300" b="1" kern="0" spc="300" dirty="0">
                <a:solidFill>
                  <a:srgbClr val="CADCFC"/>
                </a:solidFill>
                <a:latin typeface="Calibri" pitchFamily="34" charset="0"/>
                <a:ea typeface="Calibri" pitchFamily="34" charset="-122"/>
                <a:cs typeface="Calibri" pitchFamily="34" charset="-120"/>
              </a:rPr>
              <a:t>CONCLUSION</a:t>
            </a:r>
            <a:endParaRPr lang="en-US" sz="1300" dirty="0"/>
          </a:p>
        </p:txBody>
      </p:sp>
      <p:sp>
        <p:nvSpPr>
          <p:cNvPr id="4" name="Text 1"/>
          <p:cNvSpPr txBox="1"/>
          <p:nvPr/>
        </p:nvSpPr>
        <p:spPr>
          <a:xfrm>
            <a:off x="731520" y="1097280"/>
            <a:ext cx="10698480" cy="822960"/>
          </a:xfrm>
          <a:prstGeom prst="rect">
            <a:avLst/>
          </a:prstGeom>
          <a:noFill/>
          <a:ln/>
        </p:spPr>
        <p:txBody>
          <a:bodyPr wrap="square" lIns="0" tIns="0" rIns="0" bIns="0" rtlCol="0" anchor="t"/>
          <a:lstStyle/>
          <a:p>
            <a:pPr marL="0" indent="0">
              <a:buNone/>
            </a:pPr>
            <a:r>
              <a:rPr lang="en-US" sz="4000" b="1" dirty="0">
                <a:solidFill>
                  <a:srgbClr val="FFFFFF"/>
                </a:solidFill>
                <a:latin typeface="Cambria" pitchFamily="34" charset="0"/>
                <a:ea typeface="Cambria" pitchFamily="34" charset="-122"/>
                <a:cs typeface="Cambria" pitchFamily="34" charset="-120"/>
              </a:rPr>
              <a:t>Where We Stand</a:t>
            </a:r>
            <a:endParaRPr lang="en-US" sz="4000" dirty="0"/>
          </a:p>
        </p:txBody>
      </p:sp>
      <p:sp>
        <p:nvSpPr>
          <p:cNvPr id="5" name="Text 2"/>
          <p:cNvSpPr txBox="1"/>
          <p:nvPr/>
        </p:nvSpPr>
        <p:spPr>
          <a:xfrm>
            <a:off x="731520" y="2148840"/>
            <a:ext cx="10424160" cy="3108960"/>
          </a:xfrm>
          <a:prstGeom prst="rect">
            <a:avLst/>
          </a:prstGeom>
          <a:noFill/>
          <a:ln/>
        </p:spPr>
        <p:txBody>
          <a:bodyPr wrap="square" lIns="0" tIns="0" rIns="0" bIns="0" rtlCol="0" anchor="t"/>
          <a:lstStyle/>
          <a:p>
            <a:pPr marL="177800" indent="-177800">
              <a:spcAft>
                <a:spcPts val="1400"/>
              </a:spcAft>
              <a:buSzPct val="100000"/>
              <a:buChar char="•"/>
            </a:pPr>
            <a:r>
              <a:rPr lang="en-US" sz="1800" dirty="0">
                <a:solidFill>
                  <a:srgbClr val="FFFFFF"/>
                </a:solidFill>
                <a:latin typeface="Calibri" pitchFamily="34" charset="0"/>
                <a:ea typeface="Calibri" pitchFamily="34" charset="-122"/>
                <a:cs typeface="Calibri" pitchFamily="34" charset="-120"/>
              </a:rPr>
              <a:t>One lightweight network (24.4 M parameters) reaches diagnosis AUC 0.901, kidney Dice 0.895 and lesion Dice 0.488 on lesion-bearing images</a:t>
            </a:r>
            <a:endParaRPr lang="en-US" sz="1400" dirty="0"/>
          </a:p>
          <a:p>
            <a:pPr marL="177800" indent="-177800">
              <a:spcAft>
                <a:spcPts val="1400"/>
              </a:spcAft>
              <a:buSzPct val="100000"/>
              <a:buChar char="•"/>
            </a:pPr>
            <a:r>
              <a:rPr lang="en-US" sz="1800" dirty="0">
                <a:solidFill>
                  <a:srgbClr val="FFFFFF"/>
                </a:solidFill>
                <a:latin typeface="Calibri" pitchFamily="34" charset="0"/>
                <a:ea typeface="Calibri" pitchFamily="34" charset="-122"/>
                <a:cs typeface="Calibri" pitchFamily="34" charset="-120"/>
              </a:rPr>
              <a:t>A correctly formulated anatomical constraint cuts out-of-kidney lesion predictions by 77% without hurting diagnosis</a:t>
            </a:r>
            <a:endParaRPr lang="en-US" sz="1400" dirty="0"/>
          </a:p>
          <a:p>
            <a:pPr marL="177800" indent="-177800">
              <a:spcAft>
                <a:spcPts val="1400"/>
              </a:spcAft>
              <a:buSzPct val="100000"/>
              <a:buChar char="•"/>
            </a:pPr>
            <a:r>
              <a:rPr lang="en-US" sz="1800" dirty="0">
                <a:solidFill>
                  <a:srgbClr val="FFFFFF"/>
                </a:solidFill>
                <a:latin typeface="Calibri" pitchFamily="34" charset="0"/>
                <a:ea typeface="Calibri" pitchFamily="34" charset="-122"/>
                <a:cs typeface="Calibri" pitchFamily="34" charset="-120"/>
              </a:rPr>
              <a:t>The optimizer study is complete and fair: COA leads, but the search setup matters as much as the algorithm</a:t>
            </a:r>
            <a:endParaRPr lang="en-US" sz="1400" dirty="0"/>
          </a:p>
          <a:p>
            <a:pPr marL="177800" indent="-177800">
              <a:spcAft>
                <a:spcPts val="1400"/>
              </a:spcAft>
              <a:buSzPct val="100000"/>
              <a:buChar char="•"/>
            </a:pPr>
            <a:r>
              <a:rPr lang="en-US" sz="1800" dirty="0">
                <a:solidFill>
                  <a:srgbClr val="FFFFFF"/>
                </a:solidFill>
                <a:latin typeface="Calibri" pitchFamily="34" charset="0"/>
                <a:ea typeface="Calibri" pitchFamily="34" charset="-122"/>
                <a:cs typeface="Calibri" pitchFamily="34" charset="-120"/>
              </a:rPr>
              <a:t>Cross-validation and proxy validation are scripted and ready to run</a:t>
            </a:r>
            <a:r>
              <a:rPr lang="en-US" dirty="0">
                <a:solidFill>
                  <a:srgbClr val="FFFFFF"/>
                </a:solidFill>
                <a:latin typeface="Calibri" pitchFamily="34" charset="0"/>
                <a:ea typeface="Calibri" pitchFamily="34" charset="-122"/>
                <a:cs typeface="Calibri" pitchFamily="34" charset="-120"/>
              </a:rPr>
              <a:t>.</a:t>
            </a:r>
            <a:endParaRPr lang="en-US" sz="1400" dirty="0"/>
          </a:p>
        </p:txBody>
      </p:sp>
      <p:sp>
        <p:nvSpPr>
          <p:cNvPr id="6" name="Text 3"/>
          <p:cNvSpPr txBox="1"/>
          <p:nvPr/>
        </p:nvSpPr>
        <p:spPr>
          <a:xfrm>
            <a:off x="731520" y="5532120"/>
            <a:ext cx="10698480" cy="548640"/>
          </a:xfrm>
          <a:prstGeom prst="rect">
            <a:avLst/>
          </a:prstGeom>
          <a:noFill/>
          <a:ln/>
        </p:spPr>
        <p:txBody>
          <a:bodyPr wrap="square" lIns="0" tIns="0" rIns="0" bIns="0" rtlCol="0" anchor="t"/>
          <a:lstStyle/>
          <a:p>
            <a:pPr marL="0" indent="0">
              <a:buNone/>
            </a:pPr>
            <a:r>
              <a:rPr lang="en-US" sz="2400" b="1" dirty="0">
                <a:solidFill>
                  <a:srgbClr val="CADCFC"/>
                </a:solidFill>
                <a:latin typeface="Cambria" pitchFamily="34" charset="0"/>
                <a:ea typeface="Cambria" pitchFamily="34" charset="-122"/>
                <a:cs typeface="Cambria" pitchFamily="34" charset="-120"/>
              </a:rPr>
              <a:t>Thank you.</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TotalTime>
  <Words>4520</Words>
  <Application>Microsoft Office PowerPoint</Application>
  <PresentationFormat>Widescreen</PresentationFormat>
  <Paragraphs>475</Paragraphs>
  <Slides>21</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Optimization-Based Deep Learning Framework for Kidney Disease Detection and Segmentation</dc:title>
  <dc:subject>PptxGenJS Presentation</dc:subject>
  <dc:creator>Anubhav Rawat, Kaustubh</dc:creator>
  <cp:lastModifiedBy>Anubhav Rawat</cp:lastModifiedBy>
  <cp:revision>15</cp:revision>
  <dcterms:created xsi:type="dcterms:W3CDTF">2026-09-15T06:19:54Z</dcterms:created>
  <dcterms:modified xsi:type="dcterms:W3CDTF">2026-09-15T11:20:43Z</dcterms:modified>
</cp:coreProperties>
</file>