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Quattrocento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81B70A-8897-4ADA-86FB-E6B9B6DC2345}">
  <a:tblStyle styleId="{A981B70A-8897-4ADA-86FB-E6B9B6DC234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regular.fntdata"/><Relationship Id="rId25" Type="http://schemas.openxmlformats.org/officeDocument/2006/relationships/slide" Target="slides/slide20.xml"/><Relationship Id="rId28" Type="http://schemas.openxmlformats.org/officeDocument/2006/relationships/font" Target="fonts/QuattrocentoSans-italic.fntdata"/><Relationship Id="rId27" Type="http://schemas.openxmlformats.org/officeDocument/2006/relationships/font" Target="fonts/Quattrocento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b6f8eae16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fb6f8eae16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fb6f8eae16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09e9b8d19b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409e9b8d19b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409e9b8d19b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37033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vit_logo.png"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50" y="113100"/>
            <a:ext cx="2321875" cy="8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548640" y="1188720"/>
            <a:ext cx="80467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Quattrocento San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Optimization-Based Deep Learning Framework for Kidney Disease Detection and Segmentation from Ultrasound Images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82DA"/>
              </a:buClr>
              <a:buSzPts val="3000"/>
              <a:buFont typeface="Quattrocento Sans"/>
              <a:buNone/>
            </a:pPr>
            <a:r>
              <a:rPr b="1" i="0" lang="en-US" sz="3000" u="none" cap="none" strike="noStrike">
                <a:solidFill>
                  <a:srgbClr val="2A82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 - III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640075" y="5006051"/>
            <a:ext cx="41148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1" i="0" lang="en-US" sz="1600" u="none" cap="none" strike="noStrike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By: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Anubhav Rawat (23BCE1471)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Kaustubh (23BCE1555)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6257575" y="5006050"/>
            <a:ext cx="2594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1" i="0" lang="en-US" sz="1600" u="none" cap="none" strike="noStrike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Guide: Sudharson S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0" i="0" lang="en-US" sz="1600" u="none" cap="none" strike="noStrike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 September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Benchmark System and the Gaps We Target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457200" y="1234440"/>
            <a:ext cx="484632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Reference system: URI-CADS (Molina-Cabello et al.)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Dual Mask R-CNN + Faster R-CNN, ResNet-50 backbone.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Five-fold cross-validation on its own data.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AUC 0.8741 (healthy vs pathological), 0.8190 (multi-pathological).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 gaps we target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Unweighted loss sum : task losses added with equal weight; nothing tuned or learned.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optimized preprocessing : standard augmentation only; image enhancement never tuned.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pixel-level lesion masks : lesions exist only as bounding boxes.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Single-dataset validation : no external or cross-cohort test.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Compute cost not addressed : two heavy detection networks; deployability undiscussed.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" name="Google Shape;26;p4"/>
          <p:cNvGraphicFramePr/>
          <p:nvPr/>
        </p:nvGraphicFramePr>
        <p:xfrm>
          <a:off x="54864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{A981B70A-8897-4ADA-86FB-E6B9B6DC2345}</a:tableStyleId>
              </a:tblPr>
              <a:tblGrid>
                <a:gridCol w="1920250"/>
                <a:gridCol w="12801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Metric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URI-CADS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AUC, healthy vs pathological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0.8741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AUC, multi-pathological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0.8190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Validation protocol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5-fold CV, single dataset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7" name="Google Shape;27;p4"/>
          <p:cNvSpPr txBox="1"/>
          <p:nvPr/>
        </p:nvSpPr>
        <p:spPr>
          <a:xfrm>
            <a:off x="5486400" y="329184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Quattrocento Sans"/>
              <a:buNone/>
            </a:pPr>
            <a:r>
              <a:rPr i="1" lang="en-US" sz="12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of our six contributions (next slide) targets exactly one of these five gaps.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Six Contributions, One Per Gap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" name="Google Shape;36;p5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{A981B70A-8897-4ADA-86FB-E6B9B6DC2345}</a:tableStyleId>
              </a:tblPr>
              <a:tblGrid>
                <a:gridCol w="457200"/>
                <a:gridCol w="1920250"/>
                <a:gridCol w="4480550"/>
                <a:gridCol w="13716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#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Contribution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What it does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Status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Optimized loss weighting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Six task-loss weights searched instead of fixed at 1.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Evaluated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Optimized enhancement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CLAHE, denoising and gamma tuned jointly with the weights.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Evaluated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Optimizer comparison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COA vs WOA vs GWO at an equal budget of 60 trainings each.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Complete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Anatomical consistency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Penalizes lesion predictions outside the kidney; corrected ratio form.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Complete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Lightweight architecture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One ResNet-34 encoder, five heads, 24.4M parameters.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Complete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Beyond a single split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Five-fold cross-validation and an external cohort test.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Pending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Google Shape;37;p5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URI-CADS Renal Ultrasound Dataset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457200" y="1188720"/>
            <a:ext cx="8229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lang="en-US" sz="14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public, peer-reviewed benchmark with pixel-level kidney masks and bounding-box lesion annotations.</a:t>
            </a:r>
            <a:endParaRPr sz="140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lang="en-US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There were a total of 1985 annotated images and 450 of them showcased anomalies , there were a total of 9 different classes, furthermore we had 2 global values saying if an anomaly existed or not, we also conducted a 70/15/15 split on the train test and validation sets.</a:t>
            </a:r>
            <a:endParaRPr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/home/claude/work/ultrasound_examples.png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433950"/>
            <a:ext cx="8229600" cy="239019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Framework - 1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shared encoder, five task heads, and an optimizer that tunes both the enhancement and the loss weights.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2600"/>
            <a:ext cx="8839198" cy="431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0" y="0"/>
            <a:ext cx="9144000" cy="10515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457200" y="384048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Framework - 2</a:t>
            </a:r>
            <a:endParaRPr b="1" sz="2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457200" y="1188720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lang="en-US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 1 - Diagnosis Head; Head 2 - Global Pathology Head; Head 3 - Local Pathology Head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t/>
            </a:r>
            <a:endParaRPr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859536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2220"/>
            <a:ext cx="8641886" cy="4613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0"/>
            <a:ext cx="9144000" cy="10515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457200" y="384048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Framework - 3</a:t>
            </a:r>
            <a:endParaRPr b="1" sz="2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" name="Google Shape;75;p9"/>
          <p:cNvSpPr txBox="1"/>
          <p:nvPr/>
        </p:nvSpPr>
        <p:spPr>
          <a:xfrm>
            <a:off x="457200" y="1188720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lang="en-US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 4 - Kidney Segmentation Head; Head 5 - Lesion Segmentation Head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t/>
            </a:r>
            <a:endParaRPr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" name="Google Shape;76;p9"/>
          <p:cNvSpPr txBox="1"/>
          <p:nvPr/>
        </p:nvSpPr>
        <p:spPr>
          <a:xfrm>
            <a:off x="859536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2220"/>
            <a:ext cx="8839198" cy="4353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0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Architecture: Five Heads on One Encoder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10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{A981B70A-8897-4ADA-86FB-E6B9B6DC2345}</a:tableStyleId>
              </a:tblPr>
              <a:tblGrid>
                <a:gridCol w="1828800"/>
                <a:gridCol w="3566150"/>
                <a:gridCol w="1737350"/>
                <a:gridCol w="109727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Head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Output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Loss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Phase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Diagnosis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 logit: healthy vs pathological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Binary cross-entropy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Global pathology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logit: PCD, HC (multi-label)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Binary cross-entropy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Local pathology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 logits, one per lesion category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Binary cross-entropy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Kidney segmentation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512x512 mask, 5-stage upsampling decoder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Dice loss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Lesion segmentation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512x512 mask of the lesion-box union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Dice loss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Anatomical consistency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Lesion probability outside the kidney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Ratio penalty between </a:t>
                      </a:r>
                      <a:r>
                        <a:rPr lang="en-US" sz="1100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out</a:t>
                      </a: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side </a:t>
                      </a:r>
                      <a:r>
                        <a:rPr lang="en-US" sz="1100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and total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10"/>
          <p:cNvSpPr txBox="1"/>
          <p:nvPr/>
        </p:nvSpPr>
        <p:spPr>
          <a:xfrm>
            <a:off x="457200" y="5085825"/>
            <a:ext cx="8229600" cy="4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300"/>
              <a:buFont typeface="Quattrocento Sans"/>
              <a:buChar char="•"/>
            </a:pPr>
            <a:r>
              <a:rPr lang="en-US" sz="13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Mask R-CNN, Faster R-CNN or U-Net: every head reads the same encoder feature map.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300"/>
              <a:buFont typeface="Quattrocento Sans"/>
              <a:buChar char="•"/>
            </a:pPr>
            <a:r>
              <a:rPr lang="en-US" sz="13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entire model of </a:t>
            </a:r>
            <a:r>
              <a:rPr lang="en-US" sz="13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24.4 million parameters in total trains in 0.81 GB of GPU memory.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0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Loss Design and the Anatomical Constraint (troubleshoot)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1"/>
          <p:cNvSpPr txBox="1"/>
          <p:nvPr/>
        </p:nvSpPr>
        <p:spPr>
          <a:xfrm>
            <a:off x="640080" y="13716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Calibri"/>
              <a:buNone/>
            </a:pPr>
            <a:r>
              <a:rPr b="1" lang="en-US" sz="18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Multi-task objective loss function:</a:t>
            </a:r>
            <a:endParaRPr b="1"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C72"/>
              </a:buClr>
              <a:buSzPts val="1300"/>
              <a:buFont typeface="Quattrocento Sans"/>
              <a:buNone/>
            </a:pPr>
            <a:r>
              <a:rPr b="1" lang="en-US" sz="1600">
                <a:solidFill>
                  <a:srgbClr val="1E3C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L = w1·L_diag + w2·L_global + w3·L_local + w4·L_kidney + w5·L_lesion + w6·L_anat</a:t>
            </a:r>
            <a:endParaRPr b="1" sz="17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" name="Google Shape;96;p11"/>
          <p:cNvSpPr txBox="1"/>
          <p:nvPr/>
        </p:nvSpPr>
        <p:spPr>
          <a:xfrm>
            <a:off x="587225" y="2423150"/>
            <a:ext cx="8008200" cy="3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50"/>
              <a:buFont typeface="Quattrocento Sans"/>
              <a:buChar char="•"/>
            </a:pPr>
            <a:r>
              <a:rPr lang="en-US" sz="14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Phases 2–5: every weight w = 1, the unweighted sum used by URI-CADS (fair baseline).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450"/>
              <a:buFont typeface="Quattrocento Sans"/>
              <a:buChar char="•"/>
            </a:pPr>
            <a:r>
              <a:rPr lang="en-US" sz="14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6: each weight searched in [0.1, 5.0].</a:t>
            </a:r>
            <a:endParaRPr sz="145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Trouble shooting the anatomical-consistency fix:</a:t>
            </a:r>
            <a:endParaRPr b="1" sz="180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50"/>
              <a:buFont typeface="Quattrocento Sans"/>
              <a:buChar char="•"/>
            </a:pPr>
            <a:r>
              <a:rPr lang="en-US" sz="14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First version penalized the absolute amount of lesion probability outside the kidney : which was  lowerable just by predicting less lesion everywhere.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450"/>
              <a:buFont typeface="Quattrocento Sans"/>
              <a:buChar char="•"/>
            </a:pPr>
            <a:r>
              <a:rPr lang="en-US" sz="14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Corrected version penalizes the fraction (ratio) of lesion probability outside the kidney : which can only improve by moving predictions inside the kidney.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1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Enhancement Layer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enhancement_comparison.png" id="105" name="Google Shape;1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34440"/>
            <a:ext cx="731520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 txBox="1"/>
          <p:nvPr/>
        </p:nvSpPr>
        <p:spPr>
          <a:xfrm>
            <a:off x="457200" y="53492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350"/>
              <a:buFont typeface="Quattrocento Sans"/>
              <a:buChar char="•"/>
            </a:pPr>
            <a:r>
              <a:rPr lang="en-US" sz="13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preprocessing </a:t>
            </a:r>
            <a:r>
              <a:rPr lang="en-US" sz="13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parameters: CLAHE clip limit, tile grid size, non-local-means denoising strength, and gamma.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350"/>
              <a:buFont typeface="Quattrocento Sans"/>
              <a:buChar char="•"/>
            </a:pPr>
            <a:r>
              <a:rPr lang="en-US" sz="13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Enhanced images are computed once per configuration across 12 CPU workers and reused for every epoch (denoising costs ~0.6s/image).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the Search Is Set Up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457200" y="1234440"/>
            <a:ext cx="466344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1" lang="en-US" sz="17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parameters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550"/>
              <a:buFont typeface="Quattrocento Sans"/>
              <a:buChar char="•"/>
            </a:pPr>
            <a:r>
              <a:rPr lang="en-US" sz="15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 loss weights in [0.1, 5.0] and 4 enhancement settings were searched jointly.</a:t>
            </a:r>
            <a:endParaRPr sz="155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1" lang="en-US" sz="17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Equal budget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550"/>
              <a:buFont typeface="Quattrocento Sans"/>
              <a:buChar char="•"/>
            </a:pPr>
            <a:r>
              <a:rPr lang="en-US" sz="15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 model trainings per metaheuristic optimization model, 180 in total capped on trainings rather than iterations.</a:t>
            </a:r>
            <a:endParaRPr sz="155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1" lang="en-US" sz="17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r>
              <a:rPr b="1" lang="en-US" sz="17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valuation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550"/>
              <a:buFont typeface="Quattrocento Sans"/>
              <a:buChar char="•"/>
            </a:pPr>
            <a:r>
              <a:rPr lang="en-US" sz="15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candidate trained 15 epochs at 256x256 (around 2 minutes), then scored on validation.</a:t>
            </a:r>
            <a:endParaRPr sz="155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1" lang="en-US" sz="17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start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550"/>
              <a:buFont typeface="Quattrocento Sans"/>
              <a:buChar char="•"/>
            </a:pPr>
            <a:r>
              <a:rPr lang="en-US" sz="15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random seed: all optimizers begin from the same 6 candidates.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300"/>
              <a:buFont typeface="Quattrocento Sans"/>
              <a:buNone/>
            </a:pPr>
            <a:r>
              <a:rPr b="1" lang="en-US" sz="13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Fitness (maximized on validation)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486400" y="150876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C72"/>
              </a:buClr>
              <a:buSzPts val="1050"/>
              <a:buFont typeface="Courier New"/>
              <a:buNone/>
            </a:pPr>
            <a:r>
              <a:rPr lang="en-US" sz="1650">
                <a:solidFill>
                  <a:srgbClr val="1E3C72"/>
                </a:solidFill>
                <a:latin typeface="Courier New"/>
                <a:ea typeface="Courier New"/>
                <a:cs typeface="Courier New"/>
                <a:sym typeface="Courier New"/>
              </a:rPr>
              <a:t>F = </a:t>
            </a:r>
            <a:endParaRPr sz="1650">
              <a:solidFill>
                <a:srgbClr val="1E3C7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C72"/>
              </a:buClr>
              <a:buSzPts val="1050"/>
              <a:buFont typeface="Courier New"/>
              <a:buNone/>
            </a:pPr>
            <a:r>
              <a:rPr lang="en-US" sz="1650">
                <a:solidFill>
                  <a:srgbClr val="1E3C72"/>
                </a:solidFill>
                <a:latin typeface="Courier New"/>
                <a:ea typeface="Courier New"/>
                <a:cs typeface="Courier New"/>
                <a:sym typeface="Courier New"/>
              </a:rPr>
              <a:t>0.30·AUC_diag + </a:t>
            </a:r>
            <a:endParaRPr sz="1650">
              <a:solidFill>
                <a:srgbClr val="1E3C7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C72"/>
              </a:buClr>
              <a:buSzPts val="1050"/>
              <a:buFont typeface="Courier New"/>
              <a:buNone/>
            </a:pPr>
            <a:r>
              <a:rPr lang="en-US" sz="1650">
                <a:solidFill>
                  <a:srgbClr val="1E3C72"/>
                </a:solidFill>
                <a:latin typeface="Courier New"/>
                <a:ea typeface="Courier New"/>
                <a:cs typeface="Courier New"/>
                <a:sym typeface="Courier New"/>
              </a:rPr>
              <a:t>0.15·AUC_local + 0.25·Dice_kidney + 0.25·Dice_lesion+ + 0.05·(1−violation)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0650" y="3711850"/>
            <a:ext cx="3291900" cy="19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Metaheuristics Algorithms Compared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594350" y="1371600"/>
            <a:ext cx="23775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C72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E3C72"/>
                </a:solidFill>
                <a:latin typeface="Calibri"/>
                <a:ea typeface="Calibri"/>
                <a:cs typeface="Calibri"/>
                <a:sym typeface="Calibri"/>
              </a:rPr>
              <a:t>COA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Coati Optimization Algorithm</a:t>
            </a:r>
            <a:endParaRPr b="1" sz="2000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Half the population moves toward the best solution, half toward a random point; then a local search with a radius that shrinks each iteration.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3383275" y="1371600"/>
            <a:ext cx="23775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C72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E3C72"/>
                </a:solidFill>
                <a:latin typeface="Calibri"/>
                <a:ea typeface="Calibri"/>
                <a:cs typeface="Calibri"/>
                <a:sym typeface="Calibri"/>
              </a:rPr>
              <a:t>WOA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Whale Optimization Algorithm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3C3C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Encircles the best solution, explores via random agents, and exploits with a spiral update, step size shrinks over time.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6172200" y="1371600"/>
            <a:ext cx="23775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C72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E3C72"/>
                </a:solidFill>
                <a:latin typeface="Calibri"/>
                <a:ea typeface="Calibri"/>
                <a:cs typeface="Calibri"/>
                <a:sym typeface="Calibri"/>
              </a:rPr>
              <a:t>GWO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Grey Wolf Optimizer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Moves every candidate toward the three best solutions so far (alpha, beta, delta); exploration shrinks linearly.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Protocol and Reproducibility Check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457200" y="1234440"/>
            <a:ext cx="420624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1" lang="en-US" sz="14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protocol, identical for every phase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Split 70/15/15, stratified by diagnosis, seed 42.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epochs, batch 4, Adam, learning rate 1e-4.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Mixed precision; best checkpoint chosen on validation Dice.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512x512, standard normalization to [-1, 1].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Char char="•"/>
            </a:pPr>
            <a:r>
              <a:rPr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Hardware: RTX 3050 Laptop GPU, 4GB.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4846325" y="1051554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300"/>
              <a:buFont typeface="Quattrocento Sans"/>
              <a:buNone/>
            </a:pPr>
            <a:r>
              <a:rPr b="1" lang="en-US" sz="13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reproducibility we tested the same pipeline in both an online colab notebook as well as our local 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5"/>
          <p:cNvGraphicFramePr/>
          <p:nvPr/>
        </p:nvGraphicFramePr>
        <p:xfrm>
          <a:off x="484632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{A981B70A-8897-4ADA-86FB-E6B9B6DC2345}</a:tableStyleId>
              </a:tblPr>
              <a:tblGrid>
                <a:gridCol w="1097275"/>
                <a:gridCol w="1371600"/>
                <a:gridCol w="685800"/>
                <a:gridCol w="685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Checkpoint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Metric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Orig.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New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Phase 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Diagnosis AUC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0.9003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0.9001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Phase 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Kidney Dice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0.8735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0.8733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Phase 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Diagnosis AUC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0.8712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0.8707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Phase 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Local path. AUC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0.7724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0.7723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Phase 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Violation rate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0.3790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0.3786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15"/>
          <p:cNvSpPr txBox="1"/>
          <p:nvPr/>
        </p:nvSpPr>
        <p:spPr>
          <a:xfrm>
            <a:off x="457200" y="5120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300"/>
              <a:buFont typeface="Quattrocento Sans"/>
              <a:buNone/>
            </a:pPr>
            <a:r>
              <a:rPr b="1" lang="en-US" sz="13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Metrics used throughout: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457200" y="5440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None/>
            </a:pPr>
            <a:r>
              <a:rPr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AUC - ranking quality, 0.5 is chance.   Dice - overlap, 1 is perfect.   Violation rate - share of lesion probability outside the kidney, lower is better.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57200" y="384048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Quattrocento Sans"/>
              <a:buNone/>
            </a:pPr>
            <a:r>
              <a:rPr b="1" lang="en-US" sz="21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Standard Lesion Dice Was Hiding Real Performance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400"/>
              <a:buFont typeface="Quattrocento Sans"/>
              <a:buNone/>
            </a:pPr>
            <a:r>
              <a:rPr b="1" lang="en-US" sz="14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Lesion Dice on the test set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20240"/>
            <a:ext cx="51206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5760720" y="1920240"/>
            <a:ext cx="29260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150"/>
              <a:buFont typeface="Quattrocento Sans"/>
              <a:buChar char="•"/>
            </a:pPr>
            <a:r>
              <a:rPr lang="en-US" sz="11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31.9% of test images contain no lesion; an empty prediction scores about 1 on each of them.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150"/>
              <a:buFont typeface="Quattrocento Sans"/>
              <a:buChar char="•"/>
            </a:pPr>
            <a:r>
              <a:rPr lang="en-US" sz="11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Restricting to lesion-bearing images separates the models clearly: 0.000 vs 0.506.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150"/>
              <a:buFont typeface="Quattrocento Sans"/>
              <a:buChar char="•"/>
            </a:pPr>
            <a:r>
              <a:rPr lang="en-US" sz="11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now report both versions of lesion Dice.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150"/>
              <a:buFont typeface="Quattrocento Sans"/>
              <a:buChar char="•"/>
            </a:pPr>
            <a:r>
              <a:rPr lang="en-US" sz="11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optimizer uses the lesion-bearing version only, so it cannot be rewarded for predicting nothing.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65760" y="43434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Quattrocento Sans"/>
              <a:buNone/>
            </a:pPr>
            <a:r>
              <a:rPr b="1" lang="en-US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Anatomical Constraint Works Only in Ratio Form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457200" y="15087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300"/>
              <a:buFont typeface="Quattrocento Sans"/>
              <a:buNone/>
            </a:pPr>
            <a:r>
              <a:rPr b="1" lang="en-US" sz="13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Violation rate on the test set (lower is better)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74520"/>
            <a:ext cx="4754880" cy="23317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17"/>
          <p:cNvGraphicFramePr/>
          <p:nvPr/>
        </p:nvGraphicFramePr>
        <p:xfrm>
          <a:off x="5432460" y="18973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{A981B70A-8897-4ADA-86FB-E6B9B6DC2345}</a:tableStyleId>
              </a:tblPr>
              <a:tblGrid>
                <a:gridCol w="1463050"/>
                <a:gridCol w="612650"/>
                <a:gridCol w="612650"/>
                <a:gridCol w="6035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Test metric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P5b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Violation rate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0.233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0.282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0.054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Diagnosis AUC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0.879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Kidney Dice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0.893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0.884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0.895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Lesion Dice (lesion imgs)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0.506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0.487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0.488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7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the Constraint Acts During Training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None/>
            </a:pPr>
            <a:r>
              <a:rPr b="1"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violation rate by epoch (lower is better)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402336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4709160" y="118872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None/>
            </a:pPr>
            <a:r>
              <a:rPr b="1"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lesion Dice on lesion-bearing images by epoch</a:t>
            </a:r>
            <a:endParaRPr b="1" sz="120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None/>
            </a:pPr>
            <a:r>
              <a:rPr b="1"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(higher is better)</a:t>
            </a:r>
            <a:endParaRPr b="1" sz="1200">
              <a:solidFill>
                <a:srgbClr val="3C3C3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508760"/>
            <a:ext cx="397764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457200" y="434340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Char char="•"/>
            </a:pPr>
            <a:r>
              <a:rPr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absolute form (amber) spikes to ~0.70 at epoch 4 and only recovers to the unconstrained level by the end.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Char char="•"/>
            </a:pPr>
            <a:r>
              <a:rPr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ratio form (navy) holds around 0.25 for the first eight epochs, then falls steadily to 0.058 at epoch 15.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Char char="•"/>
            </a:pPr>
            <a:r>
              <a:rPr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Lesion Dice on lesion-bearing images climbs along a similar path for all three, matching the small cost seen on the previous slide.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Configurations on the Same Test Set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19"/>
          <p:cNvGraphicFramePr/>
          <p:nvPr/>
        </p:nvGraphicFramePr>
        <p:xfrm>
          <a:off x="457175" y="16326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{A981B70A-8897-4ADA-86FB-E6B9B6DC2345}</a:tableStyleId>
              </a:tblPr>
              <a:tblGrid>
                <a:gridCol w="411475"/>
                <a:gridCol w="2331725"/>
                <a:gridCol w="777250"/>
                <a:gridCol w="777250"/>
                <a:gridCol w="731525"/>
                <a:gridCol w="731525"/>
                <a:gridCol w="777250"/>
                <a:gridCol w="1005850"/>
                <a:gridCol w="685800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Ph.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Configuration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Diag.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Global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Local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AUC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Kidney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Dice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Lesion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Dice (all)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Lesion Dice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(lesion imgs)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Viol.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rate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Equal weights, no enhancement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0.9013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0.8038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0.8991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Hand-picked enhancement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0.8903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0.7802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0.9021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Five heads, no constraint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0.8995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0.8012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0.7704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0.8928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0.3444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0.5056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0.2331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Constraint, absolute form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0.8791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0.8004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0.7752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0.8838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0.3518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0.4868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0.2817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5b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Constraint, ratio form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0.9014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0.7932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0.7416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0.8954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0.3325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0.4881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0.0543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COA-optimized weights + enhancement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0.8753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0.7255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0.7314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0.9081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0.2847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0.4180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0.0545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19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Optimizers Chose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57200" y="11887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None/>
            </a:pPr>
            <a:r>
              <a:rPr b="1"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Loss weights found by each optimizer (baseline: all weights = 1.0)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502920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623560" y="1188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None/>
            </a:pPr>
            <a:r>
              <a:rPr b="1"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Enhancement parameters chosen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20"/>
          <p:cNvGraphicFramePr/>
          <p:nvPr/>
        </p:nvGraphicFramePr>
        <p:xfrm>
          <a:off x="562356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{A981B70A-8897-4ADA-86FB-E6B9B6DC2345}</a:tableStyleId>
              </a:tblPr>
              <a:tblGrid>
                <a:gridCol w="914400"/>
                <a:gridCol w="548650"/>
                <a:gridCol w="502925"/>
                <a:gridCol w="594350"/>
                <a:gridCol w="5029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Clip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Tile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Denoise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Quattrocen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Gamma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C7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Manual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2.00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10.0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1.20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COA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3.40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0.76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WOA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2.57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16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1.9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0.79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1F6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GWO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5.00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9.3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1100"/>
                        <a:buFont typeface="Quattrocen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C3C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0.54</a:t>
                      </a:r>
                      <a:endParaRPr sz="11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C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20"/>
          <p:cNvSpPr txBox="1"/>
          <p:nvPr/>
        </p:nvSpPr>
        <p:spPr>
          <a:xfrm>
            <a:off x="5623560" y="3703320"/>
            <a:ext cx="3063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Font typeface="Quattrocento Sans"/>
              <a:buChar char="•"/>
            </a:pPr>
            <a:r>
              <a:rPr lang="en-US" sz="10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three: gamma below 1 and a larger tile grid than hand-picked.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050"/>
              <a:buFont typeface="Quattrocento Sans"/>
              <a:buChar char="•"/>
            </a:pPr>
            <a:r>
              <a:rPr lang="en-US" sz="10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COA and WOA: denoising nearly off.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050"/>
              <a:buFont typeface="Quattrocento Sans"/>
              <a:buChar char="•"/>
            </a:pPr>
            <a:r>
              <a:rPr lang="en-US" sz="10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COA and WOA: diagnosis weight near the 0.1 floor; GWO keeps it at 2.9.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the Optimized Configuration Hold Up?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50"/>
              <a:buFont typeface="Quattrocento Sans"/>
              <a:buNone/>
            </a:pPr>
            <a:r>
              <a:rPr b="1" lang="en-US" sz="125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Full-fidelity test results (15 epochs, 512x512) — COA-optimized vs equal weights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512064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5760720" y="1508760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Char char="•"/>
            </a:pPr>
            <a:r>
              <a:rPr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+0.013 kidney Dice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Char char="•"/>
            </a:pPr>
            <a:r>
              <a:rPr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−0.026 diagnosis AUC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Char char="•"/>
            </a:pPr>
            <a:r>
              <a:rPr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−0.070 lesion Dice (lesion images)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Per-Category Performance and Its Limits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57200" y="118872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200"/>
              <a:buFont typeface="Quattrocento Sans"/>
              <a:buNone/>
            </a:pPr>
            <a:r>
              <a:rPr b="1" lang="en-US" sz="12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pathology AUC by category (test images with that category shown in labels)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52120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760720" y="11887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300"/>
              <a:buFont typeface="Quattrocento Sans"/>
              <a:buNone/>
            </a:pPr>
            <a:r>
              <a:rPr b="1" lang="en-US" sz="13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to read this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60720" y="1508760"/>
            <a:ext cx="29260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100"/>
              <a:buFont typeface="Quattrocento Sans"/>
              <a:buChar char="•"/>
            </a:pPr>
            <a:r>
              <a:rPr lang="en-US" sz="11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AUC 0.5 is chance level.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100"/>
              <a:buFont typeface="Quattrocento Sans"/>
              <a:buChar char="•"/>
            </a:pPr>
            <a:r>
              <a:rPr lang="en-US" sz="11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categories 2 and 7 (97 and 65 test images) are strong.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100"/>
              <a:buFont typeface="Quattrocento Sans"/>
              <a:buChar char="•"/>
            </a:pPr>
            <a:r>
              <a:rPr lang="en-US" sz="11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Categories 8 and 9 are weakest.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100"/>
              <a:buFont typeface="Quattrocento Sans"/>
              <a:buChar char="•"/>
            </a:pPr>
            <a:r>
              <a:rPr lang="en-US" sz="11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Categories 5 and 6 have only 4 and 2 test images,  their AUCs are not reliable.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100"/>
              <a:buFont typeface="Quattrocento Sans"/>
              <a:buChar char="•"/>
            </a:pPr>
            <a:r>
              <a:rPr lang="en-US" sz="1100">
                <a:solidFill>
                  <a:srgbClr val="3C3C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report per-category counts alongside the mean.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75757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