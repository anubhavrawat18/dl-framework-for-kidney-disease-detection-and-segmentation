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ppt/charts/chart3.xml" ContentType="application/vnd.openxmlformats-officedocument.drawingml.chart+xml"/>
  <Override PartName="/ppt/notesSlides/notesSlide14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6.xml" ContentType="application/vnd.openxmlformats-officedocument.drawingml.chart+xml"/>
  <Override PartName="/ppt/notesSlides/notesSlide17.xml" ContentType="application/vnd.openxmlformats-officedocument.presentationml.notesSlide+xml"/>
  <Override PartName="/ppt/charts/chart7.xml" ContentType="application/vnd.openxmlformats-officedocument.drawingml.chart+xml"/>
  <Override PartName="/ppt/notesSlides/notesSlide18.xml" ContentType="application/vnd.openxmlformats-officedocument.presentationml.notesSlide+xml"/>
  <Override PartName="/ppt/charts/chart8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176" autoAdjust="0"/>
    <p:restoredTop sz="94610"/>
  </p:normalViewPr>
  <p:slideViewPr>
    <p:cSldViewPr snapToGrid="0" snapToObjects="1">
      <p:cViewPr>
        <p:scale>
          <a:sx n="75" d="100"/>
          <a:sy n="75" d="100"/>
        </p:scale>
        <p:origin x="1181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fitness</c:v>
                </c:pt>
              </c:strCache>
            </c:strRef>
          </c:tx>
          <c:spPr>
            <a:solidFill>
              <a:srgbClr val="1E3C72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C3C3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Diagnosis AUC</c:v>
                </c:pt>
                <c:pt idx="1">
                  <c:v>Kidney Dice</c:v>
                </c:pt>
                <c:pt idx="2">
                  <c:v>Lesion Dice</c:v>
                </c:pt>
                <c:pt idx="3">
                  <c:v>Local path. AUC</c:v>
                </c:pt>
                <c:pt idx="4">
                  <c:v>Consistency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</c:v>
                </c:pt>
                <c:pt idx="1">
                  <c:v>0.25</c:v>
                </c:pt>
                <c:pt idx="2">
                  <c:v>0.25</c:v>
                </c:pt>
                <c:pt idx="3">
                  <c:v>0.15</c:v>
                </c:pt>
                <c:pt idx="4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A0-4070-B3A2-EF875FD8B67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C3C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All 298 test images</c:v>
                </c:pt>
              </c:strCache>
            </c:strRef>
          </c:tx>
          <c:spPr>
            <a:solidFill>
              <a:srgbClr val="757575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Model with no lesion head</c:v>
                </c:pt>
                <c:pt idx="1">
                  <c:v>Phase 4 multi-task model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0.31879999999999997</c:v>
                </c:pt>
                <c:pt idx="1">
                  <c:v>0.34439999999999998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BD-4953-866F-50335454F77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Only the 203 lesion-bearing images</c:v>
                </c:pt>
              </c:strCache>
            </c:strRef>
          </c:tx>
          <c:spPr>
            <a:solidFill>
              <a:srgbClr val="1E3C72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Model with no lesion head</c:v>
                </c:pt>
                <c:pt idx="1">
                  <c:v>Phase 4 multi-task model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0.50560000000000005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CBD-4953-866F-50335454F77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Violation rate</c:v>
                </c:pt>
              </c:strCache>
            </c:strRef>
          </c:tx>
          <c:spPr>
            <a:solidFill>
              <a:srgbClr val="1E3C72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Phase 4
no constraint</c:v>
                </c:pt>
                <c:pt idx="1">
                  <c:v>Phase 5
absolute form</c:v>
                </c:pt>
                <c:pt idx="2">
                  <c:v>Phase 5b
ratio form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0.2331</c:v>
                </c:pt>
                <c:pt idx="1">
                  <c:v>0.28170000000000001</c:v>
                </c:pt>
                <c:pt idx="2">
                  <c:v>5.4300000000000001E-2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972-42F2-9032-6ADA15B3B22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Phase 4: none</c:v>
                </c:pt>
              </c:strCache>
            </c:strRef>
          </c:tx>
          <c:spPr>
            <a:ln w="25400" cap="flat">
              <a:solidFill>
                <a:srgbClr val="757575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Sheet1!$A$2:$A$16</c:f>
              <c:strCach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0</c:v>
                </c:pt>
                <c:pt idx="1">
                  <c:v>0.1099</c:v>
                </c:pt>
                <c:pt idx="2">
                  <c:v>0.1837</c:v>
                </c:pt>
                <c:pt idx="3">
                  <c:v>0.29780000000000001</c:v>
                </c:pt>
                <c:pt idx="4">
                  <c:v>0.21870000000000001</c:v>
                </c:pt>
                <c:pt idx="5">
                  <c:v>0.3044</c:v>
                </c:pt>
                <c:pt idx="6">
                  <c:v>0.1762</c:v>
                </c:pt>
                <c:pt idx="7">
                  <c:v>0.34699999999999998</c:v>
                </c:pt>
                <c:pt idx="8">
                  <c:v>0.252</c:v>
                </c:pt>
                <c:pt idx="9">
                  <c:v>0.27200000000000002</c:v>
                </c:pt>
                <c:pt idx="10">
                  <c:v>0.3</c:v>
                </c:pt>
                <c:pt idx="11">
                  <c:v>0.28110000000000002</c:v>
                </c:pt>
                <c:pt idx="12">
                  <c:v>0.1696</c:v>
                </c:pt>
                <c:pt idx="13">
                  <c:v>0.25519999999999998</c:v>
                </c:pt>
                <c:pt idx="14">
                  <c:v>0.24879999999999999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CDE-4DC0-9D72-FE30A5ADCD9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Phase 5: absolute</c:v>
                </c:pt>
              </c:strCache>
            </c:strRef>
          </c:tx>
          <c:spPr>
            <a:ln w="25400" cap="flat">
              <a:solidFill>
                <a:srgbClr val="B8860B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Sheet1!$A$2:$A$16</c:f>
              <c:strCach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0.53759999999999997</c:v>
                </c:pt>
                <c:pt idx="3">
                  <c:v>0.7026</c:v>
                </c:pt>
                <c:pt idx="4">
                  <c:v>0.6865</c:v>
                </c:pt>
                <c:pt idx="5">
                  <c:v>0.64600000000000002</c:v>
                </c:pt>
                <c:pt idx="6">
                  <c:v>0.54820000000000002</c:v>
                </c:pt>
                <c:pt idx="7">
                  <c:v>0.51400000000000001</c:v>
                </c:pt>
                <c:pt idx="8">
                  <c:v>0.42720000000000002</c:v>
                </c:pt>
                <c:pt idx="9">
                  <c:v>0.40010000000000001</c:v>
                </c:pt>
                <c:pt idx="10">
                  <c:v>0.45760000000000001</c:v>
                </c:pt>
                <c:pt idx="11">
                  <c:v>0.33850000000000002</c:v>
                </c:pt>
                <c:pt idx="12">
                  <c:v>0.1971</c:v>
                </c:pt>
                <c:pt idx="13">
                  <c:v>0.2772</c:v>
                </c:pt>
                <c:pt idx="14">
                  <c:v>0.2482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CDE-4DC0-9D72-FE30A5ADCD9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Phase 5b: ratio</c:v>
                </c:pt>
              </c:strCache>
            </c:strRef>
          </c:tx>
          <c:spPr>
            <a:ln w="25400" cap="flat">
              <a:solidFill>
                <a:srgbClr val="1E3C72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Sheet1!$A$2:$A$16</c:f>
              <c:strCach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strCache>
            </c: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4.3299999999999998E-2</c:v>
                </c:pt>
                <c:pt idx="1">
                  <c:v>0.2853</c:v>
                </c:pt>
                <c:pt idx="2">
                  <c:v>0.27250000000000002</c:v>
                </c:pt>
                <c:pt idx="3">
                  <c:v>0.27039999999999997</c:v>
                </c:pt>
                <c:pt idx="4">
                  <c:v>0.23960000000000001</c:v>
                </c:pt>
                <c:pt idx="5">
                  <c:v>0.25580000000000003</c:v>
                </c:pt>
                <c:pt idx="6">
                  <c:v>0.24840000000000001</c:v>
                </c:pt>
                <c:pt idx="7">
                  <c:v>0.28110000000000002</c:v>
                </c:pt>
                <c:pt idx="8">
                  <c:v>0.1986</c:v>
                </c:pt>
                <c:pt idx="9">
                  <c:v>0.15989999999999999</c:v>
                </c:pt>
                <c:pt idx="10">
                  <c:v>0.13070000000000001</c:v>
                </c:pt>
                <c:pt idx="11">
                  <c:v>9.8699999999999996E-2</c:v>
                </c:pt>
                <c:pt idx="12">
                  <c:v>8.14E-2</c:v>
                </c:pt>
                <c:pt idx="13">
                  <c:v>7.3099999999999998E-2</c:v>
                </c:pt>
                <c:pt idx="14">
                  <c:v>5.7700000000000001E-2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CDE-4DC0-9D72-FE30A5ADCD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Phase 4: none</c:v>
                </c:pt>
              </c:strCache>
            </c:strRef>
          </c:tx>
          <c:spPr>
            <a:ln w="25400" cap="flat">
              <a:solidFill>
                <a:srgbClr val="757575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Sheet1!$A$2:$A$16</c:f>
              <c:strCach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0.2099</c:v>
                </c:pt>
                <c:pt idx="1">
                  <c:v>0.31159999999999999</c:v>
                </c:pt>
                <c:pt idx="2">
                  <c:v>0.36780000000000002</c:v>
                </c:pt>
                <c:pt idx="3">
                  <c:v>0.38829999999999998</c:v>
                </c:pt>
                <c:pt idx="4">
                  <c:v>0.34570000000000001</c:v>
                </c:pt>
                <c:pt idx="5">
                  <c:v>0.46129999999999999</c:v>
                </c:pt>
                <c:pt idx="6">
                  <c:v>0.46289999999999998</c:v>
                </c:pt>
                <c:pt idx="7">
                  <c:v>0.49469999999999997</c:v>
                </c:pt>
                <c:pt idx="8">
                  <c:v>0.50719999999999998</c:v>
                </c:pt>
                <c:pt idx="9">
                  <c:v>0.53249999999999997</c:v>
                </c:pt>
                <c:pt idx="10">
                  <c:v>0.48259999999999997</c:v>
                </c:pt>
                <c:pt idx="11">
                  <c:v>0.52829999999999999</c:v>
                </c:pt>
                <c:pt idx="12">
                  <c:v>0.53990000000000005</c:v>
                </c:pt>
                <c:pt idx="13">
                  <c:v>0.5474</c:v>
                </c:pt>
                <c:pt idx="14">
                  <c:v>0.51129999999999998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67F-4A4B-8C76-204DF93E93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Phase 5: absolute</c:v>
                </c:pt>
              </c:strCache>
            </c:strRef>
          </c:tx>
          <c:spPr>
            <a:ln w="25400" cap="flat">
              <a:solidFill>
                <a:srgbClr val="B8860B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Sheet1!$A$2:$A$16</c:f>
              <c:strCach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0.31230000000000002</c:v>
                </c:pt>
                <c:pt idx="1">
                  <c:v>0.37659999999999999</c:v>
                </c:pt>
                <c:pt idx="2">
                  <c:v>0.4078</c:v>
                </c:pt>
                <c:pt idx="3">
                  <c:v>0.40699999999999997</c:v>
                </c:pt>
                <c:pt idx="4">
                  <c:v>0.44819999999999999</c:v>
                </c:pt>
                <c:pt idx="5">
                  <c:v>0.4486</c:v>
                </c:pt>
                <c:pt idx="6">
                  <c:v>0.45369999999999999</c:v>
                </c:pt>
                <c:pt idx="7">
                  <c:v>0.48299999999999998</c:v>
                </c:pt>
                <c:pt idx="8">
                  <c:v>0.499</c:v>
                </c:pt>
                <c:pt idx="9">
                  <c:v>0.50570000000000004</c:v>
                </c:pt>
                <c:pt idx="10">
                  <c:v>0.53010000000000002</c:v>
                </c:pt>
                <c:pt idx="11">
                  <c:v>0.52600000000000002</c:v>
                </c:pt>
                <c:pt idx="12">
                  <c:v>0.5383</c:v>
                </c:pt>
                <c:pt idx="13">
                  <c:v>0.53439999999999999</c:v>
                </c:pt>
                <c:pt idx="14">
                  <c:v>0.5373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67F-4A4B-8C76-204DF93E93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Phase 5b: ratio</c:v>
                </c:pt>
              </c:strCache>
            </c:strRef>
          </c:tx>
          <c:spPr>
            <a:ln w="25400" cap="flat">
              <a:solidFill>
                <a:srgbClr val="1E3C72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Sheet1!$A$2:$A$16</c:f>
              <c:strCach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strCache>
            </c: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0.21390000000000001</c:v>
                </c:pt>
                <c:pt idx="1">
                  <c:v>0.2752</c:v>
                </c:pt>
                <c:pt idx="2">
                  <c:v>0.36080000000000001</c:v>
                </c:pt>
                <c:pt idx="3">
                  <c:v>0.34689999999999999</c:v>
                </c:pt>
                <c:pt idx="4">
                  <c:v>0.41199999999999998</c:v>
                </c:pt>
                <c:pt idx="5">
                  <c:v>0.4027</c:v>
                </c:pt>
                <c:pt idx="6">
                  <c:v>0.39960000000000001</c:v>
                </c:pt>
                <c:pt idx="7">
                  <c:v>0.42170000000000002</c:v>
                </c:pt>
                <c:pt idx="8">
                  <c:v>0.4269</c:v>
                </c:pt>
                <c:pt idx="9">
                  <c:v>0.45700000000000002</c:v>
                </c:pt>
                <c:pt idx="10">
                  <c:v>0.47189999999999999</c:v>
                </c:pt>
                <c:pt idx="11">
                  <c:v>0.47120000000000001</c:v>
                </c:pt>
                <c:pt idx="12">
                  <c:v>0.49009999999999998</c:v>
                </c:pt>
                <c:pt idx="13">
                  <c:v>0.49609999999999999</c:v>
                </c:pt>
                <c:pt idx="14">
                  <c:v>0.53610000000000002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67F-4A4B-8C76-204DF93E93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COA</c:v>
                </c:pt>
              </c:strCache>
            </c:strRef>
          </c:tx>
          <c:spPr>
            <a:solidFill>
              <a:srgbClr val="1E3C72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Diagnosis</c:v>
                </c:pt>
                <c:pt idx="1">
                  <c:v>Global path.</c:v>
                </c:pt>
                <c:pt idx="2">
                  <c:v>Local path.</c:v>
                </c:pt>
                <c:pt idx="3">
                  <c:v>Kidney seg.</c:v>
                </c:pt>
                <c:pt idx="4">
                  <c:v>Lesion seg.</c:v>
                </c:pt>
                <c:pt idx="5">
                  <c:v>Consistency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</c:v>
                </c:pt>
                <c:pt idx="1">
                  <c:v>0.1</c:v>
                </c:pt>
                <c:pt idx="2">
                  <c:v>3.976</c:v>
                </c:pt>
                <c:pt idx="3">
                  <c:v>3.0550000000000002</c:v>
                </c:pt>
                <c:pt idx="4">
                  <c:v>1.544</c:v>
                </c:pt>
                <c:pt idx="5">
                  <c:v>4.1870000000000003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0A-4206-BD97-82D72C76D6C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WOA</c:v>
                </c:pt>
              </c:strCache>
            </c:strRef>
          </c:tx>
          <c:spPr>
            <a:solidFill>
              <a:srgbClr val="2A82DA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Diagnosis</c:v>
                </c:pt>
                <c:pt idx="1">
                  <c:v>Global path.</c:v>
                </c:pt>
                <c:pt idx="2">
                  <c:v>Local path.</c:v>
                </c:pt>
                <c:pt idx="3">
                  <c:v>Kidney seg.</c:v>
                </c:pt>
                <c:pt idx="4">
                  <c:v>Lesion seg.</c:v>
                </c:pt>
                <c:pt idx="5">
                  <c:v>Consistency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0.34</c:v>
                </c:pt>
                <c:pt idx="1">
                  <c:v>0.108</c:v>
                </c:pt>
                <c:pt idx="2">
                  <c:v>4.3920000000000003</c:v>
                </c:pt>
                <c:pt idx="3">
                  <c:v>2.6509999999999998</c:v>
                </c:pt>
                <c:pt idx="4">
                  <c:v>2.0510000000000002</c:v>
                </c:pt>
                <c:pt idx="5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0A-4206-BD97-82D72C76D6C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GWO</c:v>
                </c:pt>
              </c:strCache>
            </c:strRef>
          </c:tx>
          <c:spPr>
            <a:solidFill>
              <a:srgbClr val="9DB4E0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Diagnosis</c:v>
                </c:pt>
                <c:pt idx="1">
                  <c:v>Global path.</c:v>
                </c:pt>
                <c:pt idx="2">
                  <c:v>Local path.</c:v>
                </c:pt>
                <c:pt idx="3">
                  <c:v>Kidney seg.</c:v>
                </c:pt>
                <c:pt idx="4">
                  <c:v>Lesion seg.</c:v>
                </c:pt>
                <c:pt idx="5">
                  <c:v>Consistency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2.9</c:v>
                </c:pt>
                <c:pt idx="1">
                  <c:v>1.7829999999999999</c:v>
                </c:pt>
                <c:pt idx="2">
                  <c:v>5</c:v>
                </c:pt>
                <c:pt idx="3">
                  <c:v>5</c:v>
                </c:pt>
                <c:pt idx="4">
                  <c:v>2.1040000000000001</c:v>
                </c:pt>
                <c:pt idx="5">
                  <c:v>1.1479999999999999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0A-4206-BD97-82D72C76D6C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3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Equal weights (Phase 5b)</c:v>
                </c:pt>
              </c:strCache>
            </c:strRef>
          </c:tx>
          <c:spPr>
            <a:solidFill>
              <a:srgbClr val="757575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Diagnosis AUC</c:v>
                </c:pt>
                <c:pt idx="1">
                  <c:v>Kidney Dice</c:v>
                </c:pt>
                <c:pt idx="2">
                  <c:v>Lesion Dice (lesion imgs)</c:v>
                </c:pt>
                <c:pt idx="3">
                  <c:v>1 − violation rate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0.90139999999999998</c:v>
                </c:pt>
                <c:pt idx="1">
                  <c:v>0.89539999999999997</c:v>
                </c:pt>
                <c:pt idx="2">
                  <c:v>0.48809999999999998</c:v>
                </c:pt>
                <c:pt idx="3">
                  <c:v>0.94569999999999999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AB2-4822-8FBF-6C70A5E791E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COA-optimized (Phase 6)</c:v>
                </c:pt>
              </c:strCache>
            </c:strRef>
          </c:tx>
          <c:spPr>
            <a:solidFill>
              <a:srgbClr val="1E3C72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Diagnosis AUC</c:v>
                </c:pt>
                <c:pt idx="1">
                  <c:v>Kidney Dice</c:v>
                </c:pt>
                <c:pt idx="2">
                  <c:v>Lesion Dice (lesion imgs)</c:v>
                </c:pt>
                <c:pt idx="3">
                  <c:v>1 − violation rate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0.87529999999999997</c:v>
                </c:pt>
                <c:pt idx="1">
                  <c:v>0.90810000000000002</c:v>
                </c:pt>
                <c:pt idx="2">
                  <c:v>0.41799999999999998</c:v>
                </c:pt>
                <c:pt idx="3">
                  <c:v>0.94550000000000001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AB2-4822-8FBF-6C70A5E791E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COA weights, no enhancement</c:v>
                </c:pt>
              </c:strCache>
            </c:strRef>
          </c:tx>
          <c:spPr>
            <a:solidFill>
              <a:srgbClr val="2A82DA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Diagnosis AUC</c:v>
                </c:pt>
                <c:pt idx="1">
                  <c:v>Kidney Dice</c:v>
                </c:pt>
                <c:pt idx="2">
                  <c:v>Lesion Dice (lesion imgs)</c:v>
                </c:pt>
                <c:pt idx="3">
                  <c:v>1 − violation rate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0.89510000000000001</c:v>
                </c:pt>
                <c:pt idx="1">
                  <c:v>0.91149999999999998</c:v>
                </c:pt>
                <c:pt idx="2">
                  <c:v>0.4239</c:v>
                </c:pt>
                <c:pt idx="3">
                  <c:v>0.92600000000000005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AB2-4822-8FBF-6C70A5E791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Phase 4</c:v>
                </c:pt>
              </c:strCache>
            </c:strRef>
          </c:tx>
          <c:spPr>
            <a:solidFill>
              <a:srgbClr val="757575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1 (9)</c:v>
                </c:pt>
                <c:pt idx="1">
                  <c:v>2 (97)</c:v>
                </c:pt>
                <c:pt idx="2">
                  <c:v>3 (10)</c:v>
                </c:pt>
                <c:pt idx="3">
                  <c:v>4 (21)</c:v>
                </c:pt>
                <c:pt idx="4">
                  <c:v>5 (4)</c:v>
                </c:pt>
                <c:pt idx="5">
                  <c:v>6 (2)</c:v>
                </c:pt>
                <c:pt idx="6">
                  <c:v>7 (65)</c:v>
                </c:pt>
                <c:pt idx="7">
                  <c:v>8 (22)</c:v>
                </c:pt>
                <c:pt idx="8">
                  <c:v>9 (11)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0.76200000000000001</c:v>
                </c:pt>
                <c:pt idx="1">
                  <c:v>0.80010000000000003</c:v>
                </c:pt>
                <c:pt idx="2">
                  <c:v>0.91279999999999994</c:v>
                </c:pt>
                <c:pt idx="3">
                  <c:v>0.82830000000000004</c:v>
                </c:pt>
                <c:pt idx="4">
                  <c:v>0.62160000000000004</c:v>
                </c:pt>
                <c:pt idx="5">
                  <c:v>0.77869999999999995</c:v>
                </c:pt>
                <c:pt idx="6">
                  <c:v>0.94699999999999995</c:v>
                </c:pt>
                <c:pt idx="7">
                  <c:v>0.69279999999999997</c:v>
                </c:pt>
                <c:pt idx="8">
                  <c:v>0.59009999999999996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6E-4AEC-8188-DB061FAAE33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Phase 5b</c:v>
                </c:pt>
              </c:strCache>
            </c:strRef>
          </c:tx>
          <c:spPr>
            <a:solidFill>
              <a:srgbClr val="1E3C72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1 (9)</c:v>
                </c:pt>
                <c:pt idx="1">
                  <c:v>2 (97)</c:v>
                </c:pt>
                <c:pt idx="2">
                  <c:v>3 (10)</c:v>
                </c:pt>
                <c:pt idx="3">
                  <c:v>4 (21)</c:v>
                </c:pt>
                <c:pt idx="4">
                  <c:v>5 (4)</c:v>
                </c:pt>
                <c:pt idx="5">
                  <c:v>6 (2)</c:v>
                </c:pt>
                <c:pt idx="6">
                  <c:v>7 (65)</c:v>
                </c:pt>
                <c:pt idx="7">
                  <c:v>8 (22)</c:v>
                </c:pt>
                <c:pt idx="8">
                  <c:v>9 (11)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0.74660000000000004</c:v>
                </c:pt>
                <c:pt idx="1">
                  <c:v>0.82030000000000003</c:v>
                </c:pt>
                <c:pt idx="2">
                  <c:v>0.85350000000000004</c:v>
                </c:pt>
                <c:pt idx="3">
                  <c:v>0.76380000000000003</c:v>
                </c:pt>
                <c:pt idx="4">
                  <c:v>0.59860000000000002</c:v>
                </c:pt>
                <c:pt idx="5">
                  <c:v>0.95779999999999998</c:v>
                </c:pt>
                <c:pt idx="6">
                  <c:v>0.91339999999999999</c:v>
                </c:pt>
                <c:pt idx="7">
                  <c:v>0.59530000000000005</c:v>
                </c:pt>
                <c:pt idx="8">
                  <c:v>0.4254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86E-4AEC-8188-DB061FAAE3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3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8730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703320"/>
          </a:xfrm>
          <a:prstGeom prst="rect">
            <a:avLst/>
          </a:prstGeom>
          <a:solidFill>
            <a:srgbClr val="1E3C72"/>
          </a:solidFill>
          <a:ln/>
        </p:spPr>
      </p:sp>
      <p:pic>
        <p:nvPicPr>
          <p:cNvPr id="3" name="Image 0" descr="/home/claude/work/vi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28600"/>
            <a:ext cx="1965960" cy="7680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188720"/>
            <a:ext cx="8046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Optimization-Based Deep Learning Framework for Kidney Disease Detection and Segmentation from Ultrasound Images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977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A82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- III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5262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82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Optimization Results, Ablations, and Where the Project Stands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539496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3C3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By: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C3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Anubhav Rawat (23BCE1471)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C3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Kaustubh (23BCE1555)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53949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3C3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Guide: Sudharson S</a:t>
            </a:r>
          </a:p>
          <a:p>
            <a:pPr marL="0" indent="0" algn="r">
              <a:buNone/>
            </a:pPr>
            <a:endParaRPr lang="en-US" sz="1400" dirty="0"/>
          </a:p>
          <a:p>
            <a:pPr marL="0" indent="0" algn="r">
              <a:buNone/>
            </a:pPr>
            <a:r>
              <a:rPr lang="en-US" sz="1400" dirty="0">
                <a:solidFill>
                  <a:srgbClr val="3C3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 September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C7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Benchmark System and the Gaps We Target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484632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3C3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 system: URI-CADS (Molina-Cabello et al.)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C3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Dual Mask R-CNN + Faster R-CNN, ResNet-50 backbone.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C3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Five-fold cross-validation on its own data.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C3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AUC 0.8741 (healthy vs pathological), 0.8190 (multi-pathological).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3C3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Five gaps we target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C3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Unweighted loss sum — task losses added with equal weight; nothing tuned or learned.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C3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optimized preprocessing — standard augmentation only; image enhancement never tuned.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C3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pixel-level lesion masks — lesions exist only as bounding boxes.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C3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Single-dataset validation — no external or cross-cohort test.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C3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Compute cost not addressed — two heavy detection networks; deployability undiscussed.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1371600"/>
          <a:ext cx="3200400" cy="18288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Metric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URI-CADS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C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AUC, healthy vs pathological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0.8741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AUC, multi-pathological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0.8190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Validation protocol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5-fold CV, single dataset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0" y="329184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7575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of our six contributions (next slide) targets exactly one of these five gaps.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5953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575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C7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Six Contributions, One Per Gap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3968496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Contribution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it does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C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Optimized loss weighting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Six task-loss weights searched instead of fixed at 1.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Evaluated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Optimized enhancement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CLAHE, denoising and gamma tuned jointly with the weights.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Evaluated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Optimizer comparison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COA vs WOA vs GWO at an equal budget of 60 trainings each.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Complete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Anatomical consistency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Penalizes lesion predictions outside the kidney; corrected ratio form.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Complete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Lightweight architecture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One ResNet-34 encoder, five heads, 24.4M parameters.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Complete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Beyond a single split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Five-fold cross-validation and an external cohort test.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Pending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85953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575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C7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URI-CADS Renal Ultrasound Dataset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C3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public, peer-reviewed benchmark with pixel-level kidney masks and bounding-box lesion annotations.</a:t>
            </a:r>
            <a:endParaRPr lang="en-US" sz="1400" dirty="0"/>
          </a:p>
        </p:txBody>
      </p:sp>
      <p:pic>
        <p:nvPicPr>
          <p:cNvPr id="6" name="Image 0" descr="/home/claude/work/ultrasound_examp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8046720" cy="19476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4114800"/>
            <a:ext cx="1965960" cy="1371600"/>
          </a:xfrm>
          <a:prstGeom prst="rect">
            <a:avLst/>
          </a:prstGeom>
          <a:solidFill>
            <a:srgbClr val="EEF1F6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422452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C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1,985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80060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C3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annotated ultrasound images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514600" y="4114800"/>
            <a:ext cx="1965960" cy="1371600"/>
          </a:xfrm>
          <a:prstGeom prst="rect">
            <a:avLst/>
          </a:prstGeom>
          <a:solidFill>
            <a:srgbClr val="EEF1F6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514600" y="422452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C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450 / 1,535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2606040" y="480060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C3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healthy / pathological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0" y="4114800"/>
            <a:ext cx="1965960" cy="1371600"/>
          </a:xfrm>
          <a:prstGeom prst="rect">
            <a:avLst/>
          </a:prstGeom>
          <a:solidFill>
            <a:srgbClr val="EEF1F6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72000" y="422452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C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4663440" y="480060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C3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pathology categories, plus 2 global labels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629400" y="4114800"/>
            <a:ext cx="1965960" cy="1371600"/>
          </a:xfrm>
          <a:prstGeom prst="rect">
            <a:avLst/>
          </a:prstGeom>
          <a:solidFill>
            <a:srgbClr val="EEF1F6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629400" y="422452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C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1,389/298/298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720840" y="480060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C3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 / validation / test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5715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575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Split 70/15/15, stratified by diagnosis, with a fixed seed so every phase sees exactly the same data.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85953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575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C7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Framework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C3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shared encoder, five task heads, and an optimizer that tunes both the enhancement and the loss weights.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470916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Metaheuristic optimizer: COA, WOA or GWO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Proposes 10 parameters (enhancement + loss weights), trains a model, and receives its validation fitness in return.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5953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575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C7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Architecture: Five Heads on One Encoder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371246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Output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Loss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Phase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C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Diagnosis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 logit: healthy vs pathological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Binary cross-entropy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Global pathology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 logits: PCD, HC (multi-label)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Binary cross-entropy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Local pathology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 logits, one per lesion category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Binary cross-entropy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Kidney segmentation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512x512 mask, 5-stage upsampling decoder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Dice loss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Lesion segmentation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512x512 mask of the lesion-box union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Dice loss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Anatomical consistency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Lesion probability outside the kidney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Ratio penalty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5212080"/>
            <a:ext cx="822960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C3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Mask R-CNN, Faster R-CNN or U-Net: every head reads the same encoder feature map.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C3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24.4 million parameters total; trains in 0.81 GB of GPU memory — the evidence behind the lightweight claim.</a:t>
            </a:r>
            <a:endParaRPr lang="en-US" sz="1300" dirty="0"/>
          </a:p>
        </p:txBody>
      </p:sp>
      <p:sp>
        <p:nvSpPr>
          <p:cNvPr id="5" name="Text 4"/>
          <p:cNvSpPr txBox="1"/>
          <p:nvPr/>
        </p:nvSpPr>
        <p:spPr>
          <a:xfrm>
            <a:off x="85953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575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C7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Loss Design and the Anatomical Constraint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1234440"/>
          </a:xfrm>
          <a:prstGeom prst="roundRect">
            <a:avLst>
              <a:gd name="adj" fmla="val 2963"/>
            </a:avLst>
          </a:prstGeom>
          <a:solidFill>
            <a:srgbClr val="EEF1F6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71600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3C3C3C"/>
                </a:solidFill>
              </a:rPr>
              <a:t>Multi-task objective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3C72"/>
                </a:solidFill>
                <a:latin typeface="Segoe UI" panose="020B0502040204020203" pitchFamily="34" charset="0"/>
                <a:ea typeface="Courier New" pitchFamily="34" charset="-122"/>
                <a:cs typeface="Segoe UI" panose="020B0502040204020203" pitchFamily="34" charset="0"/>
              </a:rPr>
              <a:t>      L = w1·L_diag + w2·L_global + w3·L_local + w4·L_kidney + w5·L_lesion + w6·L_anat</a:t>
            </a:r>
            <a:endParaRPr lang="en-US" sz="1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457200" y="3012440"/>
            <a:ext cx="822960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C3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Phases 2–5: every weight w = 1, the unweighted sum used by URI-CADS (fair baseline).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C3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6: each weight searched in [0.1, 5.0].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C3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Classification heads use binary cross-entropy; segmentation heads use Dice loss = 1 − 2|P∩G| / (|P|+|G|).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3C3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anatomical-consistency fix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C3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 version penalized the absolute amount of lesion probability outside the kidney — lowerable just by predicting less lesion everywhere.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C3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Corrected version penalizes the fraction (ratio) of lesion probability outside the kidney — can only improve by moving predictions inside the kidney.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5953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575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C7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 Enhancement Layer</a:t>
            </a:r>
            <a:endParaRPr lang="en-US" sz="2600" dirty="0"/>
          </a:p>
        </p:txBody>
      </p:sp>
      <p:pic>
        <p:nvPicPr>
          <p:cNvPr id="5" name="Image 0" descr="/home/claude/work/enhancement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234440"/>
            <a:ext cx="7315200" cy="3977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5349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C3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parameters: CLAHE clip limit, tile grid size, non-local-means denoising strength, and gamma.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C3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Enhanced images are computed once per configuration across 12 CPU workers and reused for every epoch (denoising costs ~0.6s/image).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85953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575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C7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the Search Is Set Up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466344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3C3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parameters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C3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loss weights in [0.1, 5.0] and 4 enhancement settings, searched jointly.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3C3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Equal budget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C3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 model trainings per optimizer, 180 in total — capped on trainings rather than iterations.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3C3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Cheap evaluation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C3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candidate trained 3 epochs at 256x256 (~2 minutes), then scored on validation.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3C3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Common start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C3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random seed: all optimizers begin from the same 6 candidates; every result cached.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1234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C3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Fitness (maximized on validation)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0" y="15087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3C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= 0.30·AUC_diag + 0.15·AUC_local + 0.25·Dice_kidney + 0.25·Dice_lesion+ + 0.05·(1−violation)</a:t>
            </a:r>
            <a:endParaRPr lang="en-US" sz="10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5486400" y="2377440"/>
          <a:ext cx="320040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 txBox="1"/>
          <p:nvPr/>
        </p:nvSpPr>
        <p:spPr>
          <a:xfrm>
            <a:off x="85953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575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C7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Metaheuristics Compared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37160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E3C72"/>
                </a:solidFill>
              </a:rPr>
              <a:t>COA</a:t>
            </a:r>
            <a:endParaRPr lang="en-US" sz="20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C3C3C"/>
                </a:solidFill>
              </a:rPr>
              <a:t>Coati Optimization Algorithm</a:t>
            </a:r>
            <a:endParaRPr lang="en-US" sz="2000" b="1" dirty="0">
              <a:solidFill>
                <a:srgbClr val="3C3C3C"/>
              </a:solidFill>
            </a:endParaRP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1200" dirty="0">
                <a:solidFill>
                  <a:srgbClr val="3C3C3C"/>
                </a:solidFill>
              </a:rPr>
              <a:t>Half the population moves toward the best solution, half toward a random point; then a local search with a radius that shrinks each iteration.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137160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E3C72"/>
                </a:solidFill>
              </a:rPr>
              <a:t>WOA</a:t>
            </a:r>
            <a:endParaRPr lang="en-US" sz="20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C3C3C"/>
                </a:solidFill>
              </a:rPr>
              <a:t>Whale Optimization Algorithm</a:t>
            </a:r>
            <a:endParaRPr lang="en-US" sz="2000" dirty="0"/>
          </a:p>
          <a:p>
            <a:pPr marL="0" indent="0">
              <a:buNone/>
            </a:pPr>
            <a:endParaRPr lang="en-US" sz="1100" dirty="0">
              <a:solidFill>
                <a:srgbClr val="3C3C3C"/>
              </a:solidFill>
            </a:endParaRPr>
          </a:p>
          <a:p>
            <a:pPr marL="0" indent="0">
              <a:buNone/>
            </a:pPr>
            <a:endParaRPr lang="en-US" sz="1100" dirty="0">
              <a:solidFill>
                <a:srgbClr val="3C3C3C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C3C3C"/>
                </a:solidFill>
              </a:rPr>
              <a:t>Encircles the best solution, explores via random agents, and exploits with a spiral update, step size shrinks over time.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172200" y="137160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E3C72"/>
                </a:solidFill>
              </a:rPr>
              <a:t>GWO</a:t>
            </a:r>
            <a:endParaRPr lang="en-US" sz="20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C3C3C"/>
                </a:solidFill>
              </a:rPr>
              <a:t>Grey Wolf Optimizer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1200" dirty="0">
                <a:solidFill>
                  <a:srgbClr val="3C3C3C"/>
                </a:solidFill>
              </a:rPr>
              <a:t>Moves every candidate toward the three best solutions so far (alpha, beta, delta); exploration shrinks linearly.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023360"/>
          <a:ext cx="8229600" cy="12344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6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61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52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Function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Landscape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WOA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GWO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C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Sphere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Smooth, one optimum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6.9e-7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3.6e-4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1.3e-9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Rastrigin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Many local optima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25.0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44.0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37.6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85953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575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C7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Protocol and Reproducibility Check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420624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3C3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Training protocol, identical for every phase</a:t>
            </a:r>
          </a:p>
          <a:p>
            <a:pPr marL="0" indent="0">
              <a:lnSpc>
                <a:spcPct val="105000"/>
              </a:lnSpc>
              <a:buNone/>
            </a:pP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C3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Split 70/15/15, stratified by diagnosis, seed 42.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C3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epochs, batch 4, Adam, learning rate 1e-4.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C3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Mixed precision; best checkpoint chosen on validation Dice.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C3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 512x512, normalized to [-1, 1].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C3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Hardware: RTX 3050 Laptop GPU, 4GB.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846320" y="12344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3C3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Earlier checkpoints re-evaluated with the local implementation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737360"/>
          <a:ext cx="3840480" cy="2304288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Checkpoint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Metric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Orig.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C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Phase 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Diagnosis AUC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0.9003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0.9001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Phase 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Kidney Dice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0.8735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0.8733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Phase 3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Diagnosis AUC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0.8712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0.8707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Phase 4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Local path. AUC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0.7724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0.7723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Phase 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Violation rate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0.3790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0.3786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457200" y="5120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C3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Metrics used throughout: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440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C3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AUC - ranking quality, 0.5 is chance.   Dice - overlap, 1 is perfect.   Violation rate - share of lesion probability outside the kidney, lower is better.</a:t>
            </a:r>
            <a:endParaRPr lang="en-US" sz="1200" dirty="0"/>
          </a:p>
        </p:txBody>
      </p:sp>
      <p:sp>
        <p:nvSpPr>
          <p:cNvPr id="7" name="Text 9"/>
          <p:cNvSpPr txBox="1"/>
          <p:nvPr/>
        </p:nvSpPr>
        <p:spPr>
          <a:xfrm>
            <a:off x="85953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575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25880"/>
          </a:xfrm>
          <a:prstGeom prst="rect">
            <a:avLst/>
          </a:prstGeom>
          <a:solidFill>
            <a:srgbClr val="1E3C7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8404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Standard Lesion Dice Was Hiding Real Performance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08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C3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Lesion Dice on the test set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920240"/>
          <a:ext cx="512064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760720" y="1920240"/>
            <a:ext cx="2926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C3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31.9% of test images contain no lesion; an empty prediction scores about 1 on each of them.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C3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Restricting to lesion-bearing images separates the models clearly: 0.000 vs 0.506.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C3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now report both versions of lesion Dice.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C3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optimizer uses the lesion-bearing version only, so it cannot be rewarded for predicting nothing.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85953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575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25880"/>
          </a:xfrm>
          <a:prstGeom prst="rect">
            <a:avLst/>
          </a:prstGeom>
          <a:solidFill>
            <a:srgbClr val="1E3C7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65760" y="4343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Anatomical Constraint Works Only in Ratio Form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087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C3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Violation rate on the test set (lower is better)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874520"/>
          <a:ext cx="475488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1874520"/>
          <a:ext cx="3291840" cy="22860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6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Test metric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P4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P5b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C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Violation rate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0.233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0.282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0.054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Diagnosis AUC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0.900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0.879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0.901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Kidney Dice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0.893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0.884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0.895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Lesion Dice (lesion imgs)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0.506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0.487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0.488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85953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575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C7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the Constraint Acts During Training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C3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 violation rate by epoch (lower is better)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508760"/>
          <a:ext cx="402336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709160" y="11887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C3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 lesion Dice on lesion-bearing images by epoch</a:t>
            </a:r>
            <a:endParaRPr lang="en-US" sz="1200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4709160" y="1508760"/>
          <a:ext cx="397764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57200" y="434340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C3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absolute form (amber) spikes to ~0.70 at epoch 4 and only recovers to the unconstrained level by the end.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C3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ratio form (navy) holds around 0.25 for the first eight epochs, then falls steadily to 0.058 at epoch 15 — still falling.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C3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Lesion Dice on lesion-bearing images climbs along a similar path for all three, matching the small cost seen on the previous slide.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85953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575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C7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Configurations on the Same Test Set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3776472"/>
        </p:xfrm>
        <a:graphic>
          <a:graphicData uri="http://schemas.openxmlformats.org/drawingml/2006/table">
            <a:tbl>
              <a:tblPr/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Configuration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Diag.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AUC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Global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AUC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Local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AUC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Kidney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Dice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Lesion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Dice (all)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Lesion Dice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(lesion imgs)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Viol.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rate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C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Equal weights, no enhancement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0.9013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0.8038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0.8991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Hand-picked enhancement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0.8903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0.7802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0.9021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Five heads, no constraint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0.8995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0.8012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0.7704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0.8928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0.3444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0.5056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0.2331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Constraint, absolute form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0.8791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0.8004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0.7752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0.8838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0.3518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0.4868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0.2817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5b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Constraint, ratio form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0.9014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0.7932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0.7416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0.8954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0.3325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0.4881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0.0543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COA-optimized weights + enhancement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0.8753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0.7255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0.7314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0.9081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0.2847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0.4180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0.0545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85953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575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C7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Optimizers Chose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C3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Loss weights found by each optimizer (baseline: all weights = 1.0)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508760"/>
          <a:ext cx="502920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623560" y="11887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C3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Enhancement parameters chosen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23560" y="1508760"/>
          <a:ext cx="3063240" cy="1962912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Tile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Denoise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Gamma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C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Manual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2.00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10.0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1.20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3.40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13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0.7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0.76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WOA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2.57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1.9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0.79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GWO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5.00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9.3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0.54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623560" y="370332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C3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three: gamma below 1 and a larger tile grid than hand-picked.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C3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COA and WOA: denoising nearly off.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C3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COA and WOA: diagnosis weight near the 0.1 floor; GWO keeps it at 2.9.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85953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575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C7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Does the Optimized Configuration Hold Up?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C3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Full-fidelity test results (15 epochs, 512x512) — COA-optimized vs equal weights</a:t>
            </a:r>
            <a:endParaRPr lang="en-US" sz="12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508760"/>
          <a:ext cx="51206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760720" y="15087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C3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+0.013 kidney Dice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C3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−0.026 diagnosis AUC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C3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−0.070 lesion Dice (lesion images)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5953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575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C7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Per-Category Performance and Its Limits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C3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pathology AUC by category (test images with that category shown in labels)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508760"/>
          <a:ext cx="521208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760720" y="1188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C3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to read this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760720" y="1508760"/>
            <a:ext cx="29260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C3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AUC 0.5 is chance level.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C3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Common categories 2 and 7 (97 and 65 test images) are strong.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C3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Categories 8 and 9 are weakest.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C3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Categories 5 and 6 have only 4 and 2 test images — their AUCs are not reliable.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C3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report per-category counts alongside the mean.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5953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575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1651</Words>
  <Application>Microsoft Office PowerPoint</Application>
  <PresentationFormat>On-screen Show (4:3)</PresentationFormat>
  <Paragraphs>375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Courier New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Anubhav Rawat</cp:lastModifiedBy>
  <cp:revision>3</cp:revision>
  <dcterms:created xsi:type="dcterms:W3CDTF">2026-09-15T16:04:51Z</dcterms:created>
  <dcterms:modified xsi:type="dcterms:W3CDTF">2026-09-15T16:23:12Z</dcterms:modified>
</cp:coreProperties>
</file>