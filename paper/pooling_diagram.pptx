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341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606040" y="84124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Calibri"/>
              </a:rPr>
              <a:t>Lesion-guided pooling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4124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Calibri"/>
              </a:rPr>
              <a:t>Global branch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03720" y="84124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Calibri"/>
              </a:rPr>
              <a:t>Supervision and notes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06040" y="1115568"/>
            <a:ext cx="3931920" cy="411480"/>
          </a:xfrm>
          <a:prstGeom prst="roundRect">
            <a:avLst>
              <a:gd name="adj" fmla="val 8000"/>
            </a:avLst>
          </a:prstGeom>
          <a:solidFill>
            <a:srgbClr val="FCE9D4"/>
          </a:solidFill>
          <a:ln w="12700">
            <a:solidFill>
              <a:srgbClr val="D98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200" b="1">
                <a:solidFill>
                  <a:srgbClr val="222222"/>
                </a:solidFill>
                <a:latin typeface="Calibri"/>
              </a:rPr>
              <a:t>Encoder feature map  F</a:t>
            </a:r>
          </a:p>
          <a:p>
            <a:pPr algn="ctr"/>
            <a:r>
              <a:rPr sz="1000">
                <a:solidFill>
                  <a:srgbClr val="666666"/>
                </a:solidFill>
                <a:latin typeface="Calibri"/>
              </a:rPr>
              <a:t>512 x 16 x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06040" y="1687068"/>
            <a:ext cx="3931920" cy="411480"/>
          </a:xfrm>
          <a:prstGeom prst="roundRect">
            <a:avLst>
              <a:gd name="adj" fmla="val 8000"/>
            </a:avLst>
          </a:prstGeom>
          <a:solidFill>
            <a:srgbClr val="E4E4F7"/>
          </a:solidFill>
          <a:ln w="12700">
            <a:solidFill>
              <a:srgbClr val="5B5F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200" b="1">
                <a:solidFill>
                  <a:srgbClr val="222222"/>
                </a:solidFill>
                <a:latin typeface="Calibri"/>
              </a:rPr>
              <a:t>Lesion decoder</a:t>
            </a:r>
          </a:p>
          <a:p>
            <a:pPr algn="ctr"/>
            <a:r>
              <a:rPr sz="1000">
                <a:solidFill>
                  <a:srgbClr val="666666"/>
                </a:solidFill>
                <a:latin typeface="Calibri"/>
              </a:rPr>
              <a:t>5 up-blocks + conv 1x1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0" y="1527048"/>
            <a:ext cx="0" cy="160020"/>
          </a:xfrm>
          <a:prstGeom prst="line">
            <a:avLst/>
          </a:prstGeom>
          <a:ln w="15875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606040" y="2258568"/>
            <a:ext cx="3931920" cy="411480"/>
          </a:xfrm>
          <a:prstGeom prst="roundRect">
            <a:avLst>
              <a:gd name="adj" fmla="val 8000"/>
            </a:avLst>
          </a:prstGeom>
          <a:solidFill>
            <a:srgbClr val="E4E4F7"/>
          </a:solidFill>
          <a:ln w="12700">
            <a:solidFill>
              <a:srgbClr val="5B5F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200" b="1">
                <a:solidFill>
                  <a:srgbClr val="222222"/>
                </a:solidFill>
                <a:latin typeface="Calibri"/>
              </a:rPr>
              <a:t>Lesion logits  L</a:t>
            </a:r>
          </a:p>
          <a:p>
            <a:pPr algn="ctr"/>
            <a:r>
              <a:rPr sz="1000">
                <a:solidFill>
                  <a:srgbClr val="666666"/>
                </a:solidFill>
                <a:latin typeface="Calibri"/>
              </a:rPr>
              <a:t>512 x 512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0" y="2098548"/>
            <a:ext cx="0" cy="160020"/>
          </a:xfrm>
          <a:prstGeom prst="line">
            <a:avLst/>
          </a:prstGeom>
          <a:ln w="15875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606040" y="2830068"/>
            <a:ext cx="3931920" cy="411480"/>
          </a:xfrm>
          <a:prstGeom prst="roundRect">
            <a:avLst>
              <a:gd name="adj" fmla="val 8000"/>
            </a:avLst>
          </a:prstGeom>
          <a:solidFill>
            <a:srgbClr val="E4E4F7"/>
          </a:solidFill>
          <a:ln w="12700">
            <a:solidFill>
              <a:srgbClr val="5B5F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200" b="1">
                <a:solidFill>
                  <a:srgbClr val="222222"/>
                </a:solidFill>
                <a:latin typeface="Calibri"/>
              </a:rPr>
              <a:t>Sigmoid of L</a:t>
            </a:r>
          </a:p>
          <a:p>
            <a:pPr algn="ctr"/>
            <a:r>
              <a:rPr sz="1000">
                <a:solidFill>
                  <a:srgbClr val="666666"/>
                </a:solidFill>
                <a:latin typeface="Calibri"/>
              </a:rPr>
              <a:t>predicted lesion probability map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0" y="2670048"/>
            <a:ext cx="0" cy="160020"/>
          </a:xfrm>
          <a:prstGeom prst="line">
            <a:avLst/>
          </a:prstGeom>
          <a:ln w="15875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606040" y="3401568"/>
            <a:ext cx="3931920" cy="411480"/>
          </a:xfrm>
          <a:prstGeom prst="roundRect">
            <a:avLst>
              <a:gd name="adj" fmla="val 8000"/>
            </a:avLst>
          </a:prstGeom>
          <a:solidFill>
            <a:srgbClr val="FBE3E3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200" b="1">
                <a:solidFill>
                  <a:srgbClr val="C0392B"/>
                </a:solidFill>
                <a:latin typeface="Calibri"/>
              </a:rPr>
              <a:t>STOP-GRADIENT</a:t>
            </a:r>
          </a:p>
          <a:p>
            <a:pPr algn="ctr"/>
            <a:r>
              <a:rPr sz="1000">
                <a:solidFill>
                  <a:srgbClr val="666666"/>
                </a:solidFill>
                <a:latin typeface="Calibri"/>
              </a:rPr>
              <a:t>detached from the computation graph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0" y="3241548"/>
            <a:ext cx="0" cy="160020"/>
          </a:xfrm>
          <a:prstGeom prst="line">
            <a:avLst/>
          </a:prstGeom>
          <a:ln w="15875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606040" y="3973068"/>
            <a:ext cx="3931920" cy="411480"/>
          </a:xfrm>
          <a:prstGeom prst="roundRect">
            <a:avLst>
              <a:gd name="adj" fmla="val 8000"/>
            </a:avLst>
          </a:prstGeom>
          <a:solidFill>
            <a:srgbClr val="E3EEFB"/>
          </a:solidFill>
          <a:ln w="12700">
            <a:solidFill>
              <a:srgbClr val="3A7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200" b="1">
                <a:solidFill>
                  <a:srgbClr val="222222"/>
                </a:solidFill>
                <a:latin typeface="Calibri"/>
              </a:rPr>
              <a:t>Resample to 16 x 16, normalise to unit sum</a:t>
            </a:r>
          </a:p>
          <a:p>
            <a:pPr algn="ctr"/>
            <a:r>
              <a:rPr sz="1000">
                <a:solidFill>
                  <a:srgbClr val="666666"/>
                </a:solidFill>
                <a:latin typeface="Calibri"/>
              </a:rPr>
              <a:t>gives the attention map  A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0" y="3813048"/>
            <a:ext cx="0" cy="160020"/>
          </a:xfrm>
          <a:prstGeom prst="line">
            <a:avLst/>
          </a:prstGeom>
          <a:ln w="15875">
            <a:solidFill>
              <a:srgbClr val="2E8B3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606040" y="4544568"/>
            <a:ext cx="3931920" cy="411480"/>
          </a:xfrm>
          <a:prstGeom prst="roundRect">
            <a:avLst>
              <a:gd name="adj" fmla="val 8000"/>
            </a:avLst>
          </a:prstGeom>
          <a:solidFill>
            <a:srgbClr val="E2F4E2"/>
          </a:solidFill>
          <a:ln w="12700">
            <a:solidFill>
              <a:srgbClr val="2E8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200" b="1">
                <a:solidFill>
                  <a:srgbClr val="222222"/>
                </a:solidFill>
                <a:latin typeface="Calibri"/>
              </a:rPr>
              <a:t>Weighted sum over space</a:t>
            </a:r>
          </a:p>
          <a:p>
            <a:pPr algn="ctr"/>
            <a:r>
              <a:rPr sz="1000">
                <a:solidFill>
                  <a:srgbClr val="666666"/>
                </a:solidFill>
                <a:latin typeface="Calibri"/>
              </a:rPr>
              <a:t>lesion vector = sum of A x F   (512-d)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572000" y="4384548"/>
            <a:ext cx="0" cy="160020"/>
          </a:xfrm>
          <a:prstGeom prst="line">
            <a:avLst/>
          </a:prstGeom>
          <a:ln w="15875">
            <a:solidFill>
              <a:srgbClr val="2E8B3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606040" y="5116068"/>
            <a:ext cx="3931920" cy="411480"/>
          </a:xfrm>
          <a:prstGeom prst="roundRect">
            <a:avLst>
              <a:gd name="adj" fmla="val 8000"/>
            </a:avLst>
          </a:prstGeom>
          <a:solidFill>
            <a:srgbClr val="E2F4E2"/>
          </a:solidFill>
          <a:ln w="12700">
            <a:solidFill>
              <a:srgbClr val="2E8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200" b="1">
                <a:solidFill>
                  <a:srgbClr val="222222"/>
                </a:solidFill>
                <a:latin typeface="Calibri"/>
              </a:rPr>
              <a:t>Concatenate  [ global vector || lesion vector ]</a:t>
            </a:r>
          </a:p>
          <a:p>
            <a:pPr algn="ctr"/>
            <a:r>
              <a:rPr sz="1000">
                <a:solidFill>
                  <a:srgbClr val="666666"/>
                </a:solidFill>
                <a:latin typeface="Calibri"/>
              </a:rPr>
              <a:t>1024-d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572000" y="4956048"/>
            <a:ext cx="0" cy="160020"/>
          </a:xfrm>
          <a:prstGeom prst="line">
            <a:avLst/>
          </a:prstGeom>
          <a:ln w="15875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606040" y="5687568"/>
            <a:ext cx="3931920" cy="411480"/>
          </a:xfrm>
          <a:prstGeom prst="roundRect">
            <a:avLst>
              <a:gd name="adj" fmla="val 8000"/>
            </a:avLst>
          </a:prstGeom>
          <a:solidFill>
            <a:srgbClr val="E3EEFB"/>
          </a:solidFill>
          <a:ln w="12700">
            <a:solidFill>
              <a:srgbClr val="3A7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200" b="1">
                <a:solidFill>
                  <a:srgbClr val="222222"/>
                </a:solidFill>
                <a:latin typeface="Calibri"/>
              </a:rPr>
              <a:t>Local-pathology head</a:t>
            </a:r>
          </a:p>
          <a:p>
            <a:pPr algn="ctr"/>
            <a:r>
              <a:rPr sz="1000">
                <a:solidFill>
                  <a:srgbClr val="666666"/>
                </a:solidFill>
                <a:latin typeface="Calibri"/>
              </a:rPr>
              <a:t>linear 1024 -&gt; 9 logits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572000" y="5527548"/>
            <a:ext cx="0" cy="160020"/>
          </a:xfrm>
          <a:prstGeom prst="line">
            <a:avLst/>
          </a:prstGeom>
          <a:ln w="15875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65760" y="3973068"/>
            <a:ext cx="1828800" cy="411480"/>
          </a:xfrm>
          <a:prstGeom prst="roundRect">
            <a:avLst>
              <a:gd name="adj" fmla="val 8000"/>
            </a:avLst>
          </a:prstGeom>
          <a:solidFill>
            <a:srgbClr val="E2F4E2"/>
          </a:solidFill>
          <a:ln w="12700">
            <a:solidFill>
              <a:srgbClr val="2E8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200" b="1">
                <a:solidFill>
                  <a:srgbClr val="222222"/>
                </a:solidFill>
                <a:latin typeface="Calibri"/>
              </a:rPr>
              <a:t>Global average pooling</a:t>
            </a:r>
          </a:p>
          <a:p>
            <a:pPr algn="ctr"/>
            <a:r>
              <a:rPr sz="1000">
                <a:solidFill>
                  <a:srgbClr val="666666"/>
                </a:solidFill>
                <a:latin typeface="Calibri"/>
              </a:rPr>
              <a:t>over all 16 x 16 positions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4544568"/>
            <a:ext cx="1828800" cy="411480"/>
          </a:xfrm>
          <a:prstGeom prst="roundRect">
            <a:avLst>
              <a:gd name="adj" fmla="val 8000"/>
            </a:avLst>
          </a:prstGeom>
          <a:solidFill>
            <a:srgbClr val="E2F4E2"/>
          </a:solidFill>
          <a:ln w="12700">
            <a:solidFill>
              <a:srgbClr val="2E8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200" b="1">
                <a:solidFill>
                  <a:srgbClr val="222222"/>
                </a:solidFill>
                <a:latin typeface="Calibri"/>
              </a:rPr>
              <a:t>Global vector</a:t>
            </a:r>
          </a:p>
          <a:p>
            <a:pPr algn="ctr"/>
            <a:r>
              <a:rPr sz="1000">
                <a:solidFill>
                  <a:srgbClr val="666666"/>
                </a:solidFill>
                <a:latin typeface="Calibri"/>
              </a:rPr>
              <a:t>512-d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280160" y="4384548"/>
            <a:ext cx="0" cy="160020"/>
          </a:xfrm>
          <a:prstGeom prst="line">
            <a:avLst/>
          </a:prstGeom>
          <a:ln w="15875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1280160" y="1321308"/>
            <a:ext cx="1325880" cy="0"/>
          </a:xfrm>
          <a:prstGeom prst="line">
            <a:avLst/>
          </a:prstGeom>
          <a:ln w="15875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280160" y="1321308"/>
            <a:ext cx="0" cy="2651760"/>
          </a:xfrm>
          <a:prstGeom prst="line">
            <a:avLst/>
          </a:prstGeom>
          <a:ln w="15875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280160" y="4956048"/>
            <a:ext cx="0" cy="365759"/>
          </a:xfrm>
          <a:prstGeom prst="line">
            <a:avLst/>
          </a:prstGeom>
          <a:ln w="15875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280160" y="5321807"/>
            <a:ext cx="1325880" cy="0"/>
          </a:xfrm>
          <a:prstGeom prst="line">
            <a:avLst/>
          </a:prstGeom>
          <a:ln w="15875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903720" y="2258568"/>
            <a:ext cx="5029200" cy="411480"/>
          </a:xfrm>
          <a:prstGeom prst="roundRect">
            <a:avLst>
              <a:gd name="adj" fmla="val 8000"/>
            </a:avLst>
          </a:prstGeom>
          <a:solidFill>
            <a:srgbClr val="FBE3E3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200" b="1">
                <a:solidFill>
                  <a:srgbClr val="222222"/>
                </a:solidFill>
                <a:latin typeface="Calibri"/>
              </a:rPr>
              <a:t>Soft Dice loss  (sole supervision of L)</a:t>
            </a:r>
          </a:p>
          <a:p>
            <a:pPr algn="ctr"/>
            <a:r>
              <a:rPr sz="1000">
                <a:solidFill>
                  <a:srgbClr val="666666"/>
                </a:solidFill>
                <a:latin typeface="Calibri"/>
              </a:rPr>
              <a:t>the lesion decoder is trained by this term alone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537960" y="2464308"/>
            <a:ext cx="365760" cy="0"/>
          </a:xfrm>
          <a:prstGeom prst="line">
            <a:avLst/>
          </a:prstGeom>
          <a:ln w="15875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119</Words>
  <Application>Microsoft Office PowerPoint</Application>
  <PresentationFormat>Widescreen</PresentationFormat>
  <Paragraphs>27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Anubhav Rawat</cp:lastModifiedBy>
  <cp:revision>2</cp:revision>
  <dcterms:created xsi:type="dcterms:W3CDTF">2013-01-27T09:14:16Z</dcterms:created>
  <dcterms:modified xsi:type="dcterms:W3CDTF">2026-10-15T10:37:39Z</dcterms:modified>
  <cp:category/>
</cp:coreProperties>
</file>