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charts/chart6.xml" ContentType="application/vnd.openxmlformats-officedocument.drawingml.chart+xml"/>
  <Override PartName="/ppt/notesSlides/notesSlide1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9.xml" ContentType="application/vnd.openxmlformats-officedocument.drawingml.chart+xml"/>
  <Override PartName="/ppt/notesSlides/notesSlide21.xml" ContentType="application/vnd.openxmlformats-officedocument.presentationml.notesSlide+xml"/>
  <Override PartName="/ppt/charts/chart10.xml" ContentType="application/vnd.openxmlformats-officedocument.drawingml.chart+xml"/>
  <Override PartName="/ppt/notesSlides/notesSlide22.xml" ContentType="application/vnd.openxmlformats-officedocument.presentationml.notesSlide+xml"/>
  <Override PartName="/ppt/charts/chart11.xml" ContentType="application/vnd.openxmlformats-officedocument.drawingml.chart+xml"/>
  <Override PartName="/ppt/notesSlides/notesSlide23.xml" ContentType="application/vnd.openxmlformats-officedocument.presentationml.notesSlide+xml"/>
  <Override PartName="/ppt/charts/chart12.xml" ContentType="application/vnd.openxmlformats-officedocument.drawingml.chart+xml"/>
  <Override PartName="/ppt/notesSlides/notesSlide24.xml" ContentType="application/vnd.openxmlformats-officedocument.presentationml.notesSlide+xml"/>
  <Override PartName="/ppt/charts/chart13.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14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Images</c:v>
                </c:pt>
              </c:strCache>
            </c:strRef>
          </c:tx>
          <c:spPr>
            <a:solidFill>
              <a:srgbClr val="21295C"/>
            </a:solidFill>
            <a:effectLst/>
          </c:spPr>
          <c:invertIfNegative val="0"/>
          <c:dLbls>
            <c:numFmt formatCode="#,##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c:v>
                </c:pt>
                <c:pt idx="1">
                  <c:v>1</c:v>
                </c:pt>
                <c:pt idx="2">
                  <c:v>2</c:v>
                </c:pt>
                <c:pt idx="3">
                  <c:v>3</c:v>
                </c:pt>
                <c:pt idx="4">
                  <c:v>4</c:v>
                </c:pt>
                <c:pt idx="5">
                  <c:v>5+</c:v>
                </c:pt>
              </c:strCache>
            </c:strRef>
          </c:cat>
          <c:val>
            <c:numRef>
              <c:f>Sheet1!$B$2:$B$7</c:f>
              <c:numCache>
                <c:formatCode>General</c:formatCode>
                <c:ptCount val="6"/>
                <c:pt idx="0">
                  <c:v>662</c:v>
                </c:pt>
                <c:pt idx="1">
                  <c:v>685</c:v>
                </c:pt>
                <c:pt idx="2">
                  <c:v>328</c:v>
                </c:pt>
                <c:pt idx="3">
                  <c:v>188</c:v>
                </c:pt>
                <c:pt idx="4">
                  <c:v>75</c:v>
                </c:pt>
                <c:pt idx="5">
                  <c:v>47</c:v>
                </c:pt>
              </c:numCache>
            </c:numRef>
          </c:val>
          <c:extLst>
            <c:ext xmlns:c16="http://schemas.microsoft.com/office/drawing/2014/chart" uri="{C3380CC4-5D6E-409C-BE32-E72D297353CC}">
              <c16:uniqueId val="{00000000-9E0B-471C-8E39-00534FC534F1}"/>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E3E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Boxes</c:v>
                </c:pt>
              </c:strCache>
            </c:strRef>
          </c:tx>
          <c:spPr>
            <a:solidFill>
              <a:srgbClr val="1C7293"/>
            </a:solidFill>
            <a:effectLst/>
          </c:spPr>
          <c:invertIfNegative val="0"/>
          <c:dLbls>
            <c:numFmt formatCode="#,##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c:v>
                </c:pt>
                <c:pt idx="1">
                  <c:v>2</c:v>
                </c:pt>
                <c:pt idx="2">
                  <c:v>3</c:v>
                </c:pt>
                <c:pt idx="3">
                  <c:v>4</c:v>
                </c:pt>
                <c:pt idx="4">
                  <c:v>5</c:v>
                </c:pt>
                <c:pt idx="5">
                  <c:v>6</c:v>
                </c:pt>
                <c:pt idx="6">
                  <c:v>7</c:v>
                </c:pt>
                <c:pt idx="7">
                  <c:v>8</c:v>
                </c:pt>
                <c:pt idx="8">
                  <c:v>9</c:v>
                </c:pt>
              </c:strCache>
            </c:strRef>
          </c:cat>
          <c:val>
            <c:numRef>
              <c:f>Sheet1!$B$2:$B$10</c:f>
              <c:numCache>
                <c:formatCode>General</c:formatCode>
                <c:ptCount val="9"/>
                <c:pt idx="0">
                  <c:v>110</c:v>
                </c:pt>
                <c:pt idx="1">
                  <c:v>1073</c:v>
                </c:pt>
                <c:pt idx="2">
                  <c:v>92</c:v>
                </c:pt>
                <c:pt idx="3">
                  <c:v>384</c:v>
                </c:pt>
                <c:pt idx="4">
                  <c:v>34</c:v>
                </c:pt>
                <c:pt idx="5">
                  <c:v>11</c:v>
                </c:pt>
                <c:pt idx="6">
                  <c:v>618</c:v>
                </c:pt>
                <c:pt idx="7">
                  <c:v>111</c:v>
                </c:pt>
                <c:pt idx="8">
                  <c:v>45</c:v>
                </c:pt>
              </c:numCache>
            </c:numRef>
          </c:val>
          <c:extLst>
            <c:ext xmlns:c16="http://schemas.microsoft.com/office/drawing/2014/chart" uri="{C3380CC4-5D6E-409C-BE32-E72D297353CC}">
              <c16:uniqueId val="{00000000-8BDE-4AE4-B5B4-460DB75F637C}"/>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CE3E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Weight</c:v>
                </c:pt>
              </c:strCache>
            </c:strRef>
          </c:tx>
          <c:spPr>
            <a:solidFill>
              <a:srgbClr val="21295C"/>
            </a:solidFill>
            <a:effectLst/>
          </c:spPr>
          <c:invertIfNegative val="0"/>
          <c:dLbls>
            <c:numFmt formatCode="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Diagnosis AUC</c:v>
                </c:pt>
                <c:pt idx="1">
                  <c:v>Kidney Dice</c:v>
                </c:pt>
                <c:pt idx="2">
                  <c:v>Lesion Dice (lesion images)</c:v>
                </c:pt>
                <c:pt idx="3">
                  <c:v>Local pathology AUC</c:v>
                </c:pt>
                <c:pt idx="4">
                  <c:v>Consistency</c:v>
                </c:pt>
              </c:strCache>
            </c:strRef>
          </c:cat>
          <c:val>
            <c:numRef>
              <c:f>Sheet1!$B$2:$B$6</c:f>
              <c:numCache>
                <c:formatCode>General</c:formatCode>
                <c:ptCount val="5"/>
                <c:pt idx="0">
                  <c:v>0.3</c:v>
                </c:pt>
                <c:pt idx="1">
                  <c:v>0.25</c:v>
                </c:pt>
                <c:pt idx="2">
                  <c:v>0.25</c:v>
                </c:pt>
                <c:pt idx="3">
                  <c:v>0.15</c:v>
                </c:pt>
                <c:pt idx="4">
                  <c:v>0.05</c:v>
                </c:pt>
              </c:numCache>
            </c:numRef>
          </c:val>
          <c:extLst>
            <c:ext xmlns:c16="http://schemas.microsoft.com/office/drawing/2014/chart" uri="{C3380CC4-5D6E-409C-BE32-E72D297353CC}">
              <c16:uniqueId val="{00000000-3556-47EF-AEDB-BF090E0828F9}"/>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CE3E8"/>
            </a:solidFill>
            <a:prstDash val="solid"/>
            <a:round/>
          </a:ln>
        </c:spPr>
        <c:txPr>
          <a:bodyPr/>
          <a:lstStyle/>
          <a:p>
            <a:pPr>
              <a:defRPr sz="11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35"/>
        </c:scaling>
        <c:delete val="0"/>
        <c:axPos val="b"/>
        <c:majorGridlines>
          <c:spPr>
            <a:ln w="9525" cap="flat">
              <a:solidFill>
                <a:srgbClr val="DCE3E8"/>
              </a:solidFill>
              <a:prstDash val="solid"/>
              <a:round/>
            </a:ln>
          </c:spPr>
        </c:majorGridlines>
        <c:numFmt formatCode="0.00" sourceLinked="0"/>
        <c:majorTickMark val="out"/>
        <c:minorTickMark val="none"/>
        <c:tickLblPos val="low"/>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Phase 2: no enhancement</c:v>
                </c:pt>
              </c:strCache>
            </c:strRef>
          </c:tx>
          <c:spPr>
            <a:solidFill>
              <a:srgbClr val="A7B1BB"/>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Diagnosis AUC</c:v>
                </c:pt>
                <c:pt idx="1">
                  <c:v>Global pathology AUC</c:v>
                </c:pt>
                <c:pt idx="2">
                  <c:v>Kidney Dice</c:v>
                </c:pt>
              </c:strCache>
            </c:strRef>
          </c:cat>
          <c:val>
            <c:numRef>
              <c:f>Sheet1!$B$2:$B$4</c:f>
              <c:numCache>
                <c:formatCode>General</c:formatCode>
                <c:ptCount val="3"/>
                <c:pt idx="0">
                  <c:v>0.90127877237851661</c:v>
                </c:pt>
                <c:pt idx="1">
                  <c:v>0.80375295039044392</c:v>
                </c:pt>
                <c:pt idx="2">
                  <c:v>0.89905983209609985</c:v>
                </c:pt>
              </c:numCache>
            </c:numRef>
          </c:val>
          <c:extLst>
            <c:ext xmlns:c16="http://schemas.microsoft.com/office/drawing/2014/chart" uri="{C3380CC4-5D6E-409C-BE32-E72D297353CC}">
              <c16:uniqueId val="{00000000-4601-402A-B2E6-A1471B0D5122}"/>
            </c:ext>
          </c:extLst>
        </c:ser>
        <c:ser>
          <c:idx val="1"/>
          <c:order val="1"/>
          <c:tx>
            <c:strRef>
              <c:f>Sheet1!$C$1</c:f>
              <c:strCache>
                <c:ptCount val="1"/>
                <c:pt idx="0">
                  <c:v>Phase 3: hand-picked enhancement</c:v>
                </c:pt>
              </c:strCache>
            </c:strRef>
          </c:tx>
          <c:spPr>
            <a:solidFill>
              <a:srgbClr val="1C7293"/>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Diagnosis AUC</c:v>
                </c:pt>
                <c:pt idx="1">
                  <c:v>Global pathology AUC</c:v>
                </c:pt>
                <c:pt idx="2">
                  <c:v>Kidney Dice</c:v>
                </c:pt>
              </c:strCache>
            </c:strRef>
          </c:cat>
          <c:val>
            <c:numRef>
              <c:f>Sheet1!$C$2:$C$4</c:f>
              <c:numCache>
                <c:formatCode>General</c:formatCode>
                <c:ptCount val="3"/>
                <c:pt idx="0">
                  <c:v>0.89028132992327369</c:v>
                </c:pt>
                <c:pt idx="1">
                  <c:v>0.7801786060297542</c:v>
                </c:pt>
                <c:pt idx="2">
                  <c:v>0.90207582712173462</c:v>
                </c:pt>
              </c:numCache>
            </c:numRef>
          </c:val>
          <c:extLst>
            <c:ext xmlns:c16="http://schemas.microsoft.com/office/drawing/2014/chart" uri="{C3380CC4-5D6E-409C-BE32-E72D297353CC}">
              <c16:uniqueId val="{00000001-4601-402A-B2E6-A1471B0D5122}"/>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95"/>
          <c:min val="0.7"/>
        </c:scaling>
        <c:delete val="0"/>
        <c:axPos val="l"/>
        <c:majorGridlines>
          <c:spPr>
            <a:ln w="9525" cap="flat">
              <a:solidFill>
                <a:srgbClr val="DCE3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All 298 test images</c:v>
                </c:pt>
              </c:strCache>
            </c:strRef>
          </c:tx>
          <c:spPr>
            <a:solidFill>
              <a:srgbClr val="A7B1BB"/>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Model with no lesion head</c:v>
                </c:pt>
                <c:pt idx="1">
                  <c:v>Phase 4 multi-task model</c:v>
                </c:pt>
              </c:strCache>
            </c:strRef>
          </c:cat>
          <c:val>
            <c:numRef>
              <c:f>Sheet1!$B$2:$B$3</c:f>
              <c:numCache>
                <c:formatCode>General</c:formatCode>
                <c:ptCount val="2"/>
                <c:pt idx="0">
                  <c:v>0.3187919557094574</c:v>
                </c:pt>
                <c:pt idx="1">
                  <c:v>0.34444981813430786</c:v>
                </c:pt>
              </c:numCache>
            </c:numRef>
          </c:val>
          <c:extLst>
            <c:ext xmlns:c16="http://schemas.microsoft.com/office/drawing/2014/chart" uri="{C3380CC4-5D6E-409C-BE32-E72D297353CC}">
              <c16:uniqueId val="{00000000-B812-4476-B807-3FCDF9E2D592}"/>
            </c:ext>
          </c:extLst>
        </c:ser>
        <c:ser>
          <c:idx val="1"/>
          <c:order val="1"/>
          <c:tx>
            <c:strRef>
              <c:f>Sheet1!$C$1</c:f>
              <c:strCache>
                <c:ptCount val="1"/>
                <c:pt idx="0">
                  <c:v>Only the 203 lesion-bearing images</c:v>
                </c:pt>
              </c:strCache>
            </c:strRef>
          </c:tx>
          <c:spPr>
            <a:solidFill>
              <a:srgbClr val="21295C"/>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Model with no lesion head</c:v>
                </c:pt>
                <c:pt idx="1">
                  <c:v>Phase 4 multi-task model</c:v>
                </c:pt>
              </c:strCache>
            </c:strRef>
          </c:cat>
          <c:val>
            <c:numRef>
              <c:f>Sheet1!$C$2:$C$3</c:f>
              <c:numCache>
                <c:formatCode>General</c:formatCode>
                <c:ptCount val="2"/>
                <c:pt idx="0">
                  <c:v>5.2041115861101161E-10</c:v>
                </c:pt>
                <c:pt idx="1">
                  <c:v>0.5056455135345459</c:v>
                </c:pt>
              </c:numCache>
            </c:numRef>
          </c:val>
          <c:extLst>
            <c:ext xmlns:c16="http://schemas.microsoft.com/office/drawing/2014/chart" uri="{C3380CC4-5D6E-409C-BE32-E72D297353CC}">
              <c16:uniqueId val="{00000001-B812-4476-B807-3FCDF9E2D592}"/>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Violation rate</c:v>
                </c:pt>
              </c:strCache>
            </c:strRef>
          </c:tx>
          <c:spPr>
            <a:solidFill>
              <a:srgbClr val="21295C"/>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Phase 4
no constraint</c:v>
                </c:pt>
                <c:pt idx="1">
                  <c:v>Phase 5
absolute form</c:v>
                </c:pt>
                <c:pt idx="2">
                  <c:v>Phase 5b
ratio form</c:v>
                </c:pt>
              </c:strCache>
            </c:strRef>
          </c:cat>
          <c:val>
            <c:numRef>
              <c:f>Sheet1!$B$2:$B$4</c:f>
              <c:numCache>
                <c:formatCode>General</c:formatCode>
                <c:ptCount val="3"/>
                <c:pt idx="0">
                  <c:v>0.23313094675540924</c:v>
                </c:pt>
                <c:pt idx="1">
                  <c:v>0.28169849514961243</c:v>
                </c:pt>
                <c:pt idx="2">
                  <c:v>5.4333925247192383E-2</c:v>
                </c:pt>
              </c:numCache>
            </c:numRef>
          </c:val>
          <c:extLst>
            <c:ext xmlns:c16="http://schemas.microsoft.com/office/drawing/2014/chart" uri="{C3380CC4-5D6E-409C-BE32-E72D297353CC}">
              <c16:uniqueId val="{00000000-B60C-41D7-9607-34968038216C}"/>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35"/>
          <c:min val="0"/>
        </c:scaling>
        <c:delete val="0"/>
        <c:axPos val="l"/>
        <c:majorGridlines>
          <c:spPr>
            <a:ln w="9525" cap="flat">
              <a:solidFill>
                <a:srgbClr val="DCE3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Phase 4: none</c:v>
                </c:pt>
              </c:strCache>
            </c:strRef>
          </c:tx>
          <c:spPr>
            <a:ln w="28575" cap="flat">
              <a:solidFill>
                <a:srgbClr val="A7B1B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c:v>
                </c:pt>
                <c:pt idx="1">
                  <c:v>0.10994286835193634</c:v>
                </c:pt>
                <c:pt idx="2">
                  <c:v>0.18369132280349731</c:v>
                </c:pt>
                <c:pt idx="3">
                  <c:v>0.29779478907585144</c:v>
                </c:pt>
                <c:pt idx="4">
                  <c:v>0.21870683133602142</c:v>
                </c:pt>
                <c:pt idx="5">
                  <c:v>0.30443271994590759</c:v>
                </c:pt>
                <c:pt idx="6">
                  <c:v>0.176207035779953</c:v>
                </c:pt>
                <c:pt idx="7">
                  <c:v>0.34697294235229492</c:v>
                </c:pt>
                <c:pt idx="8">
                  <c:v>0.25201678276062012</c:v>
                </c:pt>
                <c:pt idx="9">
                  <c:v>0.2720196545124054</c:v>
                </c:pt>
                <c:pt idx="10">
                  <c:v>0.3000190258026123</c:v>
                </c:pt>
                <c:pt idx="11">
                  <c:v>0.28110206127166748</c:v>
                </c:pt>
                <c:pt idx="12">
                  <c:v>0.16958677768707275</c:v>
                </c:pt>
                <c:pt idx="13">
                  <c:v>0.25522097945213318</c:v>
                </c:pt>
                <c:pt idx="14">
                  <c:v>0.24881426990032196</c:v>
                </c:pt>
              </c:numCache>
            </c:numRef>
          </c:val>
          <c:smooth val="0"/>
          <c:extLst>
            <c:ext xmlns:c16="http://schemas.microsoft.com/office/drawing/2014/chart" uri="{C3380CC4-5D6E-409C-BE32-E72D297353CC}">
              <c16:uniqueId val="{00000000-7B30-4A0F-A6A1-FE4A41B6AF60}"/>
            </c:ext>
          </c:extLst>
        </c:ser>
        <c:ser>
          <c:idx val="1"/>
          <c:order val="1"/>
          <c:tx>
            <c:strRef>
              <c:f>Sheet1!$C$1</c:f>
              <c:strCache>
                <c:ptCount val="1"/>
                <c:pt idx="0">
                  <c:v>Phase 5: absolute</c:v>
                </c:pt>
              </c:strCache>
            </c:strRef>
          </c:tx>
          <c:spPr>
            <a:ln w="28575" cap="flat">
              <a:solidFill>
                <a:srgbClr val="D9912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c:v>
                </c:pt>
                <c:pt idx="1">
                  <c:v>0</c:v>
                </c:pt>
                <c:pt idx="2">
                  <c:v>0.53760504722595215</c:v>
                </c:pt>
                <c:pt idx="3">
                  <c:v>0.70257270336151123</c:v>
                </c:pt>
                <c:pt idx="4">
                  <c:v>0.68653959035873413</c:v>
                </c:pt>
                <c:pt idx="5">
                  <c:v>0.64599412679672241</c:v>
                </c:pt>
                <c:pt idx="6">
                  <c:v>0.54821264743804932</c:v>
                </c:pt>
                <c:pt idx="7">
                  <c:v>0.51395666599273682</c:v>
                </c:pt>
                <c:pt idx="8">
                  <c:v>0.4271756112575531</c:v>
                </c:pt>
                <c:pt idx="9">
                  <c:v>0.40013068914413452</c:v>
                </c:pt>
                <c:pt idx="10">
                  <c:v>0.45763841271400452</c:v>
                </c:pt>
                <c:pt idx="11">
                  <c:v>0.33850395679473877</c:v>
                </c:pt>
                <c:pt idx="12">
                  <c:v>0.19712507724761963</c:v>
                </c:pt>
                <c:pt idx="13">
                  <c:v>0.27716183662414551</c:v>
                </c:pt>
                <c:pt idx="14">
                  <c:v>0.24821843206882477</c:v>
                </c:pt>
              </c:numCache>
            </c:numRef>
          </c:val>
          <c:smooth val="0"/>
          <c:extLst>
            <c:ext xmlns:c16="http://schemas.microsoft.com/office/drawing/2014/chart" uri="{C3380CC4-5D6E-409C-BE32-E72D297353CC}">
              <c16:uniqueId val="{00000001-7B30-4A0F-A6A1-FE4A41B6AF60}"/>
            </c:ext>
          </c:extLst>
        </c:ser>
        <c:ser>
          <c:idx val="2"/>
          <c:order val="2"/>
          <c:tx>
            <c:strRef>
              <c:f>Sheet1!$D$1</c:f>
              <c:strCache>
                <c:ptCount val="1"/>
                <c:pt idx="0">
                  <c:v>Phase 5b: ratio</c:v>
                </c:pt>
              </c:strCache>
            </c:strRef>
          </c:tx>
          <c:spPr>
            <a:ln w="28575" cap="flat">
              <a:solidFill>
                <a:srgbClr val="21295C"/>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4.3303515762090683E-2</c:v>
                </c:pt>
                <c:pt idx="1">
                  <c:v>0.28530526161193848</c:v>
                </c:pt>
                <c:pt idx="2">
                  <c:v>0.27249088883399963</c:v>
                </c:pt>
                <c:pt idx="3">
                  <c:v>0.27040627598762512</c:v>
                </c:pt>
                <c:pt idx="4">
                  <c:v>0.23956629633903503</c:v>
                </c:pt>
                <c:pt idx="5">
                  <c:v>0.25577446818351746</c:v>
                </c:pt>
                <c:pt idx="6">
                  <c:v>0.24841810762882233</c:v>
                </c:pt>
                <c:pt idx="7">
                  <c:v>0.28110340237617493</c:v>
                </c:pt>
                <c:pt idx="8">
                  <c:v>0.19863542914390564</c:v>
                </c:pt>
                <c:pt idx="9">
                  <c:v>0.15990962088108063</c:v>
                </c:pt>
                <c:pt idx="10">
                  <c:v>0.13073082268238068</c:v>
                </c:pt>
                <c:pt idx="11">
                  <c:v>9.869743138551712E-2</c:v>
                </c:pt>
                <c:pt idx="12">
                  <c:v>8.1368699669837952E-2</c:v>
                </c:pt>
                <c:pt idx="13">
                  <c:v>7.3113314807415009E-2</c:v>
                </c:pt>
                <c:pt idx="14">
                  <c:v>5.7699970901012421E-2</c:v>
                </c:pt>
              </c:numCache>
            </c:numRef>
          </c:val>
          <c:smooth val="0"/>
          <c:extLst>
            <c:ext xmlns:c16="http://schemas.microsoft.com/office/drawing/2014/chart" uri="{C3380CC4-5D6E-409C-BE32-E72D297353CC}">
              <c16:uniqueId val="{00000002-7B30-4A0F-A6A1-FE4A41B6AF6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Phase 4: none</c:v>
                </c:pt>
              </c:strCache>
            </c:strRef>
          </c:tx>
          <c:spPr>
            <a:ln w="28575" cap="flat">
              <a:solidFill>
                <a:srgbClr val="A7B1B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0.20990154147148132</c:v>
                </c:pt>
                <c:pt idx="1">
                  <c:v>0.31155931949615479</c:v>
                </c:pt>
                <c:pt idx="2">
                  <c:v>0.36780604720115662</c:v>
                </c:pt>
                <c:pt idx="3">
                  <c:v>0.3883325457572937</c:v>
                </c:pt>
                <c:pt idx="4">
                  <c:v>0.3456682562828064</c:v>
                </c:pt>
                <c:pt idx="5">
                  <c:v>0.46133309602737427</c:v>
                </c:pt>
                <c:pt idx="6">
                  <c:v>0.46286618709564209</c:v>
                </c:pt>
                <c:pt idx="7">
                  <c:v>0.49472472071647644</c:v>
                </c:pt>
                <c:pt idx="8">
                  <c:v>0.50715857744216919</c:v>
                </c:pt>
                <c:pt idx="9">
                  <c:v>0.53254151344299316</c:v>
                </c:pt>
                <c:pt idx="10">
                  <c:v>0.48260024189949036</c:v>
                </c:pt>
                <c:pt idx="11">
                  <c:v>0.52825218439102173</c:v>
                </c:pt>
                <c:pt idx="12">
                  <c:v>0.53992384672164917</c:v>
                </c:pt>
                <c:pt idx="13">
                  <c:v>0.54740840196609497</c:v>
                </c:pt>
                <c:pt idx="14">
                  <c:v>0.51128828525543213</c:v>
                </c:pt>
              </c:numCache>
            </c:numRef>
          </c:val>
          <c:smooth val="0"/>
          <c:extLst>
            <c:ext xmlns:c16="http://schemas.microsoft.com/office/drawing/2014/chart" uri="{C3380CC4-5D6E-409C-BE32-E72D297353CC}">
              <c16:uniqueId val="{00000000-4814-4623-9DCB-3964FB12B74A}"/>
            </c:ext>
          </c:extLst>
        </c:ser>
        <c:ser>
          <c:idx val="1"/>
          <c:order val="1"/>
          <c:tx>
            <c:strRef>
              <c:f>Sheet1!$C$1</c:f>
              <c:strCache>
                <c:ptCount val="1"/>
                <c:pt idx="0">
                  <c:v>Phase 5: absolute</c:v>
                </c:pt>
              </c:strCache>
            </c:strRef>
          </c:tx>
          <c:spPr>
            <a:ln w="28575" cap="flat">
              <a:solidFill>
                <a:srgbClr val="D9912B"/>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0.31232380867004395</c:v>
                </c:pt>
                <c:pt idx="1">
                  <c:v>0.37663483619689941</c:v>
                </c:pt>
                <c:pt idx="2">
                  <c:v>0.40776896476745605</c:v>
                </c:pt>
                <c:pt idx="3">
                  <c:v>0.40699464082717896</c:v>
                </c:pt>
                <c:pt idx="4">
                  <c:v>0.44821715354919434</c:v>
                </c:pt>
                <c:pt idx="5">
                  <c:v>0.44862541556358337</c:v>
                </c:pt>
                <c:pt idx="6">
                  <c:v>0.45365798473358154</c:v>
                </c:pt>
                <c:pt idx="7">
                  <c:v>0.4830397367477417</c:v>
                </c:pt>
                <c:pt idx="8">
                  <c:v>0.49904152750968933</c:v>
                </c:pt>
                <c:pt idx="9">
                  <c:v>0.50568282604217529</c:v>
                </c:pt>
                <c:pt idx="10">
                  <c:v>0.53013014793395996</c:v>
                </c:pt>
                <c:pt idx="11">
                  <c:v>0.52597099542617798</c:v>
                </c:pt>
                <c:pt idx="12">
                  <c:v>0.53829646110534668</c:v>
                </c:pt>
                <c:pt idx="13">
                  <c:v>0.53439062833786011</c:v>
                </c:pt>
                <c:pt idx="14">
                  <c:v>0.53725308179855347</c:v>
                </c:pt>
              </c:numCache>
            </c:numRef>
          </c:val>
          <c:smooth val="0"/>
          <c:extLst>
            <c:ext xmlns:c16="http://schemas.microsoft.com/office/drawing/2014/chart" uri="{C3380CC4-5D6E-409C-BE32-E72D297353CC}">
              <c16:uniqueId val="{00000001-4814-4623-9DCB-3964FB12B74A}"/>
            </c:ext>
          </c:extLst>
        </c:ser>
        <c:ser>
          <c:idx val="2"/>
          <c:order val="2"/>
          <c:tx>
            <c:strRef>
              <c:f>Sheet1!$D$1</c:f>
              <c:strCache>
                <c:ptCount val="1"/>
                <c:pt idx="0">
                  <c:v>Phase 5b: ratio</c:v>
                </c:pt>
              </c:strCache>
            </c:strRef>
          </c:tx>
          <c:spPr>
            <a:ln w="28575" cap="flat">
              <a:solidFill>
                <a:srgbClr val="21295C"/>
              </a:solidFill>
              <a:prstDash val="solid"/>
              <a:round/>
            </a:ln>
            <a:effectLst/>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0.21394166350364685</c:v>
                </c:pt>
                <c:pt idx="1">
                  <c:v>0.27520537376403809</c:v>
                </c:pt>
                <c:pt idx="2">
                  <c:v>0.36084958910942078</c:v>
                </c:pt>
                <c:pt idx="3">
                  <c:v>0.34694474935531616</c:v>
                </c:pt>
                <c:pt idx="4">
                  <c:v>0.41198685765266418</c:v>
                </c:pt>
                <c:pt idx="5">
                  <c:v>0.40272882580757141</c:v>
                </c:pt>
                <c:pt idx="6">
                  <c:v>0.39955571293830872</c:v>
                </c:pt>
                <c:pt idx="7">
                  <c:v>0.4216657280921936</c:v>
                </c:pt>
                <c:pt idx="8">
                  <c:v>0.42692038416862488</c:v>
                </c:pt>
                <c:pt idx="9">
                  <c:v>0.45695847272872925</c:v>
                </c:pt>
                <c:pt idx="10">
                  <c:v>0.47186529636383057</c:v>
                </c:pt>
                <c:pt idx="11">
                  <c:v>0.47123175859451294</c:v>
                </c:pt>
                <c:pt idx="12">
                  <c:v>0.49012371897697449</c:v>
                </c:pt>
                <c:pt idx="13">
                  <c:v>0.49611207842826843</c:v>
                </c:pt>
                <c:pt idx="14">
                  <c:v>0.53613215684890747</c:v>
                </c:pt>
              </c:numCache>
            </c:numRef>
          </c:val>
          <c:smooth val="0"/>
          <c:extLst>
            <c:ext xmlns:c16="http://schemas.microsoft.com/office/drawing/2014/chart" uri="{C3380CC4-5D6E-409C-BE32-E72D297353CC}">
              <c16:uniqueId val="{00000002-4814-4623-9DCB-3964FB12B74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0.6"/>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COA</c:v>
                </c:pt>
              </c:strCache>
            </c:strRef>
          </c:tx>
          <c:spPr>
            <a:ln w="31750" cap="flat">
              <a:solidFill>
                <a:srgbClr val="21295C"/>
              </a:solidFill>
              <a:prstDash val="solid"/>
              <a:round/>
            </a:ln>
            <a:effectLst/>
          </c:spPr>
          <c:marker>
            <c:symbol val="none"/>
          </c:marker>
          <c:cat>
            <c:strRef>
              <c:f>Sheet1!$A$2:$A$61</c:f>
              <c:strCach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strCache>
            </c:strRef>
          </c:cat>
          <c:val>
            <c:numRef>
              <c:f>Sheet1!$B$2:$B$61</c:f>
              <c:numCache>
                <c:formatCode>General</c:formatCode>
                <c:ptCount val="60"/>
                <c:pt idx="0">
                  <c:v>0.54962530230532569</c:v>
                </c:pt>
                <c:pt idx="1">
                  <c:v>0.55517946320817879</c:v>
                </c:pt>
                <c:pt idx="2">
                  <c:v>0.55947967734474591</c:v>
                </c:pt>
                <c:pt idx="3">
                  <c:v>0.55947967734474591</c:v>
                </c:pt>
                <c:pt idx="4">
                  <c:v>0.55947967734474591</c:v>
                </c:pt>
                <c:pt idx="5">
                  <c:v>0.5920924360877482</c:v>
                </c:pt>
                <c:pt idx="6">
                  <c:v>0.5920924360877482</c:v>
                </c:pt>
                <c:pt idx="7">
                  <c:v>0.5920924360877482</c:v>
                </c:pt>
                <c:pt idx="8">
                  <c:v>0.5920924360877482</c:v>
                </c:pt>
                <c:pt idx="9">
                  <c:v>0.5920924360877482</c:v>
                </c:pt>
                <c:pt idx="10">
                  <c:v>0.5920924360877482</c:v>
                </c:pt>
                <c:pt idx="11">
                  <c:v>0.5920924360877482</c:v>
                </c:pt>
                <c:pt idx="12">
                  <c:v>0.5920924360877482</c:v>
                </c:pt>
                <c:pt idx="13">
                  <c:v>0.5920924360877482</c:v>
                </c:pt>
                <c:pt idx="14">
                  <c:v>0.5920924360877482</c:v>
                </c:pt>
                <c:pt idx="15">
                  <c:v>0.5920924360877482</c:v>
                </c:pt>
                <c:pt idx="16">
                  <c:v>0.5920924360877482</c:v>
                </c:pt>
                <c:pt idx="17">
                  <c:v>0.5920924360877482</c:v>
                </c:pt>
                <c:pt idx="18">
                  <c:v>0.5920924360877482</c:v>
                </c:pt>
                <c:pt idx="19">
                  <c:v>0.5920924360877482</c:v>
                </c:pt>
                <c:pt idx="20">
                  <c:v>0.5920924360877482</c:v>
                </c:pt>
                <c:pt idx="21">
                  <c:v>0.5920924360877482</c:v>
                </c:pt>
                <c:pt idx="22">
                  <c:v>0.5920924360877482</c:v>
                </c:pt>
                <c:pt idx="23">
                  <c:v>0.5920924360877482</c:v>
                </c:pt>
                <c:pt idx="24">
                  <c:v>0.5920924360877482</c:v>
                </c:pt>
                <c:pt idx="25">
                  <c:v>0.5920924360877482</c:v>
                </c:pt>
                <c:pt idx="26">
                  <c:v>0.5920924360877482</c:v>
                </c:pt>
                <c:pt idx="27">
                  <c:v>0.5920924360877482</c:v>
                </c:pt>
                <c:pt idx="28">
                  <c:v>0.5920924360877482</c:v>
                </c:pt>
                <c:pt idx="29">
                  <c:v>0.5920924360877482</c:v>
                </c:pt>
                <c:pt idx="30">
                  <c:v>0.59611034605991109</c:v>
                </c:pt>
                <c:pt idx="31">
                  <c:v>0.59611034605991109</c:v>
                </c:pt>
                <c:pt idx="32">
                  <c:v>0.59611034605991109</c:v>
                </c:pt>
                <c:pt idx="33">
                  <c:v>0.59611034605991109</c:v>
                </c:pt>
                <c:pt idx="34">
                  <c:v>0.59611034605991109</c:v>
                </c:pt>
                <c:pt idx="35">
                  <c:v>0.6079800379996253</c:v>
                </c:pt>
                <c:pt idx="36">
                  <c:v>0.6079800379996253</c:v>
                </c:pt>
                <c:pt idx="37">
                  <c:v>0.6079800379996253</c:v>
                </c:pt>
                <c:pt idx="38">
                  <c:v>0.6079800379996253</c:v>
                </c:pt>
                <c:pt idx="39">
                  <c:v>0.6079800379996253</c:v>
                </c:pt>
                <c:pt idx="40">
                  <c:v>0.6079800379996253</c:v>
                </c:pt>
                <c:pt idx="41">
                  <c:v>0.6079800379996253</c:v>
                </c:pt>
                <c:pt idx="42">
                  <c:v>0.6079800379996253</c:v>
                </c:pt>
                <c:pt idx="43">
                  <c:v>0.6079800379996253</c:v>
                </c:pt>
                <c:pt idx="44">
                  <c:v>0.6079800379996253</c:v>
                </c:pt>
                <c:pt idx="45">
                  <c:v>0.6079800379996253</c:v>
                </c:pt>
                <c:pt idx="46">
                  <c:v>0.6079800379996253</c:v>
                </c:pt>
                <c:pt idx="47">
                  <c:v>0.6079800379996253</c:v>
                </c:pt>
                <c:pt idx="48">
                  <c:v>0.6079800379996253</c:v>
                </c:pt>
                <c:pt idx="49">
                  <c:v>0.6079800379996253</c:v>
                </c:pt>
                <c:pt idx="50">
                  <c:v>0.6079800379996253</c:v>
                </c:pt>
                <c:pt idx="51">
                  <c:v>0.6079800379996253</c:v>
                </c:pt>
                <c:pt idx="52">
                  <c:v>0.6079800379996253</c:v>
                </c:pt>
                <c:pt idx="53">
                  <c:v>0.6079800379996253</c:v>
                </c:pt>
                <c:pt idx="54">
                  <c:v>0.6079800379996253</c:v>
                </c:pt>
                <c:pt idx="55">
                  <c:v>0.6079800379996253</c:v>
                </c:pt>
                <c:pt idx="56">
                  <c:v>0.6079800379996253</c:v>
                </c:pt>
                <c:pt idx="57">
                  <c:v>0.6079800379996253</c:v>
                </c:pt>
                <c:pt idx="58">
                  <c:v>0.6079800379996253</c:v>
                </c:pt>
                <c:pt idx="59">
                  <c:v>0.6079800379996253</c:v>
                </c:pt>
              </c:numCache>
            </c:numRef>
          </c:val>
          <c:smooth val="0"/>
          <c:extLst>
            <c:ext xmlns:c16="http://schemas.microsoft.com/office/drawing/2014/chart" uri="{C3380CC4-5D6E-409C-BE32-E72D297353CC}">
              <c16:uniqueId val="{00000000-EF10-43B7-BBF6-5EA2BFD6B97C}"/>
            </c:ext>
          </c:extLst>
        </c:ser>
        <c:ser>
          <c:idx val="1"/>
          <c:order val="1"/>
          <c:tx>
            <c:strRef>
              <c:f>Sheet1!$C$1</c:f>
              <c:strCache>
                <c:ptCount val="1"/>
                <c:pt idx="0">
                  <c:v>WOA</c:v>
                </c:pt>
              </c:strCache>
            </c:strRef>
          </c:tx>
          <c:spPr>
            <a:ln w="31750" cap="flat">
              <a:solidFill>
                <a:srgbClr val="D9912B"/>
              </a:solidFill>
              <a:prstDash val="solid"/>
              <a:round/>
            </a:ln>
            <a:effectLst/>
          </c:spPr>
          <c:marker>
            <c:symbol val="none"/>
          </c:marker>
          <c:cat>
            <c:strRef>
              <c:f>Sheet1!$A$2:$A$61</c:f>
              <c:strCach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strCache>
            </c:strRef>
          </c:cat>
          <c:val>
            <c:numRef>
              <c:f>Sheet1!$C$2:$C$61</c:f>
              <c:numCache>
                <c:formatCode>General</c:formatCode>
                <c:ptCount val="60"/>
                <c:pt idx="0">
                  <c:v>0.54962530230532569</c:v>
                </c:pt>
                <c:pt idx="1">
                  <c:v>0.55517946320817879</c:v>
                </c:pt>
                <c:pt idx="2">
                  <c:v>0.55947967734474591</c:v>
                </c:pt>
                <c:pt idx="3">
                  <c:v>0.55947967734474591</c:v>
                </c:pt>
                <c:pt idx="4">
                  <c:v>0.55947967734474591</c:v>
                </c:pt>
                <c:pt idx="5">
                  <c:v>0.5920924360877482</c:v>
                </c:pt>
                <c:pt idx="6">
                  <c:v>0.5920924360877482</c:v>
                </c:pt>
                <c:pt idx="7">
                  <c:v>0.5920924360877482</c:v>
                </c:pt>
                <c:pt idx="8">
                  <c:v>0.5920924360877482</c:v>
                </c:pt>
                <c:pt idx="9">
                  <c:v>0.5920924360877482</c:v>
                </c:pt>
                <c:pt idx="10">
                  <c:v>0.5920924360877482</c:v>
                </c:pt>
                <c:pt idx="11">
                  <c:v>0.5920924360877482</c:v>
                </c:pt>
                <c:pt idx="12">
                  <c:v>0.5920924360877482</c:v>
                </c:pt>
                <c:pt idx="13">
                  <c:v>0.5920924360877482</c:v>
                </c:pt>
                <c:pt idx="14">
                  <c:v>0.5920924360877482</c:v>
                </c:pt>
                <c:pt idx="15">
                  <c:v>0.5920924360877482</c:v>
                </c:pt>
                <c:pt idx="16">
                  <c:v>0.5920924360877482</c:v>
                </c:pt>
                <c:pt idx="17">
                  <c:v>0.5920924360877482</c:v>
                </c:pt>
                <c:pt idx="18">
                  <c:v>0.5920924360877482</c:v>
                </c:pt>
                <c:pt idx="19">
                  <c:v>0.5920924360877482</c:v>
                </c:pt>
                <c:pt idx="20">
                  <c:v>0.5920924360877482</c:v>
                </c:pt>
                <c:pt idx="21">
                  <c:v>0.5920924360877482</c:v>
                </c:pt>
                <c:pt idx="22">
                  <c:v>0.5920924360877482</c:v>
                </c:pt>
                <c:pt idx="23">
                  <c:v>0.5920924360877482</c:v>
                </c:pt>
                <c:pt idx="24">
                  <c:v>0.5920924360877482</c:v>
                </c:pt>
                <c:pt idx="25">
                  <c:v>0.5920924360877482</c:v>
                </c:pt>
                <c:pt idx="26">
                  <c:v>0.5920924360877482</c:v>
                </c:pt>
                <c:pt idx="27">
                  <c:v>0.5920924360877482</c:v>
                </c:pt>
                <c:pt idx="28">
                  <c:v>0.5920924360877482</c:v>
                </c:pt>
                <c:pt idx="29">
                  <c:v>0.5920924360877482</c:v>
                </c:pt>
                <c:pt idx="30">
                  <c:v>0.5920924360877482</c:v>
                </c:pt>
                <c:pt idx="31">
                  <c:v>0.5920924360877482</c:v>
                </c:pt>
                <c:pt idx="32">
                  <c:v>0.59578057569209453</c:v>
                </c:pt>
                <c:pt idx="33">
                  <c:v>0.59578057569209453</c:v>
                </c:pt>
                <c:pt idx="34">
                  <c:v>0.59578057569209453</c:v>
                </c:pt>
                <c:pt idx="35">
                  <c:v>0.59578057569209453</c:v>
                </c:pt>
                <c:pt idx="36">
                  <c:v>0.59578057569209453</c:v>
                </c:pt>
                <c:pt idx="37">
                  <c:v>0.59578057569209453</c:v>
                </c:pt>
                <c:pt idx="38">
                  <c:v>0.59578057569209453</c:v>
                </c:pt>
                <c:pt idx="39">
                  <c:v>0.59578057569209453</c:v>
                </c:pt>
                <c:pt idx="40">
                  <c:v>0.59578057569209453</c:v>
                </c:pt>
                <c:pt idx="41">
                  <c:v>0.59578057569209453</c:v>
                </c:pt>
                <c:pt idx="42">
                  <c:v>0.59578057569209453</c:v>
                </c:pt>
                <c:pt idx="43">
                  <c:v>0.59578057569209453</c:v>
                </c:pt>
                <c:pt idx="44">
                  <c:v>0.59578057569209453</c:v>
                </c:pt>
                <c:pt idx="45">
                  <c:v>0.59578057569209453</c:v>
                </c:pt>
                <c:pt idx="46">
                  <c:v>0.59578057569209453</c:v>
                </c:pt>
                <c:pt idx="47">
                  <c:v>0.59578057569209453</c:v>
                </c:pt>
                <c:pt idx="48">
                  <c:v>0.59578057569209453</c:v>
                </c:pt>
                <c:pt idx="49">
                  <c:v>0.59578057569209453</c:v>
                </c:pt>
                <c:pt idx="50">
                  <c:v>0.59578057569209453</c:v>
                </c:pt>
                <c:pt idx="51">
                  <c:v>0.59828334538846406</c:v>
                </c:pt>
                <c:pt idx="52">
                  <c:v>0.59828334538846406</c:v>
                </c:pt>
                <c:pt idx="53">
                  <c:v>0.59828334538846406</c:v>
                </c:pt>
                <c:pt idx="54">
                  <c:v>0.59828334538846406</c:v>
                </c:pt>
                <c:pt idx="55">
                  <c:v>0.59828334538846406</c:v>
                </c:pt>
                <c:pt idx="56">
                  <c:v>0.59828334538846406</c:v>
                </c:pt>
                <c:pt idx="57">
                  <c:v>0.59828334538846406</c:v>
                </c:pt>
                <c:pt idx="58">
                  <c:v>0.59828334538846406</c:v>
                </c:pt>
                <c:pt idx="59">
                  <c:v>0.59828334538846406</c:v>
                </c:pt>
              </c:numCache>
            </c:numRef>
          </c:val>
          <c:smooth val="0"/>
          <c:extLst>
            <c:ext xmlns:c16="http://schemas.microsoft.com/office/drawing/2014/chart" uri="{C3380CC4-5D6E-409C-BE32-E72D297353CC}">
              <c16:uniqueId val="{00000001-EF10-43B7-BBF6-5EA2BFD6B97C}"/>
            </c:ext>
          </c:extLst>
        </c:ser>
        <c:ser>
          <c:idx val="2"/>
          <c:order val="2"/>
          <c:tx>
            <c:strRef>
              <c:f>Sheet1!$D$1</c:f>
              <c:strCache>
                <c:ptCount val="1"/>
                <c:pt idx="0">
                  <c:v>GWO</c:v>
                </c:pt>
              </c:strCache>
            </c:strRef>
          </c:tx>
          <c:spPr>
            <a:ln w="31750" cap="flat">
              <a:solidFill>
                <a:srgbClr val="1C7293"/>
              </a:solidFill>
              <a:prstDash val="solid"/>
              <a:round/>
            </a:ln>
            <a:effectLst/>
          </c:spPr>
          <c:marker>
            <c:symbol val="none"/>
          </c:marker>
          <c:cat>
            <c:strRef>
              <c:f>Sheet1!$A$2:$A$61</c:f>
              <c:strCache>
                <c:ptCount val="6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strCache>
            </c:strRef>
          </c:cat>
          <c:val>
            <c:numRef>
              <c:f>Sheet1!$D$2:$D$61</c:f>
              <c:numCache>
                <c:formatCode>General</c:formatCode>
                <c:ptCount val="60"/>
                <c:pt idx="0">
                  <c:v>0.54962530230532569</c:v>
                </c:pt>
                <c:pt idx="1">
                  <c:v>0.55517946320817879</c:v>
                </c:pt>
                <c:pt idx="2">
                  <c:v>0.55947967734474591</c:v>
                </c:pt>
                <c:pt idx="3">
                  <c:v>0.55947967734474591</c:v>
                </c:pt>
                <c:pt idx="4">
                  <c:v>0.55947967734474591</c:v>
                </c:pt>
                <c:pt idx="5">
                  <c:v>0.5920924360877482</c:v>
                </c:pt>
                <c:pt idx="6">
                  <c:v>0.5920924360877482</c:v>
                </c:pt>
                <c:pt idx="7">
                  <c:v>0.5920924360877482</c:v>
                </c:pt>
                <c:pt idx="8">
                  <c:v>0.5920924360877482</c:v>
                </c:pt>
                <c:pt idx="9">
                  <c:v>0.5920924360877482</c:v>
                </c:pt>
                <c:pt idx="10">
                  <c:v>0.5920924360877482</c:v>
                </c:pt>
                <c:pt idx="11">
                  <c:v>0.59530007937747453</c:v>
                </c:pt>
                <c:pt idx="12">
                  <c:v>0.59530007937747453</c:v>
                </c:pt>
                <c:pt idx="13">
                  <c:v>0.59530007937747453</c:v>
                </c:pt>
                <c:pt idx="14">
                  <c:v>0.59530007937747453</c:v>
                </c:pt>
                <c:pt idx="15">
                  <c:v>0.59530007937747453</c:v>
                </c:pt>
                <c:pt idx="16">
                  <c:v>0.59530007937747453</c:v>
                </c:pt>
                <c:pt idx="17">
                  <c:v>0.60063938002034789</c:v>
                </c:pt>
                <c:pt idx="18">
                  <c:v>0.60063938002034789</c:v>
                </c:pt>
                <c:pt idx="19">
                  <c:v>0.60063938002034789</c:v>
                </c:pt>
                <c:pt idx="20">
                  <c:v>0.60063938002034789</c:v>
                </c:pt>
                <c:pt idx="21">
                  <c:v>0.60063938002034789</c:v>
                </c:pt>
                <c:pt idx="22">
                  <c:v>0.60063938002034789</c:v>
                </c:pt>
                <c:pt idx="23">
                  <c:v>0.60063938002034789</c:v>
                </c:pt>
                <c:pt idx="24">
                  <c:v>0.60063938002034789</c:v>
                </c:pt>
                <c:pt idx="25">
                  <c:v>0.60063938002034789</c:v>
                </c:pt>
                <c:pt idx="26">
                  <c:v>0.60063938002034789</c:v>
                </c:pt>
                <c:pt idx="27">
                  <c:v>0.60063938002034789</c:v>
                </c:pt>
                <c:pt idx="28">
                  <c:v>0.60063938002034789</c:v>
                </c:pt>
                <c:pt idx="29">
                  <c:v>0.60063938002034789</c:v>
                </c:pt>
                <c:pt idx="30">
                  <c:v>0.60063938002034789</c:v>
                </c:pt>
                <c:pt idx="31">
                  <c:v>0.60063938002034789</c:v>
                </c:pt>
                <c:pt idx="32">
                  <c:v>0.60063938002034789</c:v>
                </c:pt>
                <c:pt idx="33">
                  <c:v>0.60063938002034789</c:v>
                </c:pt>
                <c:pt idx="34">
                  <c:v>0.60063938002034789</c:v>
                </c:pt>
                <c:pt idx="35">
                  <c:v>0.60063938002034789</c:v>
                </c:pt>
                <c:pt idx="36">
                  <c:v>0.60063938002034789</c:v>
                </c:pt>
                <c:pt idx="37">
                  <c:v>0.60063938002034789</c:v>
                </c:pt>
                <c:pt idx="38">
                  <c:v>0.60063938002034789</c:v>
                </c:pt>
                <c:pt idx="39">
                  <c:v>0.60063938002034789</c:v>
                </c:pt>
                <c:pt idx="40">
                  <c:v>0.60063938002034789</c:v>
                </c:pt>
                <c:pt idx="41">
                  <c:v>0.60063938002034789</c:v>
                </c:pt>
                <c:pt idx="42">
                  <c:v>0.60063938002034789</c:v>
                </c:pt>
                <c:pt idx="43">
                  <c:v>0.60063938002034789</c:v>
                </c:pt>
                <c:pt idx="44">
                  <c:v>0.60063938002034789</c:v>
                </c:pt>
                <c:pt idx="45">
                  <c:v>0.60063938002034789</c:v>
                </c:pt>
                <c:pt idx="46">
                  <c:v>0.60063938002034789</c:v>
                </c:pt>
                <c:pt idx="47">
                  <c:v>0.60063938002034789</c:v>
                </c:pt>
                <c:pt idx="48">
                  <c:v>0.60063938002034789</c:v>
                </c:pt>
                <c:pt idx="49">
                  <c:v>0.60063938002034789</c:v>
                </c:pt>
                <c:pt idx="50">
                  <c:v>0.60063938002034789</c:v>
                </c:pt>
                <c:pt idx="51">
                  <c:v>0.60063938002034789</c:v>
                </c:pt>
                <c:pt idx="52">
                  <c:v>0.60063938002034789</c:v>
                </c:pt>
                <c:pt idx="53">
                  <c:v>0.60063938002034789</c:v>
                </c:pt>
                <c:pt idx="54">
                  <c:v>0.60063938002034789</c:v>
                </c:pt>
                <c:pt idx="55">
                  <c:v>0.60063938002034789</c:v>
                </c:pt>
                <c:pt idx="56">
                  <c:v>0.60063938002034789</c:v>
                </c:pt>
                <c:pt idx="57">
                  <c:v>0.60063938002034789</c:v>
                </c:pt>
                <c:pt idx="58">
                  <c:v>0.60063938002034789</c:v>
                </c:pt>
                <c:pt idx="59">
                  <c:v>0.60063938002034789</c:v>
                </c:pt>
              </c:numCache>
            </c:numRef>
          </c:val>
          <c:smooth val="0"/>
          <c:extLst>
            <c:ext xmlns:c16="http://schemas.microsoft.com/office/drawing/2014/chart" uri="{C3380CC4-5D6E-409C-BE32-E72D297353CC}">
              <c16:uniqueId val="{00000002-EF10-43B7-BBF6-5EA2BFD6B97C}"/>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tickLblSkip val="10"/>
        <c:noMultiLvlLbl val="1"/>
      </c:catAx>
      <c:valAx>
        <c:axId val="2094734552"/>
        <c:scaling>
          <c:orientation val="minMax"/>
          <c:max val="0.62"/>
          <c:min val="0.54"/>
        </c:scaling>
        <c:delete val="0"/>
        <c:axPos val="l"/>
        <c:majorGridlines>
          <c:spPr>
            <a:ln w="9525" cap="flat">
              <a:solidFill>
                <a:srgbClr val="DCE3E8"/>
              </a:solidFill>
              <a:prstDash val="solid"/>
              <a:round/>
            </a:ln>
          </c:spPr>
        </c:majorGridlines>
        <c:numFmt formatCode="0.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COA</c:v>
                </c:pt>
              </c:strCache>
            </c:strRef>
          </c:tx>
          <c:spPr>
            <a:solidFill>
              <a:srgbClr val="21295C"/>
            </a:solidFill>
            <a:effectLst/>
          </c:spPr>
          <c:invertIfNegative val="0"/>
          <c:dLbls>
            <c:numFmt formatCode="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Diagnosis</c:v>
                </c:pt>
                <c:pt idx="1">
                  <c:v>Global path.</c:v>
                </c:pt>
                <c:pt idx="2">
                  <c:v>Local path.</c:v>
                </c:pt>
                <c:pt idx="3">
                  <c:v>Kidney seg.</c:v>
                </c:pt>
                <c:pt idx="4">
                  <c:v>Lesion seg.</c:v>
                </c:pt>
                <c:pt idx="5">
                  <c:v>Consistency</c:v>
                </c:pt>
              </c:strCache>
            </c:strRef>
          </c:cat>
          <c:val>
            <c:numRef>
              <c:f>Sheet1!$B$2:$B$7</c:f>
              <c:numCache>
                <c:formatCode>General</c:formatCode>
                <c:ptCount val="6"/>
                <c:pt idx="0">
                  <c:v>0.1</c:v>
                </c:pt>
                <c:pt idx="1">
                  <c:v>0.1</c:v>
                </c:pt>
                <c:pt idx="2">
                  <c:v>3.9756370471166864</c:v>
                </c:pt>
                <c:pt idx="3">
                  <c:v>3.055203538806138</c:v>
                </c:pt>
                <c:pt idx="4">
                  <c:v>1.5444309684956541</c:v>
                </c:pt>
                <c:pt idx="5">
                  <c:v>4.1866991371300362</c:v>
                </c:pt>
              </c:numCache>
            </c:numRef>
          </c:val>
          <c:extLst>
            <c:ext xmlns:c16="http://schemas.microsoft.com/office/drawing/2014/chart" uri="{C3380CC4-5D6E-409C-BE32-E72D297353CC}">
              <c16:uniqueId val="{00000000-18E3-4B79-AB60-B52B6CB5A24E}"/>
            </c:ext>
          </c:extLst>
        </c:ser>
        <c:ser>
          <c:idx val="1"/>
          <c:order val="1"/>
          <c:tx>
            <c:strRef>
              <c:f>Sheet1!$C$1</c:f>
              <c:strCache>
                <c:ptCount val="1"/>
                <c:pt idx="0">
                  <c:v>WOA</c:v>
                </c:pt>
              </c:strCache>
            </c:strRef>
          </c:tx>
          <c:spPr>
            <a:solidFill>
              <a:srgbClr val="D9912B"/>
            </a:solidFill>
            <a:effectLst/>
          </c:spPr>
          <c:invertIfNegative val="0"/>
          <c:dLbls>
            <c:numFmt formatCode="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Diagnosis</c:v>
                </c:pt>
                <c:pt idx="1">
                  <c:v>Global path.</c:v>
                </c:pt>
                <c:pt idx="2">
                  <c:v>Local path.</c:v>
                </c:pt>
                <c:pt idx="3">
                  <c:v>Kidney seg.</c:v>
                </c:pt>
                <c:pt idx="4">
                  <c:v>Lesion seg.</c:v>
                </c:pt>
                <c:pt idx="5">
                  <c:v>Consistency</c:v>
                </c:pt>
              </c:strCache>
            </c:strRef>
          </c:cat>
          <c:val>
            <c:numRef>
              <c:f>Sheet1!$C$2:$C$7</c:f>
              <c:numCache>
                <c:formatCode>General</c:formatCode>
                <c:ptCount val="6"/>
                <c:pt idx="0">
                  <c:v>0.34044745301119472</c:v>
                </c:pt>
                <c:pt idx="1">
                  <c:v>0.10798490134291715</c:v>
                </c:pt>
                <c:pt idx="2">
                  <c:v>4.3920929006487457</c:v>
                </c:pt>
                <c:pt idx="3">
                  <c:v>2.6511196674845006</c:v>
                </c:pt>
                <c:pt idx="4">
                  <c:v>2.0505479832927991</c:v>
                </c:pt>
                <c:pt idx="5">
                  <c:v>0.1</c:v>
                </c:pt>
              </c:numCache>
            </c:numRef>
          </c:val>
          <c:extLst>
            <c:ext xmlns:c16="http://schemas.microsoft.com/office/drawing/2014/chart" uri="{C3380CC4-5D6E-409C-BE32-E72D297353CC}">
              <c16:uniqueId val="{00000001-18E3-4B79-AB60-B52B6CB5A24E}"/>
            </c:ext>
          </c:extLst>
        </c:ser>
        <c:ser>
          <c:idx val="2"/>
          <c:order val="2"/>
          <c:tx>
            <c:strRef>
              <c:f>Sheet1!$D$1</c:f>
              <c:strCache>
                <c:ptCount val="1"/>
                <c:pt idx="0">
                  <c:v>GWO</c:v>
                </c:pt>
              </c:strCache>
            </c:strRef>
          </c:tx>
          <c:spPr>
            <a:solidFill>
              <a:srgbClr val="1C7293"/>
            </a:solidFill>
            <a:effectLst/>
          </c:spPr>
          <c:invertIfNegative val="0"/>
          <c:dLbls>
            <c:numFmt formatCode="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Diagnosis</c:v>
                </c:pt>
                <c:pt idx="1">
                  <c:v>Global path.</c:v>
                </c:pt>
                <c:pt idx="2">
                  <c:v>Local path.</c:v>
                </c:pt>
                <c:pt idx="3">
                  <c:v>Kidney seg.</c:v>
                </c:pt>
                <c:pt idx="4">
                  <c:v>Lesion seg.</c:v>
                </c:pt>
                <c:pt idx="5">
                  <c:v>Consistency</c:v>
                </c:pt>
              </c:strCache>
            </c:strRef>
          </c:cat>
          <c:val>
            <c:numRef>
              <c:f>Sheet1!$D$2:$D$7</c:f>
              <c:numCache>
                <c:formatCode>General</c:formatCode>
                <c:ptCount val="6"/>
                <c:pt idx="0">
                  <c:v>2.8995765887927512</c:v>
                </c:pt>
                <c:pt idx="1">
                  <c:v>1.7830150987097042</c:v>
                </c:pt>
                <c:pt idx="2">
                  <c:v>5</c:v>
                </c:pt>
                <c:pt idx="3">
                  <c:v>5</c:v>
                </c:pt>
                <c:pt idx="4">
                  <c:v>2.1036849745243478</c:v>
                </c:pt>
                <c:pt idx="5">
                  <c:v>1.1483341608138582</c:v>
                </c:pt>
              </c:numCache>
            </c:numRef>
          </c:val>
          <c:extLst>
            <c:ext xmlns:c16="http://schemas.microsoft.com/office/drawing/2014/chart" uri="{C3380CC4-5D6E-409C-BE32-E72D297353CC}">
              <c16:uniqueId val="{00000002-18E3-4B79-AB60-B52B6CB5A24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5.5"/>
          <c:min val="0"/>
        </c:scaling>
        <c:delete val="0"/>
        <c:axPos val="l"/>
        <c:majorGridlines>
          <c:spPr>
            <a:ln w="9525" cap="flat">
              <a:solidFill>
                <a:srgbClr val="DCE3E8"/>
              </a:solidFill>
              <a:prstDash val="solid"/>
              <a:round/>
            </a:ln>
          </c:spPr>
        </c:majorGridlines>
        <c:numFmt formatCode="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Equal weights (Phase 5b)</c:v>
                </c:pt>
              </c:strCache>
            </c:strRef>
          </c:tx>
          <c:spPr>
            <a:solidFill>
              <a:srgbClr val="A7B1BB"/>
            </a:solidFill>
            <a:effectLst/>
          </c:spPr>
          <c:invertIfNegative val="0"/>
          <c:dLbls>
            <c:numFmt formatCode="0.000" sourceLinked="0"/>
            <c:spPr>
              <a:noFill/>
              <a:ln>
                <a:noFill/>
              </a:ln>
              <a:effectLst/>
            </c:spPr>
            <c:txPr>
              <a:bodyPr/>
              <a:lstStyle/>
              <a:p>
                <a:pPr>
                  <a:defRPr sz="9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Diagnosis AUC</c:v>
                </c:pt>
                <c:pt idx="1">
                  <c:v>Kidney Dice</c:v>
                </c:pt>
                <c:pt idx="2">
                  <c:v>Lesion Dice
(lesion images)</c:v>
                </c:pt>
                <c:pt idx="3">
                  <c:v>1 - violation rate</c:v>
                </c:pt>
              </c:strCache>
            </c:strRef>
          </c:cat>
          <c:val>
            <c:numRef>
              <c:f>Sheet1!$B$2:$B$5</c:f>
              <c:numCache>
                <c:formatCode>General</c:formatCode>
                <c:ptCount val="4"/>
                <c:pt idx="0">
                  <c:v>0.90140664961636818</c:v>
                </c:pt>
                <c:pt idx="1">
                  <c:v>0.8954128623008728</c:v>
                </c:pt>
                <c:pt idx="2">
                  <c:v>0.4880979061126709</c:v>
                </c:pt>
                <c:pt idx="3">
                  <c:v>0.94566607475280762</c:v>
                </c:pt>
              </c:numCache>
            </c:numRef>
          </c:val>
          <c:extLst>
            <c:ext xmlns:c16="http://schemas.microsoft.com/office/drawing/2014/chart" uri="{C3380CC4-5D6E-409C-BE32-E72D297353CC}">
              <c16:uniqueId val="{00000000-F606-4E4D-8607-95C46AE03745}"/>
            </c:ext>
          </c:extLst>
        </c:ser>
        <c:ser>
          <c:idx val="1"/>
          <c:order val="1"/>
          <c:tx>
            <c:strRef>
              <c:f>Sheet1!$C$1</c:f>
              <c:strCache>
                <c:ptCount val="1"/>
                <c:pt idx="0">
                  <c:v>COA-optimized (Phase 6)</c:v>
                </c:pt>
              </c:strCache>
            </c:strRef>
          </c:tx>
          <c:spPr>
            <a:solidFill>
              <a:srgbClr val="21295C"/>
            </a:solidFill>
            <a:effectLst/>
          </c:spPr>
          <c:invertIfNegative val="0"/>
          <c:dLbls>
            <c:numFmt formatCode="0.000" sourceLinked="0"/>
            <c:spPr>
              <a:noFill/>
              <a:ln>
                <a:noFill/>
              </a:ln>
              <a:effectLst/>
            </c:spPr>
            <c:txPr>
              <a:bodyPr/>
              <a:lstStyle/>
              <a:p>
                <a:pPr>
                  <a:defRPr sz="9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Diagnosis AUC</c:v>
                </c:pt>
                <c:pt idx="1">
                  <c:v>Kidney Dice</c:v>
                </c:pt>
                <c:pt idx="2">
                  <c:v>Lesion Dice
(lesion images)</c:v>
                </c:pt>
                <c:pt idx="3">
                  <c:v>1 - violation rate</c:v>
                </c:pt>
              </c:strCache>
            </c:strRef>
          </c:cat>
          <c:val>
            <c:numRef>
              <c:f>Sheet1!$C$2:$C$5</c:f>
              <c:numCache>
                <c:formatCode>General</c:formatCode>
                <c:ptCount val="4"/>
                <c:pt idx="0">
                  <c:v>0.87525575447570325</c:v>
                </c:pt>
                <c:pt idx="1">
                  <c:v>0.90809106826782227</c:v>
                </c:pt>
                <c:pt idx="2">
                  <c:v>0.41797164082527161</c:v>
                </c:pt>
                <c:pt idx="3">
                  <c:v>0.94548590108752251</c:v>
                </c:pt>
              </c:numCache>
            </c:numRef>
          </c:val>
          <c:extLst>
            <c:ext xmlns:c16="http://schemas.microsoft.com/office/drawing/2014/chart" uri="{C3380CC4-5D6E-409C-BE32-E72D297353CC}">
              <c16:uniqueId val="{00000001-F606-4E4D-8607-95C46AE03745}"/>
            </c:ext>
          </c:extLst>
        </c:ser>
        <c:ser>
          <c:idx val="2"/>
          <c:order val="2"/>
          <c:tx>
            <c:strRef>
              <c:f>Sheet1!$D$1</c:f>
              <c:strCache>
                <c:ptCount val="1"/>
                <c:pt idx="0">
                  <c:v>COA weights, no enhancement</c:v>
                </c:pt>
              </c:strCache>
            </c:strRef>
          </c:tx>
          <c:spPr>
            <a:solidFill>
              <a:srgbClr val="1C7293"/>
            </a:solidFill>
            <a:effectLst/>
          </c:spPr>
          <c:invertIfNegative val="0"/>
          <c:dLbls>
            <c:numFmt formatCode="0.000" sourceLinked="0"/>
            <c:spPr>
              <a:noFill/>
              <a:ln>
                <a:noFill/>
              </a:ln>
              <a:effectLst/>
            </c:spPr>
            <c:txPr>
              <a:bodyPr/>
              <a:lstStyle/>
              <a:p>
                <a:pPr>
                  <a:defRPr sz="9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Diagnosis AUC</c:v>
                </c:pt>
                <c:pt idx="1">
                  <c:v>Kidney Dice</c:v>
                </c:pt>
                <c:pt idx="2">
                  <c:v>Lesion Dice
(lesion images)</c:v>
                </c:pt>
                <c:pt idx="3">
                  <c:v>1 - violation rate</c:v>
                </c:pt>
              </c:strCache>
            </c:strRef>
          </c:cat>
          <c:val>
            <c:numRef>
              <c:f>Sheet1!$D$2:$D$5</c:f>
              <c:numCache>
                <c:formatCode>General</c:formatCode>
                <c:ptCount val="4"/>
                <c:pt idx="0">
                  <c:v>0.89507672634271107</c:v>
                </c:pt>
                <c:pt idx="1">
                  <c:v>0.9115149974822998</c:v>
                </c:pt>
                <c:pt idx="2">
                  <c:v>0.42389824986457825</c:v>
                </c:pt>
                <c:pt idx="3">
                  <c:v>0.92604748159646988</c:v>
                </c:pt>
              </c:numCache>
            </c:numRef>
          </c:val>
          <c:extLst>
            <c:ext xmlns:c16="http://schemas.microsoft.com/office/drawing/2014/chart" uri="{C3380CC4-5D6E-409C-BE32-E72D297353CC}">
              <c16:uniqueId val="{00000002-F606-4E4D-8607-95C46AE03745}"/>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0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Single-task model</c:v>
                </c:pt>
              </c:strCache>
            </c:strRef>
          </c:tx>
          <c:spPr>
            <a:solidFill>
              <a:srgbClr val="A7B1BB"/>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Diagnosis AUC</c:v>
                </c:pt>
                <c:pt idx="1">
                  <c:v>Kidney Dice</c:v>
                </c:pt>
                <c:pt idx="2">
                  <c:v>Lesion Dice
(lesion images)</c:v>
                </c:pt>
              </c:strCache>
            </c:strRef>
          </c:cat>
          <c:val>
            <c:numRef>
              <c:f>Sheet1!$B$2:$B$4</c:f>
              <c:numCache>
                <c:formatCode>General</c:formatCode>
                <c:ptCount val="3"/>
                <c:pt idx="0">
                  <c:v>0.84360613810741691</c:v>
                </c:pt>
                <c:pt idx="1">
                  <c:v>0.91615539789199829</c:v>
                </c:pt>
                <c:pt idx="2">
                  <c:v>0.4959779679775238</c:v>
                </c:pt>
              </c:numCache>
            </c:numRef>
          </c:val>
          <c:extLst>
            <c:ext xmlns:c16="http://schemas.microsoft.com/office/drawing/2014/chart" uri="{C3380CC4-5D6E-409C-BE32-E72D297353CC}">
              <c16:uniqueId val="{00000000-C23F-40AC-A004-F32BF6EBFC11}"/>
            </c:ext>
          </c:extLst>
        </c:ser>
        <c:ser>
          <c:idx val="1"/>
          <c:order val="1"/>
          <c:tx>
            <c:strRef>
              <c:f>Sheet1!$C$1</c:f>
              <c:strCache>
                <c:ptCount val="1"/>
                <c:pt idx="0">
                  <c:v>Multi-task model (Phase 5b)</c:v>
                </c:pt>
              </c:strCache>
            </c:strRef>
          </c:tx>
          <c:spPr>
            <a:solidFill>
              <a:srgbClr val="21295C"/>
            </a:solidFill>
            <a:effectLst/>
          </c:spPr>
          <c:invertIfNegative val="0"/>
          <c:dLbls>
            <c:numFmt formatCode="0.000" sourceLinked="0"/>
            <c:spPr>
              <a:noFill/>
              <a:ln>
                <a:noFill/>
              </a:ln>
              <a:effectLst/>
            </c:spPr>
            <c:txPr>
              <a:bodyPr/>
              <a:lstStyle/>
              <a:p>
                <a:pPr>
                  <a:defRPr sz="100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Diagnosis AUC</c:v>
                </c:pt>
                <c:pt idx="1">
                  <c:v>Kidney Dice</c:v>
                </c:pt>
                <c:pt idx="2">
                  <c:v>Lesion Dice
(lesion images)</c:v>
                </c:pt>
              </c:strCache>
            </c:strRef>
          </c:cat>
          <c:val>
            <c:numRef>
              <c:f>Sheet1!$C$2:$C$4</c:f>
              <c:numCache>
                <c:formatCode>General</c:formatCode>
                <c:ptCount val="3"/>
                <c:pt idx="0">
                  <c:v>0.90140664961636818</c:v>
                </c:pt>
                <c:pt idx="1">
                  <c:v>0.8954128623008728</c:v>
                </c:pt>
                <c:pt idx="2">
                  <c:v>0.4880979061126709</c:v>
                </c:pt>
              </c:numCache>
            </c:numRef>
          </c:val>
          <c:extLst>
            <c:ext xmlns:c16="http://schemas.microsoft.com/office/drawing/2014/chart" uri="{C3380CC4-5D6E-409C-BE32-E72D297353CC}">
              <c16:uniqueId val="{00000001-C23F-40AC-A004-F32BF6EBFC11}"/>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2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Phase 4</c:v>
                </c:pt>
              </c:strCache>
            </c:strRef>
          </c:tx>
          <c:spPr>
            <a:solidFill>
              <a:srgbClr val="A7B1BB"/>
            </a:solidFill>
            <a:effectLst/>
          </c:spPr>
          <c:invertIfNegative val="0"/>
          <c:dLbls>
            <c:numFmt formatCode="0.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 (9)</c:v>
                </c:pt>
                <c:pt idx="1">
                  <c:v>2 (97)</c:v>
                </c:pt>
                <c:pt idx="2">
                  <c:v>3 (10)</c:v>
                </c:pt>
                <c:pt idx="3">
                  <c:v>4 (21)</c:v>
                </c:pt>
                <c:pt idx="4">
                  <c:v>5 (4)</c:v>
                </c:pt>
                <c:pt idx="5">
                  <c:v>6 (2)</c:v>
                </c:pt>
                <c:pt idx="6">
                  <c:v>7 (65)</c:v>
                </c:pt>
                <c:pt idx="7">
                  <c:v>8 (22)</c:v>
                </c:pt>
                <c:pt idx="8">
                  <c:v>9 (11)</c:v>
                </c:pt>
              </c:strCache>
            </c:strRef>
          </c:cat>
          <c:val>
            <c:numRef>
              <c:f>Sheet1!$B$2:$B$10</c:f>
              <c:numCache>
                <c:formatCode>General</c:formatCode>
                <c:ptCount val="9"/>
                <c:pt idx="0">
                  <c:v>0.76201460976547486</c:v>
                </c:pt>
                <c:pt idx="1">
                  <c:v>0.800148740831923</c:v>
                </c:pt>
                <c:pt idx="2">
                  <c:v>0.91284722222222214</c:v>
                </c:pt>
                <c:pt idx="3">
                  <c:v>0.82826199071686435</c:v>
                </c:pt>
                <c:pt idx="4">
                  <c:v>0.62159863945578231</c:v>
                </c:pt>
                <c:pt idx="5">
                  <c:v>0.77871621621621634</c:v>
                </c:pt>
                <c:pt idx="6">
                  <c:v>0.94701221525255863</c:v>
                </c:pt>
                <c:pt idx="7">
                  <c:v>0.69277009222661401</c:v>
                </c:pt>
                <c:pt idx="8">
                  <c:v>0.59011719987329747</c:v>
                </c:pt>
              </c:numCache>
            </c:numRef>
          </c:val>
          <c:extLst>
            <c:ext xmlns:c16="http://schemas.microsoft.com/office/drawing/2014/chart" uri="{C3380CC4-5D6E-409C-BE32-E72D297353CC}">
              <c16:uniqueId val="{00000000-0E3B-4799-90EE-AE8B7EAF619C}"/>
            </c:ext>
          </c:extLst>
        </c:ser>
        <c:ser>
          <c:idx val="1"/>
          <c:order val="1"/>
          <c:tx>
            <c:strRef>
              <c:f>Sheet1!$C$1</c:f>
              <c:strCache>
                <c:ptCount val="1"/>
                <c:pt idx="0">
                  <c:v>Phase 5b</c:v>
                </c:pt>
              </c:strCache>
            </c:strRef>
          </c:tx>
          <c:spPr>
            <a:solidFill>
              <a:srgbClr val="21295C"/>
            </a:solidFill>
            <a:effectLst/>
          </c:spPr>
          <c:invertIfNegative val="0"/>
          <c:dLbls>
            <c:numFmt formatCode="0.00" sourceLinked="0"/>
            <c:spPr>
              <a:noFill/>
              <a:ln>
                <a:noFill/>
              </a:ln>
              <a:effectLst/>
            </c:spPr>
            <c:txPr>
              <a:bodyPr/>
              <a:lstStyle/>
              <a:p>
                <a:pPr>
                  <a:defRPr sz="850" b="0" i="0" u="none" strike="noStrike">
                    <a:solidFill>
                      <a:srgbClr val="1A223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1 (9)</c:v>
                </c:pt>
                <c:pt idx="1">
                  <c:v>2 (97)</c:v>
                </c:pt>
                <c:pt idx="2">
                  <c:v>3 (10)</c:v>
                </c:pt>
                <c:pt idx="3">
                  <c:v>4 (21)</c:v>
                </c:pt>
                <c:pt idx="4">
                  <c:v>5 (4)</c:v>
                </c:pt>
                <c:pt idx="5">
                  <c:v>6 (2)</c:v>
                </c:pt>
                <c:pt idx="6">
                  <c:v>7 (65)</c:v>
                </c:pt>
                <c:pt idx="7">
                  <c:v>8 (22)</c:v>
                </c:pt>
                <c:pt idx="8">
                  <c:v>9 (11)</c:v>
                </c:pt>
              </c:strCache>
            </c:strRef>
          </c:cat>
          <c:val>
            <c:numRef>
              <c:f>Sheet1!$C$2:$C$10</c:f>
              <c:numCache>
                <c:formatCode>General</c:formatCode>
                <c:ptCount val="9"/>
                <c:pt idx="0">
                  <c:v>0.74663590926566703</c:v>
                </c:pt>
                <c:pt idx="1">
                  <c:v>0.8202543981125302</c:v>
                </c:pt>
                <c:pt idx="2">
                  <c:v>0.85347222222222219</c:v>
                </c:pt>
                <c:pt idx="3">
                  <c:v>0.76379577101598761</c:v>
                </c:pt>
                <c:pt idx="4">
                  <c:v>0.59863945578231292</c:v>
                </c:pt>
                <c:pt idx="5">
                  <c:v>0.95777027027027017</c:v>
                </c:pt>
                <c:pt idx="6">
                  <c:v>0.91340376361835607</c:v>
                </c:pt>
                <c:pt idx="7">
                  <c:v>0.59527338603425561</c:v>
                </c:pt>
                <c:pt idx="8">
                  <c:v>0.42540386442825473</c:v>
                </c:pt>
              </c:numCache>
            </c:numRef>
          </c:val>
          <c:extLst>
            <c:ext xmlns:c16="http://schemas.microsoft.com/office/drawing/2014/chart" uri="{C3380CC4-5D6E-409C-BE32-E72D297353CC}">
              <c16:uniqueId val="{00000001-0E3B-4799-90EE-AE8B7EAF619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CE3E8"/>
            </a:solidFill>
            <a:prstDash val="solid"/>
            <a:round/>
          </a:ln>
        </c:spPr>
        <c:txPr>
          <a:bodyPr/>
          <a:lstStyle/>
          <a:p>
            <a:pPr>
              <a:defRPr sz="1150" b="0" i="0" u="none" strike="noStrike">
                <a:solidFill>
                  <a:srgbClr val="5B6B79"/>
                </a:solidFill>
                <a:latin typeface="Calibri"/>
              </a:defRPr>
            </a:pPr>
            <a:endParaRPr lang="en-US"/>
          </a:p>
        </c:txPr>
        <c:crossAx val="2094734552"/>
        <c:crosses val="autoZero"/>
        <c:auto val="1"/>
        <c:lblAlgn val="ctr"/>
        <c:lblOffset val="100"/>
        <c:noMultiLvlLbl val="1"/>
      </c:catAx>
      <c:valAx>
        <c:axId val="2094734552"/>
        <c:scaling>
          <c:orientation val="minMax"/>
          <c:max val="1"/>
          <c:min val="0.3"/>
        </c:scaling>
        <c:delete val="0"/>
        <c:axPos val="l"/>
        <c:majorGridlines>
          <c:spPr>
            <a:ln w="9525" cap="flat">
              <a:solidFill>
                <a:srgbClr val="DCE3E8"/>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5B6B79"/>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A2233"/>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6193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Good morning, everyone. I'm Anubhav Rawat, and I'm presenting with Kaustubh. Our project, guided by Sudharson S, is an optimization-based deep learning framework for detecting and segmenting kidney disease in ultrasound images.
At our last review we had finished five of our nine phases. Since then we have retrained every phase under matched conditions, completed the full metaheuristic optimization study, and run most of our ablation experiments. We'll show you all of it, including the results that did not go the way we expected, because those turned out to be some of our most useful findings.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Here's our plan. I'll cover the problem, the gaps in existing research, our dataset and methodology, and how we designed the optimization study. Kaustubh will then take you through the results, from the baseline phases to the optimizer study and ablations, and close with our findings, current status and next steps.
On the right is what has changed since the last review. The whole pipeline now runs on our own GPU and was verified against our earlier checkpoints. Every phase was retrained under identical settings. The optimizer study is complete, with 180 model trainings. And four of the five ablation runs are done.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Why kidney ultrasound? Chronic kidney disease affects roughly one in ten people worldwide, and ultrasound is the first imaging test for the kidney because it is cheap, radiation-free and widely available. Its weakness is that interpretation depends heavily on the operator, so diagnoses vary between clinicians.
A useful computer-aided system has to answer three questions from a single image: is this kidney abnormal, what kind of pathology is present, and where are the kidney and its lesions. Those three needs are exactly why we built one multi-task model instead of three separate ones.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Our reference point is URI-CADS, a public, peer-reviewed renal ultrasound benchmark, together with its published system. That system uses two heavy detection networks, a Mask R-CNN and a Faster R-CNN on a ResNet-50 backbone. It reports an AUC of 0.8741 for healthy versus pathological, and 0.8190 for multi-pathology, both using five-fold cross-validation.
Reading their methodology closely, we confirmed five gaps. Their task losses are simply added with equal weight. Preprocessing is never tuned. Lesions are annotated only as bounding boxes, with no pixel masks. Validation stays within their own dataset. And the cost of running two detection networks is not discussed. Each of our contributions targets one of these gaps.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These are our six contributions. First, instead of equal loss weights, we search for the weights. Second, we tune the image enhancement parameters jointly with those weights. Third, we compare three metaheuristics, the Coati, Whale and Grey Wolf optimizers, under an equal budget. Fourth, an anatomical constraint that keeps lesion predictions inside the kidney. Fifth, a lightweight single-encoder design. And sixth, validation beyond a single split.
The status labels are honest: the first five are implemented and evaluated, and the validation work is scripted but still to run.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dataset contains 1,985 ultrasound images: 450 healthy and 1,535 pathological. It is imbalanced toward disease, which is why our splits are stratified by diagnosis.
Every image has a pixel-level kidney mask, shown here as the teal outline. Lesions are annotated as bounding boxes, shown in orange, across nine local pathology categories. We split the data 70, 15 and 15 percent into 1,389 training, 298 validation and 298 test images, with a fixed seed, so every phase sees exactly the same data.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Two properties of the labels shape everything that follows. On the left, 662 images, about a third of the dataset, contain no lesion at all. Keep that in mind, because it becomes important when we evaluate lesion segmentation.
On the right, the lesion categories are very unbalanced. Categories 2 and 7 account for 68.2% of all 2,478 lesion boxes, while categories 5 and 6 have only 34 and 11. So results for the rare categories will be noisy, and we treat them with caution.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This is the whole pipeline. An image is resized to 512 by 512 pixels and passed through an enhancement stage: contrast-limited adaptive histogram equalization, or CLAHE, then denoising, then gamma correction. A single ResNet-34 encoder extracts features, and all five task heads read that same feature map. Their losses are combined into one weighted multi-task loss.
The bottom row is what makes the framework optimization-driven. A metaheuristic optimizer proposes the enhancement parameters and the six loss weights, a model is trained with them, and its validation performance is fed back to the optimizer as a fitness score.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Here are the five heads in detail. Three are classifiers trained with binary cross-entropy: the diagnosis head, the head for the two global pathologies, and the head for the nine local pathology categories. Two are segmentation decoders trained with Dice loss: one for the kidney, and one for lesions, where the target is the union of the annotated lesion boxes. On top of those sits the anatomical consistency term.
We deliberately avoided Mask R-CNN and U-Net. The whole network has 24.4 million parameters and trained in 0.81 gigabytes of GPU memory. That is the evidence behind our lightweight claim.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training objective is a weighted sum of six losses. Through Phases 2 to 5 every weight is 1, which mirrors the URI-CADS design and gives us a fair baseline. In Phase 6, each weight is searched between 0.1 and 5.
The right side needs a little care, because it became one of our key findings. Our first consistency loss penalized the absolute amount of lesion probability lying outside the kidney. But the quantity we report is the fraction of lesion probability outside the kidney. The absolute version can be lowered just by predicting less lesion everywhere, which leaves that fraction unchanged. The corrected ratio version can only be lowered by moving predictions inside the kidney. Kaustubh will show you what that difference did in practice.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This slide shows the enhancement stage on two test images. The middle column uses the hand-picked settings from Phase 3, and the right column uses the settings the Coati optimizer found.
There are four parameters. The CLAHE clip limit caps how much local contrast is amplified. The tile grid sets the size of the neighbourhood that contrast is computed over. The denoising strength controls non-local-means filtering. And gamma reshapes the brightness curve. Non-local-means denoising costs about 0.6 seconds per image, so for each configuration we compute the enhanced images once, across 12 CPU workers, and reuse them for every epoch.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optimizer searches ten parameters at once: six loss weights and four enhancement settings. Every candidate is scored with one fitness value on the validation set: 30 percent diagnosis AUC, 15 percent local pathology AUC, 25 percent each for kidney and lesion Dice, and 5 percent for anatomical consistency. We use lesion Dice on lesion-bearing images only, for a reason Kaustubh will explain shortly.
Every candidate means training a model, so we scored each one after 3 epochs at 256 by 256 pixels, which takes about two minutes. To keep the comparison fair, each optimizer received exactly 60 trainings, and all three started from the same six random candidates. Every evaluation was also cached, so an interrupted run could resume without repeating work.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The three optimizers search in different ways. The Coati algorithm splits its population: half moves toward the best solution and half toward a random point, and then it runs a local search whose radius shrinks every iteration. The Whale algorithm encircles the best solution and uses a spiral update. The Grey Wolf optimizer moves every candidate toward the three best solutions found so far.
Before trusting them on the real problem, we checked all three on two standard test functions, with 1,000 evaluations each. Grey Wolf was best on the smooth sphere function, and Coati was best on Rastrigin, which is full of local optima. With that, I'll hand over to Kaustubh for the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Thank you, Anubhav. Before we show any results, a word on how trustworthy they are. Every phase uses the same data split, the same seed, 15 epochs, the same batch size and learning rate, on the same GPU. We also moved the whole pipeline from Colab to local hardware, so the first thing we did was re-evaluate our earlier checkpoints with the new code. As the table shows, every metric reproduces within 0.0024.
A quick note on the metrics we'll use. AUC measures how well the model ranks cases, where 0.5 is chance. Dice measures overlap with the ground truth, where 1 is perfect. And the violation rate is the share of predicted lesion probability that falls outside the kidney, so lower is better.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Phases 2 and 3 compare the baseline with hand-picked enhancement. At our last review this comparison was confounded, because Phase 3 had trained for 10 epochs against Phase 2's 15. We reran it at 15 epochs. Note that the vertical axis starts at 0.70, so the differences are visible.
Enhancement raised kidney Dice by only 0.003, while diagnosis AUC fell by 0.011 and global pathology AUC by 0.024. So hand-picked enhancement is roughly neutral. That is a useful negative result, because it is exactly the motivation for optimizing the enhancement parameters rather than guessing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This finding changed how we evaluate lesions. Our earlier lesion Dice was about 0.34, which looked weak. But a third of the test images contain no lesion, and on those images a correct empty prediction scores almost 1.
To measure the effect, we evaluated a model with no lesion head at all, which predicts nothing anywhere. It scores 0.319, barely below our Phase 4 model's 0.344. Restricting to the 203 test images that actually contain a lesion separates them clearly: zero for the empty model, and 0.506 for ours. So the lesion decoder was working all along; the metric was hiding it. We now report both numbers, and the optimizer only ever sees the second 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Here is what the change in formulation that Anubhav described actually did. Without any constraint, 23.3% of predicted lesion probability fell outside the kidney. Adding the original absolute-mass loss made it worse, 28.2%, the opposite of its purpose, and our earlier checkpoints showed the same thing.
The corrected ratio loss cut it to 5.4%, a 77 percent reduction, while giving the best diagnosis AUC of any model, 0.9014. The cost is small: lesion Dice on lesion-bearing images went from 0.506 to 0.488, which is expected when annotated lesion boxes extend slightly past the kidney outline.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These curves show the effect is systematic across training rather than a lucky final epoch. On the left is the validation violation rate at every epoch. The original absolute form, in orange, spikes to about 0.70 at epoch 4 and only recovers to the unconstrained level by the end. The ratio form, in navy, holds around 0.25 for the first eight epochs and then falls steadily, reaching 0.058 at epoch 15, and it is still falling, which suggests longer training could reduce it further.
On the right, lesion Dice on lesion-bearing images climbs along a similar path for all three models, which fits the small cost we saw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This table brings all six configurations together on the same 298 test images, with the best value in each column in bold green. The corrected anatomical model, Phase 5b, has the lowest violation rate, and its diagnosis AUC of 0.9014 is effectively tied with the baseline's 0.9013. Phase 4 gives the best lesion Dice on lesion-bearing images, and the COA-optimized model gives the best kidney Dice.
One important caveat. URI-CADS reports 0.8741 AUC under five-fold cross-validation, while these numbers come from a single split. Our 0.90 looks stronger, but the like-for-like comparison is Phase 8, which is next on our list.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Now the optimizer study: 180 model trainings in 5.6 hours of GPU time. Each line tracks the best fitness found so far against the number of trainings used. All three reach 0.592 within their first six trainings, because they share the same starting candidates.
Grey Wolf improved first, reaching 0.601 by its 18th training, and then stopped improving. Coati took longer but found the best configuration overall, 0.608, at its 36th training. Whale stalled for 27 trainings and finished at 0.598. None of the three improved in its last eight trainings. The budget was capped on trainings rather than iterations, so this is a fair head-to-head. Without that cap, Coati would have used about two and a half times as many trainings as the others. One honest note: the best search result is only about 0.016 above the best of the six random starting candidates.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What did the optimizers choose? All three raised the local pathology and kidney segmentation weights well above the baseline value of 1. Coati and Whale cut the diagnosis and global pathology weights to near the minimum of 0.1, while Grey Wolf kept diagnosis high, at 2.9.
For enhancement, all three chose a gamma below 1 and a larger CLAHE tile grid than our hand-picked settings, and Coati and Whale almost switched denoising off. When three different algorithms converge on similar enhancement settings, that suggests those settings reflect a real signal rather than noise.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The most important question is whether the optimized configuration holds up after full training. We retrained Coati's winner for 15 epochs at full resolution. Kidney Dice improved, from 0.895 to 0.908. But diagnosis AUC fell from 0.901 to 0.875, and lesion Dice on lesion-bearing images fell from 0.488 to 0.418. Keeping Coati's weights but removing enhancement shows the same lesion drop, so the weights are driving it, not the enhancement.
Our explanation is that the search judged candidates after only 3 epochs, when segmentation improves fastest, so it learned to starve the classification heads. We report this as it is, because it tells us precisely how to fix the search.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The single-task ablation asks whether sharing one encoder actually helps. Each single-task model was trained with exactly one loss term active, under identical conditions. For diagnosis the answer is clearly yes: trained alone it reaches 0.844 AUC, and in the multi-task model 0.901.
For segmentation, not really. The kidney-only model reaches 0.916 Dice against 0.895, and the lesion-only model 0.496 against 0.488. So the multi-task design mainly strengthens classification, and one network replaces three at a small segmentation cost. These are single runs, so the small segmentation gaps still need to be confirmed with cross-validation.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Breaking local pathology down by category shows where the model is reliable, and where the numbers cannot be trusted. The two most common categories, 2 and 7, with 97 and 65 test images, reach AUCs of about 0.80 to 0.95. Categories 8 and 9 are the weakest, with category 9 near or below chance.
The counts under each category label matter. Categories 5 and 6 have only 4 and 2 test images, so their very high AUCs are not meaningful. For the paper, we will report per-category results with these counts shown, rather than relying on the mean alone.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Pulling this together, five findings. First, the anatomical constraint works, but only in its ratio form. Second, the standard lesion Dice was misleading, and we now report a version that is not. Third, hand-picked enhancement is essentially neutral once training budgets are matched.
Fourth, Coati wins the optimizer study at an equal budget, but its configuration does not beat the equal-weight model after full training. And fifth, multi-task sharing mainly benefits classification. The bottom line is that careful formulation and fair evaluation have mattered more so far than the choice of optimizer.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A few lessons from getting here. Fair comparisons need matched budgets: epochs across phases, and model trainings, not iterations, across optimizers. Metrics and losses can quietly reward the wrong behaviour, as both the lesion Dice and consistency findings showed.
The cost of the search forces a trade-off with fidelity, and a cheap proxy can mis-rank configurations. And on a 4-gigabyte laptop GPU, engineering mattered: caching the enhanced images and loading data in parallel roughly halved our epoch time.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In terms of status, six of our nine phases are complete. Phase 7 is in progress, with four of its five ablation runs done. Phase 8, which is cross-validation and external validation, is fully scripted and ready to run. And Phase 9 is the write-up.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Kaustubh:
Our next steps, in order. First, finish the last ablation, which isolates the contribution of enhancement on its own. Second, run five-fold cross-validation for both the optimized and equal-weight configurations; that gives the like-for-like comparison with URI-CADS and error bars on every number.
Third, retrain the Whale and Grey Wolf winners at full fidelity, to test directly whether our search ranks configurations correctly. Fourth, rerun the optimizer study with longer evaluations and a fitness that prevents any task from regressing. And finally, external validation and the paper. I'll hand back to Anubhav to conclude.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Anubhav Rawat:
To conclude. One lightweight network gives strong diagnosis, accurate kidney segmentation and real lesion localization. A correctly formulated anatomical constraint cuts out-of-kidney lesion predictions by 77 percent without hurting diagnosis. The optimizer study is complete and fair, and it showed us that the search setup matters as much as the algorithm. And the remaining work is already scripted and ready to run.
Thank you. We're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3" name="Text 0"/>
          <p:cNvSpPr txBox="1"/>
          <p:nvPr/>
        </p:nvSpPr>
        <p:spPr>
          <a:xfrm>
            <a:off x="731520" y="731520"/>
            <a:ext cx="7315200" cy="320040"/>
          </a:xfrm>
          <a:prstGeom prst="rect">
            <a:avLst/>
          </a:prstGeom>
          <a:noFill/>
          <a:ln/>
        </p:spPr>
        <p:txBody>
          <a:bodyPr wrap="square" lIns="0" tIns="0" rIns="0" bIns="0" rtlCol="0" anchor="t"/>
          <a:lstStyle/>
          <a:p>
            <a:pPr marL="0" indent="0">
              <a:buNone/>
            </a:pPr>
            <a:r>
              <a:rPr lang="en-US" sz="1300" b="1" kern="0" spc="300" dirty="0">
                <a:solidFill>
                  <a:srgbClr val="CADCFC"/>
                </a:solidFill>
                <a:latin typeface="Calibri" pitchFamily="34" charset="0"/>
                <a:ea typeface="Calibri" pitchFamily="34" charset="-122"/>
                <a:cs typeface="Calibri" pitchFamily="34" charset="-120"/>
              </a:rPr>
              <a:t>PROJECT REVIEW</a:t>
            </a:r>
            <a:endParaRPr lang="en-US" sz="1300" dirty="0"/>
          </a:p>
        </p:txBody>
      </p:sp>
      <p:sp>
        <p:nvSpPr>
          <p:cNvPr id="4" name="Text 1"/>
          <p:cNvSpPr txBox="1"/>
          <p:nvPr/>
        </p:nvSpPr>
        <p:spPr>
          <a:xfrm>
            <a:off x="731520" y="1188720"/>
            <a:ext cx="10698480" cy="201168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Optimization-Based Deep Learning Framework for Kidney Disease Detection and Segmentation from Ultrasound Images</a:t>
            </a:r>
            <a:endParaRPr lang="en-US" sz="3800" dirty="0"/>
          </a:p>
        </p:txBody>
      </p:sp>
      <p:sp>
        <p:nvSpPr>
          <p:cNvPr id="5" name="Text 2"/>
          <p:cNvSpPr txBox="1"/>
          <p:nvPr/>
        </p:nvSpPr>
        <p:spPr>
          <a:xfrm>
            <a:off x="731520" y="3246120"/>
            <a:ext cx="10241280" cy="73152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Multi-task learning, an anatomical consistency constraint and metaheuristic optimization on the URI-CADS benchmark</a:t>
            </a:r>
            <a:endParaRPr lang="en-US" sz="1800" dirty="0"/>
          </a:p>
        </p:txBody>
      </p:sp>
      <p:sp>
        <p:nvSpPr>
          <p:cNvPr id="6" name="Text 3"/>
          <p:cNvSpPr txBox="1"/>
          <p:nvPr/>
        </p:nvSpPr>
        <p:spPr>
          <a:xfrm>
            <a:off x="731520" y="4892040"/>
            <a:ext cx="347472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PRESENTED BY</a:t>
            </a:r>
            <a:endParaRPr lang="en-US" sz="1100" dirty="0"/>
          </a:p>
        </p:txBody>
      </p:sp>
      <p:sp>
        <p:nvSpPr>
          <p:cNvPr id="7" name="Text 4"/>
          <p:cNvSpPr txBox="1"/>
          <p:nvPr/>
        </p:nvSpPr>
        <p:spPr>
          <a:xfrm>
            <a:off x="731520" y="5212080"/>
            <a:ext cx="3840480" cy="8229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Anubhav Rawat (23BCE1471)</a:t>
            </a:r>
            <a:endParaRPr lang="en-US" sz="1600" dirty="0"/>
          </a:p>
          <a:p>
            <a:pPr marL="0" indent="0">
              <a:buNone/>
            </a:pPr>
            <a:r>
              <a:rPr lang="en-US" sz="1600" dirty="0">
                <a:solidFill>
                  <a:srgbClr val="FFFFFF"/>
                </a:solidFill>
                <a:latin typeface="Calibri" pitchFamily="34" charset="0"/>
                <a:ea typeface="Calibri" pitchFamily="34" charset="-122"/>
                <a:cs typeface="Calibri" pitchFamily="34" charset="-120"/>
              </a:rPr>
              <a:t>Kaustubh (23BCE1555)</a:t>
            </a:r>
            <a:endParaRPr lang="en-US" sz="1600" dirty="0"/>
          </a:p>
        </p:txBody>
      </p:sp>
      <p:sp>
        <p:nvSpPr>
          <p:cNvPr id="8" name="Text 5"/>
          <p:cNvSpPr txBox="1"/>
          <p:nvPr/>
        </p:nvSpPr>
        <p:spPr>
          <a:xfrm>
            <a:off x="5120640" y="4892040"/>
            <a:ext cx="347472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GUIDE</a:t>
            </a:r>
            <a:endParaRPr lang="en-US" sz="1100" dirty="0"/>
          </a:p>
        </p:txBody>
      </p:sp>
      <p:sp>
        <p:nvSpPr>
          <p:cNvPr id="9" name="Text 6"/>
          <p:cNvSpPr txBox="1"/>
          <p:nvPr/>
        </p:nvSpPr>
        <p:spPr>
          <a:xfrm>
            <a:off x="5120640" y="5212080"/>
            <a:ext cx="3840480" cy="8229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Sudharson S</a:t>
            </a:r>
            <a:endParaRPr lang="en-US" sz="1600" dirty="0"/>
          </a:p>
        </p:txBody>
      </p:sp>
      <p:sp>
        <p:nvSpPr>
          <p:cNvPr id="10" name="Text 7"/>
          <p:cNvSpPr txBox="1"/>
          <p:nvPr/>
        </p:nvSpPr>
        <p:spPr>
          <a:xfrm>
            <a:off x="8229600" y="4892040"/>
            <a:ext cx="347472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DATE</a:t>
            </a:r>
            <a:endParaRPr lang="en-US" sz="1100" dirty="0"/>
          </a:p>
        </p:txBody>
      </p:sp>
      <p:sp>
        <p:nvSpPr>
          <p:cNvPr id="11" name="Text 8"/>
          <p:cNvSpPr txBox="1"/>
          <p:nvPr/>
        </p:nvSpPr>
        <p:spPr>
          <a:xfrm>
            <a:off x="8229600" y="5212080"/>
            <a:ext cx="3840480" cy="82296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16 September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What We Will Cover</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965960"/>
            <a:ext cx="420624" cy="420624"/>
          </a:xfrm>
          <a:prstGeom prst="roundRect">
            <a:avLst>
              <a:gd name="adj" fmla="val 17391"/>
            </a:avLst>
          </a:prstGeom>
          <a:solidFill>
            <a:srgbClr val="21295C"/>
          </a:solidFill>
          <a:ln/>
        </p:spPr>
      </p:sp>
      <p:sp>
        <p:nvSpPr>
          <p:cNvPr id="8" name="Text 5"/>
          <p:cNvSpPr txBox="1"/>
          <p:nvPr/>
        </p:nvSpPr>
        <p:spPr>
          <a:xfrm>
            <a:off x="548640" y="19659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9" name="Text 6"/>
          <p:cNvSpPr txBox="1"/>
          <p:nvPr/>
        </p:nvSpPr>
        <p:spPr>
          <a:xfrm>
            <a:off x="1143000" y="2002536"/>
            <a:ext cx="4297680" cy="365760"/>
          </a:xfrm>
          <a:prstGeom prst="rect">
            <a:avLst/>
          </a:prstGeom>
          <a:noFill/>
          <a:ln/>
        </p:spPr>
        <p:txBody>
          <a:bodyPr wrap="square" lIns="0" tIns="0" rIns="0" bIns="0" rtlCol="0" anchor="ctr"/>
          <a:lstStyle/>
          <a:p>
            <a:pPr marL="0" indent="0">
              <a:buNone/>
            </a:pPr>
            <a:r>
              <a:rPr lang="en-US" sz="1700" b="1" dirty="0">
                <a:solidFill>
                  <a:srgbClr val="1A2233"/>
                </a:solidFill>
                <a:latin typeface="Calibri" pitchFamily="34" charset="0"/>
                <a:ea typeface="Calibri" pitchFamily="34" charset="-122"/>
                <a:cs typeface="Calibri" pitchFamily="34" charset="-120"/>
              </a:rPr>
              <a:t>Problem and research gaps</a:t>
            </a:r>
            <a:endParaRPr lang="en-US" sz="1700" dirty="0"/>
          </a:p>
        </p:txBody>
      </p:sp>
      <p:sp>
        <p:nvSpPr>
          <p:cNvPr id="11" name="Shape 8"/>
          <p:cNvSpPr/>
          <p:nvPr/>
        </p:nvSpPr>
        <p:spPr>
          <a:xfrm>
            <a:off x="548640" y="2651760"/>
            <a:ext cx="420624" cy="420624"/>
          </a:xfrm>
          <a:prstGeom prst="roundRect">
            <a:avLst>
              <a:gd name="adj" fmla="val 17391"/>
            </a:avLst>
          </a:prstGeom>
          <a:solidFill>
            <a:srgbClr val="21295C"/>
          </a:solidFill>
          <a:ln/>
        </p:spPr>
      </p:sp>
      <p:sp>
        <p:nvSpPr>
          <p:cNvPr id="12" name="Text 9"/>
          <p:cNvSpPr txBox="1"/>
          <p:nvPr/>
        </p:nvSpPr>
        <p:spPr>
          <a:xfrm>
            <a:off x="548640" y="26517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3" name="Text 10"/>
          <p:cNvSpPr txBox="1"/>
          <p:nvPr/>
        </p:nvSpPr>
        <p:spPr>
          <a:xfrm>
            <a:off x="1143000" y="2688336"/>
            <a:ext cx="4297680" cy="365760"/>
          </a:xfrm>
          <a:prstGeom prst="rect">
            <a:avLst/>
          </a:prstGeom>
          <a:noFill/>
          <a:ln/>
        </p:spPr>
        <p:txBody>
          <a:bodyPr wrap="square" lIns="0" tIns="0" rIns="0" bIns="0" rtlCol="0" anchor="ctr"/>
          <a:lstStyle/>
          <a:p>
            <a:pPr marL="0" indent="0">
              <a:buNone/>
            </a:pPr>
            <a:r>
              <a:rPr lang="en-US" sz="1700" b="1" dirty="0">
                <a:solidFill>
                  <a:srgbClr val="1A2233"/>
                </a:solidFill>
                <a:latin typeface="Calibri" pitchFamily="34" charset="0"/>
                <a:ea typeface="Calibri" pitchFamily="34" charset="-122"/>
                <a:cs typeface="Calibri" pitchFamily="34" charset="-120"/>
              </a:rPr>
              <a:t>Dataset and methodology</a:t>
            </a:r>
            <a:endParaRPr lang="en-US" sz="1700" dirty="0"/>
          </a:p>
        </p:txBody>
      </p:sp>
      <p:sp>
        <p:nvSpPr>
          <p:cNvPr id="15" name="Shape 12"/>
          <p:cNvSpPr/>
          <p:nvPr/>
        </p:nvSpPr>
        <p:spPr>
          <a:xfrm>
            <a:off x="548640" y="3337560"/>
            <a:ext cx="420624" cy="420624"/>
          </a:xfrm>
          <a:prstGeom prst="roundRect">
            <a:avLst>
              <a:gd name="adj" fmla="val 17391"/>
            </a:avLst>
          </a:prstGeom>
          <a:solidFill>
            <a:srgbClr val="21295C"/>
          </a:solidFill>
          <a:ln/>
        </p:spPr>
      </p:sp>
      <p:sp>
        <p:nvSpPr>
          <p:cNvPr id="16" name="Text 13"/>
          <p:cNvSpPr txBox="1"/>
          <p:nvPr/>
        </p:nvSpPr>
        <p:spPr>
          <a:xfrm>
            <a:off x="548640" y="3337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4"/>
          <p:cNvSpPr txBox="1"/>
          <p:nvPr/>
        </p:nvSpPr>
        <p:spPr>
          <a:xfrm>
            <a:off x="1143000" y="3374136"/>
            <a:ext cx="4297680" cy="365760"/>
          </a:xfrm>
          <a:prstGeom prst="rect">
            <a:avLst/>
          </a:prstGeom>
          <a:noFill/>
          <a:ln/>
        </p:spPr>
        <p:txBody>
          <a:bodyPr wrap="square" lIns="0" tIns="0" rIns="0" bIns="0" rtlCol="0" anchor="ctr"/>
          <a:lstStyle/>
          <a:p>
            <a:pPr marL="0" indent="0">
              <a:buNone/>
            </a:pPr>
            <a:r>
              <a:rPr lang="en-US" sz="1700" b="1" dirty="0">
                <a:solidFill>
                  <a:srgbClr val="1A2233"/>
                </a:solidFill>
                <a:latin typeface="Calibri" pitchFamily="34" charset="0"/>
                <a:ea typeface="Calibri" pitchFamily="34" charset="-122"/>
                <a:cs typeface="Calibri" pitchFamily="34" charset="-120"/>
              </a:rPr>
              <a:t>Optimization design</a:t>
            </a:r>
            <a:endParaRPr lang="en-US" sz="1700" dirty="0"/>
          </a:p>
        </p:txBody>
      </p:sp>
      <p:sp>
        <p:nvSpPr>
          <p:cNvPr id="19" name="Shape 16"/>
          <p:cNvSpPr/>
          <p:nvPr/>
        </p:nvSpPr>
        <p:spPr>
          <a:xfrm>
            <a:off x="548640" y="4023360"/>
            <a:ext cx="420624" cy="420624"/>
          </a:xfrm>
          <a:prstGeom prst="roundRect">
            <a:avLst>
              <a:gd name="adj" fmla="val 17391"/>
            </a:avLst>
          </a:prstGeom>
          <a:solidFill>
            <a:srgbClr val="21295C"/>
          </a:solidFill>
          <a:ln/>
        </p:spPr>
      </p:sp>
      <p:sp>
        <p:nvSpPr>
          <p:cNvPr id="20" name="Text 17"/>
          <p:cNvSpPr txBox="1"/>
          <p:nvPr/>
        </p:nvSpPr>
        <p:spPr>
          <a:xfrm>
            <a:off x="548640" y="40233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1" name="Text 18"/>
          <p:cNvSpPr txBox="1"/>
          <p:nvPr/>
        </p:nvSpPr>
        <p:spPr>
          <a:xfrm>
            <a:off x="1143000" y="4059936"/>
            <a:ext cx="4297680" cy="365760"/>
          </a:xfrm>
          <a:prstGeom prst="rect">
            <a:avLst/>
          </a:prstGeom>
          <a:noFill/>
          <a:ln/>
        </p:spPr>
        <p:txBody>
          <a:bodyPr wrap="square" lIns="0" tIns="0" rIns="0" bIns="0" rtlCol="0" anchor="ctr"/>
          <a:lstStyle/>
          <a:p>
            <a:pPr marL="0" indent="0">
              <a:buNone/>
            </a:pPr>
            <a:r>
              <a:rPr lang="en-US" sz="1700" b="1" dirty="0">
                <a:solidFill>
                  <a:srgbClr val="1A2233"/>
                </a:solidFill>
                <a:latin typeface="Calibri" pitchFamily="34" charset="0"/>
                <a:ea typeface="Calibri" pitchFamily="34" charset="-122"/>
                <a:cs typeface="Calibri" pitchFamily="34" charset="-120"/>
              </a:rPr>
              <a:t>Results: Phases 2 to 5</a:t>
            </a:r>
            <a:endParaRPr lang="en-US" sz="1700" dirty="0"/>
          </a:p>
        </p:txBody>
      </p:sp>
      <p:sp>
        <p:nvSpPr>
          <p:cNvPr id="23" name="Shape 20"/>
          <p:cNvSpPr/>
          <p:nvPr/>
        </p:nvSpPr>
        <p:spPr>
          <a:xfrm>
            <a:off x="548640" y="4709160"/>
            <a:ext cx="420624" cy="420624"/>
          </a:xfrm>
          <a:prstGeom prst="roundRect">
            <a:avLst>
              <a:gd name="adj" fmla="val 17391"/>
            </a:avLst>
          </a:prstGeom>
          <a:solidFill>
            <a:srgbClr val="21295C"/>
          </a:solidFill>
          <a:ln/>
        </p:spPr>
      </p:sp>
      <p:sp>
        <p:nvSpPr>
          <p:cNvPr id="24" name="Text 21"/>
          <p:cNvSpPr txBox="1"/>
          <p:nvPr/>
        </p:nvSpPr>
        <p:spPr>
          <a:xfrm>
            <a:off x="548640" y="47091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5" name="Text 22"/>
          <p:cNvSpPr txBox="1"/>
          <p:nvPr/>
        </p:nvSpPr>
        <p:spPr>
          <a:xfrm>
            <a:off x="1143000" y="4745736"/>
            <a:ext cx="4297680" cy="365760"/>
          </a:xfrm>
          <a:prstGeom prst="rect">
            <a:avLst/>
          </a:prstGeom>
          <a:noFill/>
          <a:ln/>
        </p:spPr>
        <p:txBody>
          <a:bodyPr wrap="square" lIns="0" tIns="0" rIns="0" bIns="0" rtlCol="0" anchor="ctr"/>
          <a:lstStyle/>
          <a:p>
            <a:pPr marL="0" indent="0">
              <a:buNone/>
            </a:pPr>
            <a:r>
              <a:rPr lang="en-US" sz="1700" b="1" dirty="0">
                <a:solidFill>
                  <a:srgbClr val="1A2233"/>
                </a:solidFill>
                <a:latin typeface="Calibri" pitchFamily="34" charset="0"/>
                <a:ea typeface="Calibri" pitchFamily="34" charset="-122"/>
                <a:cs typeface="Calibri" pitchFamily="34" charset="-120"/>
              </a:rPr>
              <a:t>Results: optimization and ablations</a:t>
            </a:r>
            <a:endParaRPr lang="en-US" sz="1700" dirty="0"/>
          </a:p>
        </p:txBody>
      </p:sp>
      <p:sp>
        <p:nvSpPr>
          <p:cNvPr id="27" name="Shape 24"/>
          <p:cNvSpPr/>
          <p:nvPr/>
        </p:nvSpPr>
        <p:spPr>
          <a:xfrm>
            <a:off x="548640" y="5394960"/>
            <a:ext cx="420624" cy="420624"/>
          </a:xfrm>
          <a:prstGeom prst="roundRect">
            <a:avLst>
              <a:gd name="adj" fmla="val 17391"/>
            </a:avLst>
          </a:prstGeom>
          <a:solidFill>
            <a:srgbClr val="21295C"/>
          </a:solidFill>
          <a:ln/>
        </p:spPr>
      </p:sp>
      <p:sp>
        <p:nvSpPr>
          <p:cNvPr id="28" name="Text 25"/>
          <p:cNvSpPr txBox="1"/>
          <p:nvPr/>
        </p:nvSpPr>
        <p:spPr>
          <a:xfrm>
            <a:off x="548640" y="53949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29" name="Text 26"/>
          <p:cNvSpPr txBox="1"/>
          <p:nvPr/>
        </p:nvSpPr>
        <p:spPr>
          <a:xfrm>
            <a:off x="1143000" y="5431536"/>
            <a:ext cx="4297680" cy="365760"/>
          </a:xfrm>
          <a:prstGeom prst="rect">
            <a:avLst/>
          </a:prstGeom>
          <a:noFill/>
          <a:ln/>
        </p:spPr>
        <p:txBody>
          <a:bodyPr wrap="square" lIns="0" tIns="0" rIns="0" bIns="0" rtlCol="0" anchor="ctr"/>
          <a:lstStyle/>
          <a:p>
            <a:pPr marL="0" indent="0">
              <a:buNone/>
            </a:pPr>
            <a:r>
              <a:rPr lang="en-US" sz="1700" b="1" dirty="0">
                <a:solidFill>
                  <a:srgbClr val="1A2233"/>
                </a:solidFill>
                <a:latin typeface="Calibri" pitchFamily="34" charset="0"/>
                <a:ea typeface="Calibri" pitchFamily="34" charset="-122"/>
                <a:cs typeface="Calibri" pitchFamily="34" charset="-120"/>
              </a:rPr>
              <a:t>Findings, status and next steps</a:t>
            </a:r>
            <a:endParaRPr lang="en-US" sz="1700" dirty="0"/>
          </a:p>
        </p:txBody>
      </p:sp>
      <p:sp>
        <p:nvSpPr>
          <p:cNvPr id="31" name="Shape 28"/>
          <p:cNvSpPr/>
          <p:nvPr/>
        </p:nvSpPr>
        <p:spPr>
          <a:xfrm>
            <a:off x="7269480" y="1920240"/>
            <a:ext cx="4370832" cy="4069080"/>
          </a:xfrm>
          <a:prstGeom prst="roundRect">
            <a:avLst>
              <a:gd name="adj" fmla="val 1348"/>
            </a:avLst>
          </a:prstGeom>
          <a:solidFill>
            <a:srgbClr val="F3F6F9"/>
          </a:solidFill>
          <a:ln w="9525">
            <a:solidFill>
              <a:srgbClr val="DCE3E8"/>
            </a:solidFill>
            <a:prstDash val="solid"/>
          </a:ln>
        </p:spPr>
      </p:sp>
      <p:sp>
        <p:nvSpPr>
          <p:cNvPr id="32" name="Text 29"/>
          <p:cNvSpPr txBox="1"/>
          <p:nvPr/>
        </p:nvSpPr>
        <p:spPr>
          <a:xfrm>
            <a:off x="7543800" y="2148840"/>
            <a:ext cx="384048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Progress since the last review</a:t>
            </a:r>
            <a:endParaRPr lang="en-US" sz="1600" dirty="0"/>
          </a:p>
        </p:txBody>
      </p:sp>
      <p:sp>
        <p:nvSpPr>
          <p:cNvPr id="33" name="Text 30"/>
          <p:cNvSpPr txBox="1"/>
          <p:nvPr/>
        </p:nvSpPr>
        <p:spPr>
          <a:xfrm>
            <a:off x="7543800" y="2606040"/>
            <a:ext cx="3886200" cy="32461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A2233"/>
                </a:solidFill>
                <a:latin typeface="Calibri" pitchFamily="34" charset="0"/>
                <a:ea typeface="Calibri" pitchFamily="34" charset="-122"/>
                <a:cs typeface="Calibri" pitchFamily="34" charset="-120"/>
              </a:rPr>
              <a:t>Pipeline reimplemented on a local GPU and verified against earlier checkpoints (within 0.0024)</a:t>
            </a:r>
            <a:endParaRPr lang="en-US" sz="1400" dirty="0"/>
          </a:p>
          <a:p>
            <a:pPr marL="177800" indent="-177800">
              <a:spcAft>
                <a:spcPts val="900"/>
              </a:spcAft>
              <a:buSzPct val="100000"/>
              <a:buChar char="•"/>
            </a:pPr>
            <a:r>
              <a:rPr lang="en-US" sz="1350" dirty="0">
                <a:solidFill>
                  <a:srgbClr val="1A2233"/>
                </a:solidFill>
                <a:latin typeface="Calibri" pitchFamily="34" charset="0"/>
                <a:ea typeface="Calibri" pitchFamily="34" charset="-122"/>
                <a:cs typeface="Calibri" pitchFamily="34" charset="-120"/>
              </a:rPr>
              <a:t>All phases retrained under identical settings: same split, seed and 15 epochs</a:t>
            </a:r>
            <a:endParaRPr lang="en-US" sz="1400" dirty="0"/>
          </a:p>
          <a:p>
            <a:pPr marL="177800" indent="-177800">
              <a:spcAft>
                <a:spcPts val="900"/>
              </a:spcAft>
              <a:buSzPct val="100000"/>
              <a:buChar char="•"/>
            </a:pPr>
            <a:r>
              <a:rPr lang="en-US" sz="1350" dirty="0">
                <a:solidFill>
                  <a:srgbClr val="1A2233"/>
                </a:solidFill>
                <a:latin typeface="Calibri" pitchFamily="34" charset="0"/>
                <a:ea typeface="Calibri" pitchFamily="34" charset="-122"/>
                <a:cs typeface="Calibri" pitchFamily="34" charset="-120"/>
              </a:rPr>
              <a:t>Anatomical constraint diagnosed, corrected and re-tested</a:t>
            </a:r>
            <a:endParaRPr lang="en-US" sz="1400" dirty="0"/>
          </a:p>
          <a:p>
            <a:pPr marL="177800" indent="-177800">
              <a:spcAft>
                <a:spcPts val="900"/>
              </a:spcAft>
              <a:buSzPct val="100000"/>
              <a:buChar char="•"/>
            </a:pPr>
            <a:r>
              <a:rPr lang="en-US" sz="1350" dirty="0">
                <a:solidFill>
                  <a:srgbClr val="1A2233"/>
                </a:solidFill>
                <a:latin typeface="Calibri" pitchFamily="34" charset="0"/>
                <a:ea typeface="Calibri" pitchFamily="34" charset="-122"/>
                <a:cs typeface="Calibri" pitchFamily="34" charset="-120"/>
              </a:rPr>
              <a:t>Optimizer study complete: COA vs WOA vs GWO, 180 model trainings</a:t>
            </a:r>
            <a:endParaRPr lang="en-US" sz="1400" dirty="0"/>
          </a:p>
          <a:p>
            <a:pPr marL="177800" indent="-177800">
              <a:spcAft>
                <a:spcPts val="900"/>
              </a:spcAft>
              <a:buSzPct val="100000"/>
              <a:buChar char="•"/>
            </a:pPr>
            <a:r>
              <a:rPr lang="en-US" sz="1350" dirty="0">
                <a:solidFill>
                  <a:srgbClr val="1A2233"/>
                </a:solidFill>
                <a:latin typeface="Calibri" pitchFamily="34" charset="0"/>
                <a:ea typeface="Calibri" pitchFamily="34" charset="-122"/>
                <a:cs typeface="Calibri" pitchFamily="34" charset="-120"/>
              </a:rPr>
              <a:t>Ablations: 4 of 5 runs complete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Why Kidney Ultrasound Needs Computer-Aided Diagnosis</a:t>
            </a:r>
            <a:endParaRPr lang="en-US" sz="3000" dirty="0"/>
          </a:p>
        </p:txBody>
      </p:sp>
      <p:sp>
        <p:nvSpPr>
          <p:cNvPr id="4" name="Text 2"/>
          <p:cNvSpPr txBox="1"/>
          <p:nvPr/>
        </p:nvSpPr>
        <p:spPr>
          <a:xfrm>
            <a:off x="548640" y="1316736"/>
            <a:ext cx="11094415" cy="457200"/>
          </a:xfrm>
          <a:prstGeom prst="rect">
            <a:avLst/>
          </a:prstGeom>
          <a:noFill/>
          <a:ln/>
        </p:spPr>
        <p:txBody>
          <a:bodyPr wrap="square" lIns="0" tIns="0" rIns="0" bIns="0" rtlCol="0" anchor="t"/>
          <a:lstStyle/>
          <a:p>
            <a:pPr marL="0" indent="0">
              <a:buNone/>
            </a:pPr>
            <a:r>
              <a:rPr lang="en-US" sz="1500" dirty="0">
                <a:solidFill>
                  <a:srgbClr val="5B6B79"/>
                </a:solidFill>
                <a:latin typeface="Calibri" pitchFamily="34" charset="0"/>
                <a:ea typeface="Calibri" pitchFamily="34" charset="-122"/>
                <a:cs typeface="Calibri" pitchFamily="34" charset="-120"/>
              </a:rPr>
              <a:t>Ultrasound is the first test for renal disease, but reading it depends heavily on who is holding the probe.</a:t>
            </a:r>
            <a:endParaRPr lang="en-US" sz="15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548640" y="1965960"/>
            <a:ext cx="3566160" cy="1463040"/>
          </a:xfrm>
          <a:prstGeom prst="roundRect">
            <a:avLst>
              <a:gd name="adj" fmla="val 3750"/>
            </a:avLst>
          </a:prstGeom>
          <a:solidFill>
            <a:srgbClr val="F3F6F9"/>
          </a:solidFill>
          <a:ln w="9525">
            <a:solidFill>
              <a:srgbClr val="DCE3E8"/>
            </a:solidFill>
            <a:prstDash val="solid"/>
          </a:ln>
        </p:spPr>
      </p:sp>
      <p:sp>
        <p:nvSpPr>
          <p:cNvPr id="9" name="Text 6"/>
          <p:cNvSpPr txBox="1"/>
          <p:nvPr/>
        </p:nvSpPr>
        <p:spPr>
          <a:xfrm>
            <a:off x="822960" y="2057400"/>
            <a:ext cx="3108960" cy="566928"/>
          </a:xfrm>
          <a:prstGeom prst="rect">
            <a:avLst/>
          </a:prstGeom>
          <a:noFill/>
          <a:ln/>
        </p:spPr>
        <p:txBody>
          <a:bodyPr wrap="square" lIns="0" tIns="0" rIns="0" bIns="0" rtlCol="0" anchor="b"/>
          <a:lstStyle/>
          <a:p>
            <a:pPr marL="0" indent="0">
              <a:buNone/>
            </a:pPr>
            <a:r>
              <a:rPr lang="en-US" sz="3600" b="1" dirty="0">
                <a:solidFill>
                  <a:srgbClr val="21295C"/>
                </a:solidFill>
                <a:latin typeface="Cambria" pitchFamily="34" charset="0"/>
                <a:ea typeface="Cambria" pitchFamily="34" charset="-122"/>
                <a:cs typeface="Cambria" pitchFamily="34" charset="-120"/>
              </a:rPr>
              <a:t>~10%</a:t>
            </a:r>
            <a:endParaRPr lang="en-US" sz="3600" dirty="0"/>
          </a:p>
        </p:txBody>
      </p:sp>
      <p:sp>
        <p:nvSpPr>
          <p:cNvPr id="10" name="Text 7"/>
          <p:cNvSpPr txBox="1"/>
          <p:nvPr/>
        </p:nvSpPr>
        <p:spPr>
          <a:xfrm>
            <a:off x="822960" y="2660904"/>
            <a:ext cx="310896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of the global population is affected by chronic kidney disease</a:t>
            </a:r>
            <a:endParaRPr lang="en-US" sz="1200" dirty="0"/>
          </a:p>
        </p:txBody>
      </p:sp>
      <p:sp>
        <p:nvSpPr>
          <p:cNvPr id="11" name="Shape 8"/>
          <p:cNvSpPr/>
          <p:nvPr/>
        </p:nvSpPr>
        <p:spPr>
          <a:xfrm>
            <a:off x="4311396" y="1965960"/>
            <a:ext cx="3566160" cy="1463040"/>
          </a:xfrm>
          <a:prstGeom prst="roundRect">
            <a:avLst>
              <a:gd name="adj" fmla="val 3750"/>
            </a:avLst>
          </a:prstGeom>
          <a:solidFill>
            <a:srgbClr val="F3F6F9"/>
          </a:solidFill>
          <a:ln w="9525">
            <a:solidFill>
              <a:srgbClr val="DCE3E8"/>
            </a:solidFill>
            <a:prstDash val="solid"/>
          </a:ln>
        </p:spPr>
      </p:sp>
      <p:sp>
        <p:nvSpPr>
          <p:cNvPr id="12" name="Text 9"/>
          <p:cNvSpPr txBox="1"/>
          <p:nvPr/>
        </p:nvSpPr>
        <p:spPr>
          <a:xfrm>
            <a:off x="4585716" y="2057400"/>
            <a:ext cx="3108960" cy="566928"/>
          </a:xfrm>
          <a:prstGeom prst="rect">
            <a:avLst/>
          </a:prstGeom>
          <a:noFill/>
          <a:ln/>
        </p:spPr>
        <p:txBody>
          <a:bodyPr wrap="square" lIns="0" tIns="0" rIns="0" bIns="0" rtlCol="0" anchor="b"/>
          <a:lstStyle/>
          <a:p>
            <a:pPr marL="0" indent="0">
              <a:buNone/>
            </a:pPr>
            <a:r>
              <a:rPr lang="en-US" sz="3600" b="1" dirty="0">
                <a:solidFill>
                  <a:srgbClr val="21295C"/>
                </a:solidFill>
                <a:latin typeface="Cambria" pitchFamily="34" charset="0"/>
                <a:ea typeface="Cambria" pitchFamily="34" charset="-122"/>
                <a:cs typeface="Cambria" pitchFamily="34" charset="-120"/>
              </a:rPr>
              <a:t>1st-line</a:t>
            </a:r>
            <a:endParaRPr lang="en-US" sz="3600" dirty="0"/>
          </a:p>
        </p:txBody>
      </p:sp>
      <p:sp>
        <p:nvSpPr>
          <p:cNvPr id="13" name="Text 10"/>
          <p:cNvSpPr txBox="1"/>
          <p:nvPr/>
        </p:nvSpPr>
        <p:spPr>
          <a:xfrm>
            <a:off x="4585716" y="2660904"/>
            <a:ext cx="310896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imaging modality for renal evaluation is ultrasound</a:t>
            </a:r>
            <a:endParaRPr lang="en-US" sz="1200" dirty="0"/>
          </a:p>
        </p:txBody>
      </p:sp>
      <p:sp>
        <p:nvSpPr>
          <p:cNvPr id="14" name="Shape 11"/>
          <p:cNvSpPr/>
          <p:nvPr/>
        </p:nvSpPr>
        <p:spPr>
          <a:xfrm>
            <a:off x="8074152" y="1965960"/>
            <a:ext cx="3566160" cy="1463040"/>
          </a:xfrm>
          <a:prstGeom prst="roundRect">
            <a:avLst>
              <a:gd name="adj" fmla="val 3750"/>
            </a:avLst>
          </a:prstGeom>
          <a:solidFill>
            <a:srgbClr val="F3F6F9"/>
          </a:solidFill>
          <a:ln w="9525">
            <a:solidFill>
              <a:srgbClr val="DCE3E8"/>
            </a:solidFill>
            <a:prstDash val="solid"/>
          </a:ln>
        </p:spPr>
      </p:sp>
      <p:sp>
        <p:nvSpPr>
          <p:cNvPr id="15" name="Text 12"/>
          <p:cNvSpPr txBox="1"/>
          <p:nvPr/>
        </p:nvSpPr>
        <p:spPr>
          <a:xfrm>
            <a:off x="8348472" y="2057400"/>
            <a:ext cx="3108960" cy="566928"/>
          </a:xfrm>
          <a:prstGeom prst="rect">
            <a:avLst/>
          </a:prstGeom>
          <a:noFill/>
          <a:ln/>
        </p:spPr>
        <p:txBody>
          <a:bodyPr wrap="square" lIns="0" tIns="0" rIns="0" bIns="0" rtlCol="0" anchor="b"/>
          <a:lstStyle/>
          <a:p>
            <a:pPr marL="0" indent="0">
              <a:buNone/>
            </a:pPr>
            <a:r>
              <a:rPr lang="en-US" sz="3600" b="1" dirty="0">
                <a:solidFill>
                  <a:srgbClr val="21295C"/>
                </a:solidFill>
                <a:latin typeface="Cambria" pitchFamily="34" charset="0"/>
                <a:ea typeface="Cambria" pitchFamily="34" charset="-122"/>
                <a:cs typeface="Cambria" pitchFamily="34" charset="-120"/>
              </a:rPr>
              <a:t>High</a:t>
            </a:r>
            <a:endParaRPr lang="en-US" sz="3600" dirty="0"/>
          </a:p>
        </p:txBody>
      </p:sp>
      <p:sp>
        <p:nvSpPr>
          <p:cNvPr id="16" name="Text 13"/>
          <p:cNvSpPr txBox="1"/>
          <p:nvPr/>
        </p:nvSpPr>
        <p:spPr>
          <a:xfrm>
            <a:off x="8348472" y="2660904"/>
            <a:ext cx="310896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inter-observer variability in manual interpretation</a:t>
            </a:r>
            <a:endParaRPr lang="en-US" sz="1200" dirty="0"/>
          </a:p>
        </p:txBody>
      </p:sp>
      <p:sp>
        <p:nvSpPr>
          <p:cNvPr id="17" name="Text 14"/>
          <p:cNvSpPr txBox="1"/>
          <p:nvPr/>
        </p:nvSpPr>
        <p:spPr>
          <a:xfrm>
            <a:off x="548640" y="3703320"/>
            <a:ext cx="11094415" cy="365760"/>
          </a:xfrm>
          <a:prstGeom prst="rect">
            <a:avLst/>
          </a:prstGeom>
          <a:noFill/>
          <a:ln/>
        </p:spPr>
        <p:txBody>
          <a:bodyPr wrap="square" lIns="0" tIns="0" rIns="0" bIns="0" rtlCol="0" anchor="t"/>
          <a:lstStyle/>
          <a:p>
            <a:pPr marL="0" indent="0">
              <a:buNone/>
            </a:pPr>
            <a:r>
              <a:rPr lang="en-US" sz="1700" b="1" dirty="0">
                <a:solidFill>
                  <a:srgbClr val="21295C"/>
                </a:solidFill>
                <a:latin typeface="Calibri" pitchFamily="34" charset="0"/>
                <a:ea typeface="Calibri" pitchFamily="34" charset="-122"/>
                <a:cs typeface="Calibri" pitchFamily="34" charset="-120"/>
              </a:rPr>
              <a:t>What a clinically useful system must do from one image</a:t>
            </a:r>
            <a:endParaRPr lang="en-US" sz="1700" dirty="0"/>
          </a:p>
        </p:txBody>
      </p:sp>
      <p:sp>
        <p:nvSpPr>
          <p:cNvPr id="18" name="Shape 15"/>
          <p:cNvSpPr/>
          <p:nvPr/>
        </p:nvSpPr>
        <p:spPr>
          <a:xfrm>
            <a:off x="548640" y="4206240"/>
            <a:ext cx="420624" cy="420624"/>
          </a:xfrm>
          <a:prstGeom prst="roundRect">
            <a:avLst>
              <a:gd name="adj" fmla="val 17391"/>
            </a:avLst>
          </a:prstGeom>
          <a:solidFill>
            <a:srgbClr val="21295C"/>
          </a:solidFill>
          <a:ln/>
        </p:spPr>
      </p:sp>
      <p:sp>
        <p:nvSpPr>
          <p:cNvPr id="19" name="Text 16"/>
          <p:cNvSpPr txBox="1"/>
          <p:nvPr/>
        </p:nvSpPr>
        <p:spPr>
          <a:xfrm>
            <a:off x="548640" y="4206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20" name="Text 17"/>
          <p:cNvSpPr txBox="1"/>
          <p:nvPr/>
        </p:nvSpPr>
        <p:spPr>
          <a:xfrm>
            <a:off x="1115568" y="4187952"/>
            <a:ext cx="2999232"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Detect</a:t>
            </a:r>
            <a:endParaRPr lang="en-US" sz="1500" dirty="0"/>
          </a:p>
        </p:txBody>
      </p:sp>
      <p:sp>
        <p:nvSpPr>
          <p:cNvPr id="21" name="Text 18"/>
          <p:cNvSpPr txBox="1"/>
          <p:nvPr/>
        </p:nvSpPr>
        <p:spPr>
          <a:xfrm>
            <a:off x="1115568" y="4517136"/>
            <a:ext cx="2999232"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Decide whether the kidney is healthy or pathological.</a:t>
            </a:r>
            <a:endParaRPr lang="en-US" sz="1250" dirty="0"/>
          </a:p>
        </p:txBody>
      </p:sp>
      <p:sp>
        <p:nvSpPr>
          <p:cNvPr id="22" name="Shape 19"/>
          <p:cNvSpPr/>
          <p:nvPr/>
        </p:nvSpPr>
        <p:spPr>
          <a:xfrm>
            <a:off x="4311396" y="4206240"/>
            <a:ext cx="420624" cy="420624"/>
          </a:xfrm>
          <a:prstGeom prst="roundRect">
            <a:avLst>
              <a:gd name="adj" fmla="val 17391"/>
            </a:avLst>
          </a:prstGeom>
          <a:solidFill>
            <a:srgbClr val="21295C"/>
          </a:solidFill>
          <a:ln/>
        </p:spPr>
      </p:sp>
      <p:sp>
        <p:nvSpPr>
          <p:cNvPr id="23" name="Text 20"/>
          <p:cNvSpPr txBox="1"/>
          <p:nvPr/>
        </p:nvSpPr>
        <p:spPr>
          <a:xfrm>
            <a:off x="4311396" y="4206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24" name="Text 21"/>
          <p:cNvSpPr txBox="1"/>
          <p:nvPr/>
        </p:nvSpPr>
        <p:spPr>
          <a:xfrm>
            <a:off x="4878324" y="4187952"/>
            <a:ext cx="2999232"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Characterize</a:t>
            </a:r>
            <a:endParaRPr lang="en-US" sz="1500" dirty="0"/>
          </a:p>
        </p:txBody>
      </p:sp>
      <p:sp>
        <p:nvSpPr>
          <p:cNvPr id="25" name="Text 22"/>
          <p:cNvSpPr txBox="1"/>
          <p:nvPr/>
        </p:nvSpPr>
        <p:spPr>
          <a:xfrm>
            <a:off x="4878324" y="4517136"/>
            <a:ext cx="2999232"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Identify which global and local pathologies are present.</a:t>
            </a:r>
            <a:endParaRPr lang="en-US" sz="1250" dirty="0"/>
          </a:p>
        </p:txBody>
      </p:sp>
      <p:sp>
        <p:nvSpPr>
          <p:cNvPr id="26" name="Shape 23"/>
          <p:cNvSpPr/>
          <p:nvPr/>
        </p:nvSpPr>
        <p:spPr>
          <a:xfrm>
            <a:off x="8074152" y="4206240"/>
            <a:ext cx="420624" cy="420624"/>
          </a:xfrm>
          <a:prstGeom prst="roundRect">
            <a:avLst>
              <a:gd name="adj" fmla="val 17391"/>
            </a:avLst>
          </a:prstGeom>
          <a:solidFill>
            <a:srgbClr val="21295C"/>
          </a:solidFill>
          <a:ln/>
        </p:spPr>
      </p:sp>
      <p:sp>
        <p:nvSpPr>
          <p:cNvPr id="27" name="Text 24"/>
          <p:cNvSpPr txBox="1"/>
          <p:nvPr/>
        </p:nvSpPr>
        <p:spPr>
          <a:xfrm>
            <a:off x="8074152" y="4206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8" name="Text 25"/>
          <p:cNvSpPr txBox="1"/>
          <p:nvPr/>
        </p:nvSpPr>
        <p:spPr>
          <a:xfrm>
            <a:off x="8641080" y="4187952"/>
            <a:ext cx="2999232"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Localize</a:t>
            </a:r>
            <a:endParaRPr lang="en-US" sz="1500" dirty="0"/>
          </a:p>
        </p:txBody>
      </p:sp>
      <p:sp>
        <p:nvSpPr>
          <p:cNvPr id="29" name="Text 26"/>
          <p:cNvSpPr txBox="1"/>
          <p:nvPr/>
        </p:nvSpPr>
        <p:spPr>
          <a:xfrm>
            <a:off x="8641080" y="4517136"/>
            <a:ext cx="2999232"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Outline the kidney and mark where the lesions are.</a:t>
            </a:r>
            <a:endParaRPr lang="en-US" sz="1250" dirty="0"/>
          </a:p>
        </p:txBody>
      </p:sp>
      <p:sp>
        <p:nvSpPr>
          <p:cNvPr id="30" name="Text 27"/>
          <p:cNvSpPr txBox="1"/>
          <p:nvPr/>
        </p:nvSpPr>
        <p:spPr>
          <a:xfrm>
            <a:off x="548640" y="5669280"/>
            <a:ext cx="11094415" cy="411480"/>
          </a:xfrm>
          <a:prstGeom prst="rect">
            <a:avLst/>
          </a:prstGeom>
          <a:noFill/>
          <a:ln/>
        </p:spPr>
        <p:txBody>
          <a:bodyPr wrap="square" lIns="0" tIns="0" rIns="0" bIns="0" rtlCol="0" anchor="t"/>
          <a:lstStyle/>
          <a:p>
            <a:pPr marL="0" indent="0">
              <a:buNone/>
            </a:pPr>
            <a:r>
              <a:rPr lang="en-US" sz="1500" i="1" dirty="0">
                <a:solidFill>
                  <a:srgbClr val="1C7293"/>
                </a:solidFill>
                <a:latin typeface="Calibri" pitchFamily="34" charset="0"/>
                <a:ea typeface="Calibri" pitchFamily="34" charset="-122"/>
                <a:cs typeface="Calibri" pitchFamily="34" charset="-120"/>
              </a:rPr>
              <a:t>Three questions from the same image make the case for a single multi-task network.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Benchmark System and the Gaps We Target</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4</a:t>
            </a:r>
            <a:endParaRPr lang="en-US" sz="1000" dirty="0"/>
          </a:p>
        </p:txBody>
      </p:sp>
      <p:sp>
        <p:nvSpPr>
          <p:cNvPr id="7" name="Shape 4"/>
          <p:cNvSpPr/>
          <p:nvPr/>
        </p:nvSpPr>
        <p:spPr>
          <a:xfrm>
            <a:off x="548640" y="1920240"/>
            <a:ext cx="4206240" cy="4206240"/>
          </a:xfrm>
          <a:prstGeom prst="roundRect">
            <a:avLst>
              <a:gd name="adj" fmla="val 1304"/>
            </a:avLst>
          </a:prstGeom>
          <a:solidFill>
            <a:srgbClr val="21295C"/>
          </a:solidFill>
          <a:ln w="9525">
            <a:solidFill>
              <a:srgbClr val="21295C"/>
            </a:solidFill>
            <a:prstDash val="solid"/>
          </a:ln>
        </p:spPr>
      </p:sp>
      <p:sp>
        <p:nvSpPr>
          <p:cNvPr id="8" name="Text 5"/>
          <p:cNvSpPr txBox="1"/>
          <p:nvPr/>
        </p:nvSpPr>
        <p:spPr>
          <a:xfrm>
            <a:off x="868680" y="2148840"/>
            <a:ext cx="3657600" cy="274320"/>
          </a:xfrm>
          <a:prstGeom prst="rect">
            <a:avLst/>
          </a:prstGeom>
          <a:noFill/>
          <a:ln/>
        </p:spPr>
        <p:txBody>
          <a:bodyPr wrap="square" lIns="0" tIns="0" rIns="0" bIns="0" rtlCol="0" anchor="t"/>
          <a:lstStyle/>
          <a:p>
            <a:pPr marL="0" indent="0">
              <a:buNone/>
            </a:pPr>
            <a:r>
              <a:rPr lang="en-US" sz="1100" b="1" kern="0" spc="200" dirty="0">
                <a:solidFill>
                  <a:srgbClr val="CADCFC"/>
                </a:solidFill>
                <a:latin typeface="Calibri" pitchFamily="34" charset="0"/>
                <a:ea typeface="Calibri" pitchFamily="34" charset="-122"/>
                <a:cs typeface="Calibri" pitchFamily="34" charset="-120"/>
              </a:rPr>
              <a:t>REFERENCE SYSTEM</a:t>
            </a:r>
            <a:endParaRPr lang="en-US" sz="1100" dirty="0"/>
          </a:p>
        </p:txBody>
      </p:sp>
      <p:sp>
        <p:nvSpPr>
          <p:cNvPr id="9" name="Text 6"/>
          <p:cNvSpPr txBox="1"/>
          <p:nvPr/>
        </p:nvSpPr>
        <p:spPr>
          <a:xfrm>
            <a:off x="868680" y="2468880"/>
            <a:ext cx="3657600" cy="411480"/>
          </a:xfrm>
          <a:prstGeom prst="rect">
            <a:avLst/>
          </a:prstGeom>
          <a:noFill/>
          <a:ln/>
        </p:spPr>
        <p:txBody>
          <a:bodyPr wrap="square" lIns="0" tIns="0" rIns="0" bIns="0" rtlCol="0" anchor="t"/>
          <a:lstStyle/>
          <a:p>
            <a:pPr marL="0" indent="0">
              <a:buNone/>
            </a:pPr>
            <a:r>
              <a:rPr lang="en-US" sz="1900" b="1" dirty="0">
                <a:solidFill>
                  <a:srgbClr val="FFFFFF"/>
                </a:solidFill>
                <a:latin typeface="Cambria" pitchFamily="34" charset="0"/>
                <a:ea typeface="Cambria" pitchFamily="34" charset="-122"/>
                <a:cs typeface="Cambria" pitchFamily="34" charset="-120"/>
              </a:rPr>
              <a:t>URI-CADS (Molina-Cabello et al.)</a:t>
            </a:r>
            <a:endParaRPr lang="en-US" sz="1900" dirty="0"/>
          </a:p>
        </p:txBody>
      </p:sp>
      <p:sp>
        <p:nvSpPr>
          <p:cNvPr id="10" name="Text 7"/>
          <p:cNvSpPr txBox="1"/>
          <p:nvPr/>
        </p:nvSpPr>
        <p:spPr>
          <a:xfrm>
            <a:off x="868680" y="2971800"/>
            <a:ext cx="3657600" cy="109728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FFFFFF"/>
                </a:solidFill>
                <a:latin typeface="Calibri" pitchFamily="34" charset="0"/>
                <a:ea typeface="Calibri" pitchFamily="34" charset="-122"/>
                <a:cs typeface="Calibri" pitchFamily="34" charset="-120"/>
              </a:rPr>
              <a:t>Dual Mask R-CNN + Faster R-CNN</a:t>
            </a:r>
            <a:endParaRPr lang="en-US" sz="1400" dirty="0"/>
          </a:p>
          <a:p>
            <a:pPr marL="177800" indent="-177800">
              <a:spcAft>
                <a:spcPts val="500"/>
              </a:spcAft>
              <a:buSzPct val="100000"/>
              <a:buChar char="•"/>
            </a:pPr>
            <a:r>
              <a:rPr lang="en-US" sz="1350" dirty="0">
                <a:solidFill>
                  <a:srgbClr val="FFFFFF"/>
                </a:solidFill>
                <a:latin typeface="Calibri" pitchFamily="34" charset="0"/>
                <a:ea typeface="Calibri" pitchFamily="34" charset="-122"/>
                <a:cs typeface="Calibri" pitchFamily="34" charset="-120"/>
              </a:rPr>
              <a:t>ResNet-50 backbone</a:t>
            </a:r>
            <a:endParaRPr lang="en-US" sz="1400" dirty="0"/>
          </a:p>
          <a:p>
            <a:pPr marL="177800" indent="-177800">
              <a:spcAft>
                <a:spcPts val="500"/>
              </a:spcAft>
              <a:buSzPct val="100000"/>
              <a:buChar char="•"/>
            </a:pPr>
            <a:r>
              <a:rPr lang="en-US" sz="1350" dirty="0">
                <a:solidFill>
                  <a:srgbClr val="FFFFFF"/>
                </a:solidFill>
                <a:latin typeface="Calibri" pitchFamily="34" charset="0"/>
                <a:ea typeface="Calibri" pitchFamily="34" charset="-122"/>
                <a:cs typeface="Calibri" pitchFamily="34" charset="-120"/>
              </a:rPr>
              <a:t>Five-fold cross-validation on its own data</a:t>
            </a:r>
            <a:endParaRPr lang="en-US" sz="1400" dirty="0"/>
          </a:p>
        </p:txBody>
      </p:sp>
      <p:sp>
        <p:nvSpPr>
          <p:cNvPr id="11" name="Text 8"/>
          <p:cNvSpPr txBox="1"/>
          <p:nvPr/>
        </p:nvSpPr>
        <p:spPr>
          <a:xfrm>
            <a:off x="868680" y="4206240"/>
            <a:ext cx="1828800" cy="566928"/>
          </a:xfrm>
          <a:prstGeom prst="rect">
            <a:avLst/>
          </a:prstGeom>
          <a:noFill/>
          <a:ln/>
        </p:spPr>
        <p:txBody>
          <a:bodyPr wrap="square" lIns="0" tIns="0" rIns="0" bIns="0" rtlCol="0" anchor="b"/>
          <a:lstStyle/>
          <a:p>
            <a:pPr marL="0" indent="0">
              <a:buNone/>
            </a:pPr>
            <a:r>
              <a:rPr lang="en-US" sz="3000" b="1" dirty="0">
                <a:solidFill>
                  <a:srgbClr val="FFFFFF"/>
                </a:solidFill>
                <a:latin typeface="Cambria" pitchFamily="34" charset="0"/>
                <a:ea typeface="Cambria" pitchFamily="34" charset="-122"/>
                <a:cs typeface="Cambria" pitchFamily="34" charset="-120"/>
              </a:rPr>
              <a:t>0.8741</a:t>
            </a:r>
            <a:endParaRPr lang="en-US" sz="3000" dirty="0"/>
          </a:p>
        </p:txBody>
      </p:sp>
      <p:sp>
        <p:nvSpPr>
          <p:cNvPr id="12" name="Text 9"/>
          <p:cNvSpPr txBox="1"/>
          <p:nvPr/>
        </p:nvSpPr>
        <p:spPr>
          <a:xfrm>
            <a:off x="868680" y="4809744"/>
            <a:ext cx="1828800" cy="5029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AUC, healthy vs pathological</a:t>
            </a:r>
            <a:endParaRPr lang="en-US" sz="1200" dirty="0"/>
          </a:p>
        </p:txBody>
      </p:sp>
      <p:sp>
        <p:nvSpPr>
          <p:cNvPr id="13" name="Text 10"/>
          <p:cNvSpPr txBox="1"/>
          <p:nvPr/>
        </p:nvSpPr>
        <p:spPr>
          <a:xfrm>
            <a:off x="2788920" y="4206240"/>
            <a:ext cx="1828800" cy="566928"/>
          </a:xfrm>
          <a:prstGeom prst="rect">
            <a:avLst/>
          </a:prstGeom>
          <a:noFill/>
          <a:ln/>
        </p:spPr>
        <p:txBody>
          <a:bodyPr wrap="square" lIns="0" tIns="0" rIns="0" bIns="0" rtlCol="0" anchor="b"/>
          <a:lstStyle/>
          <a:p>
            <a:pPr marL="0" indent="0">
              <a:buNone/>
            </a:pPr>
            <a:r>
              <a:rPr lang="en-US" sz="3000" b="1" dirty="0">
                <a:solidFill>
                  <a:srgbClr val="FFFFFF"/>
                </a:solidFill>
                <a:latin typeface="Cambria" pitchFamily="34" charset="0"/>
                <a:ea typeface="Cambria" pitchFamily="34" charset="-122"/>
                <a:cs typeface="Cambria" pitchFamily="34" charset="-120"/>
              </a:rPr>
              <a:t>0.8190</a:t>
            </a:r>
            <a:endParaRPr lang="en-US" sz="3000" dirty="0"/>
          </a:p>
        </p:txBody>
      </p:sp>
      <p:sp>
        <p:nvSpPr>
          <p:cNvPr id="14" name="Text 11"/>
          <p:cNvSpPr txBox="1"/>
          <p:nvPr/>
        </p:nvSpPr>
        <p:spPr>
          <a:xfrm>
            <a:off x="2788920" y="4809744"/>
            <a:ext cx="1828800" cy="502920"/>
          </a:xfrm>
          <a:prstGeom prst="rect">
            <a:avLst/>
          </a:prstGeom>
          <a:noFill/>
          <a:ln/>
        </p:spPr>
        <p:txBody>
          <a:bodyPr wrap="square" lIns="0" tIns="0" rIns="0" bIns="0" rtlCol="0" anchor="t"/>
          <a:lstStyle/>
          <a:p>
            <a:pPr marL="0" indent="0">
              <a:buNone/>
            </a:pPr>
            <a:r>
              <a:rPr lang="en-US" sz="1200" dirty="0">
                <a:solidFill>
                  <a:srgbClr val="CADCFC"/>
                </a:solidFill>
                <a:latin typeface="Calibri" pitchFamily="34" charset="0"/>
                <a:ea typeface="Calibri" pitchFamily="34" charset="-122"/>
                <a:cs typeface="Calibri" pitchFamily="34" charset="-120"/>
              </a:rPr>
              <a:t>AUC, multi-pathological</a:t>
            </a:r>
            <a:endParaRPr lang="en-US" sz="1200" dirty="0"/>
          </a:p>
        </p:txBody>
      </p:sp>
      <p:sp>
        <p:nvSpPr>
          <p:cNvPr id="15" name="Shape 12"/>
          <p:cNvSpPr/>
          <p:nvPr/>
        </p:nvSpPr>
        <p:spPr>
          <a:xfrm>
            <a:off x="5120640" y="1920240"/>
            <a:ext cx="420624" cy="420624"/>
          </a:xfrm>
          <a:prstGeom prst="roundRect">
            <a:avLst>
              <a:gd name="adj" fmla="val 17391"/>
            </a:avLst>
          </a:prstGeom>
          <a:solidFill>
            <a:srgbClr val="21295C"/>
          </a:solidFill>
          <a:ln/>
        </p:spPr>
      </p:sp>
      <p:sp>
        <p:nvSpPr>
          <p:cNvPr id="16" name="Text 13"/>
          <p:cNvSpPr txBox="1"/>
          <p:nvPr/>
        </p:nvSpPr>
        <p:spPr>
          <a:xfrm>
            <a:off x="512064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7" name="Text 14"/>
          <p:cNvSpPr txBox="1"/>
          <p:nvPr/>
        </p:nvSpPr>
        <p:spPr>
          <a:xfrm>
            <a:off x="5687568" y="1901952"/>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Unweighted loss sum</a:t>
            </a:r>
            <a:endParaRPr lang="en-US" sz="1500" dirty="0"/>
          </a:p>
        </p:txBody>
      </p:sp>
      <p:sp>
        <p:nvSpPr>
          <p:cNvPr id="18" name="Text 15"/>
          <p:cNvSpPr txBox="1"/>
          <p:nvPr/>
        </p:nvSpPr>
        <p:spPr>
          <a:xfrm>
            <a:off x="5687568" y="2231136"/>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Task losses are added with equal weight; no tuned or learned weighting.</a:t>
            </a:r>
            <a:endParaRPr lang="en-US" sz="1250" dirty="0"/>
          </a:p>
        </p:txBody>
      </p:sp>
      <p:sp>
        <p:nvSpPr>
          <p:cNvPr id="19" name="Shape 16"/>
          <p:cNvSpPr/>
          <p:nvPr/>
        </p:nvSpPr>
        <p:spPr>
          <a:xfrm>
            <a:off x="5120640" y="2770632"/>
            <a:ext cx="420624" cy="420624"/>
          </a:xfrm>
          <a:prstGeom prst="roundRect">
            <a:avLst>
              <a:gd name="adj" fmla="val 17391"/>
            </a:avLst>
          </a:prstGeom>
          <a:solidFill>
            <a:srgbClr val="21295C"/>
          </a:solidFill>
          <a:ln/>
        </p:spPr>
      </p:sp>
      <p:sp>
        <p:nvSpPr>
          <p:cNvPr id="20" name="Text 17"/>
          <p:cNvSpPr txBox="1"/>
          <p:nvPr/>
        </p:nvSpPr>
        <p:spPr>
          <a:xfrm>
            <a:off x="5120640" y="2770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21" name="Text 18"/>
          <p:cNvSpPr txBox="1"/>
          <p:nvPr/>
        </p:nvSpPr>
        <p:spPr>
          <a:xfrm>
            <a:off x="5687568" y="2752344"/>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No optimized preprocessing</a:t>
            </a:r>
            <a:endParaRPr lang="en-US" sz="1500" dirty="0"/>
          </a:p>
        </p:txBody>
      </p:sp>
      <p:sp>
        <p:nvSpPr>
          <p:cNvPr id="22" name="Text 19"/>
          <p:cNvSpPr txBox="1"/>
          <p:nvPr/>
        </p:nvSpPr>
        <p:spPr>
          <a:xfrm>
            <a:off x="5687568" y="3081528"/>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Standard augmentation only; image enhancement is never tuned.</a:t>
            </a:r>
            <a:endParaRPr lang="en-US" sz="1250" dirty="0"/>
          </a:p>
        </p:txBody>
      </p:sp>
      <p:sp>
        <p:nvSpPr>
          <p:cNvPr id="23" name="Shape 20"/>
          <p:cNvSpPr/>
          <p:nvPr/>
        </p:nvSpPr>
        <p:spPr>
          <a:xfrm>
            <a:off x="5120640" y="3621024"/>
            <a:ext cx="420624" cy="420624"/>
          </a:xfrm>
          <a:prstGeom prst="roundRect">
            <a:avLst>
              <a:gd name="adj" fmla="val 17391"/>
            </a:avLst>
          </a:prstGeom>
          <a:solidFill>
            <a:srgbClr val="21295C"/>
          </a:solidFill>
          <a:ln/>
        </p:spPr>
      </p:sp>
      <p:sp>
        <p:nvSpPr>
          <p:cNvPr id="24" name="Text 21"/>
          <p:cNvSpPr txBox="1"/>
          <p:nvPr/>
        </p:nvSpPr>
        <p:spPr>
          <a:xfrm>
            <a:off x="5120640" y="362102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5" name="Text 22"/>
          <p:cNvSpPr txBox="1"/>
          <p:nvPr/>
        </p:nvSpPr>
        <p:spPr>
          <a:xfrm>
            <a:off x="5687568" y="3602736"/>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No pixel-level lesion masks</a:t>
            </a:r>
            <a:endParaRPr lang="en-US" sz="1500" dirty="0"/>
          </a:p>
        </p:txBody>
      </p:sp>
      <p:sp>
        <p:nvSpPr>
          <p:cNvPr id="26" name="Text 23"/>
          <p:cNvSpPr txBox="1"/>
          <p:nvPr/>
        </p:nvSpPr>
        <p:spPr>
          <a:xfrm>
            <a:off x="5687568" y="3931920"/>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Lesions exist only as bounding boxes, so lesion segmentation is not addressed.</a:t>
            </a:r>
            <a:endParaRPr lang="en-US" sz="1250" dirty="0"/>
          </a:p>
        </p:txBody>
      </p:sp>
      <p:sp>
        <p:nvSpPr>
          <p:cNvPr id="27" name="Shape 24"/>
          <p:cNvSpPr/>
          <p:nvPr/>
        </p:nvSpPr>
        <p:spPr>
          <a:xfrm>
            <a:off x="5120640" y="4471416"/>
            <a:ext cx="420624" cy="420624"/>
          </a:xfrm>
          <a:prstGeom prst="roundRect">
            <a:avLst>
              <a:gd name="adj" fmla="val 17391"/>
            </a:avLst>
          </a:prstGeom>
          <a:solidFill>
            <a:srgbClr val="21295C"/>
          </a:solidFill>
          <a:ln/>
        </p:spPr>
      </p:sp>
      <p:sp>
        <p:nvSpPr>
          <p:cNvPr id="28" name="Text 25"/>
          <p:cNvSpPr txBox="1"/>
          <p:nvPr/>
        </p:nvSpPr>
        <p:spPr>
          <a:xfrm>
            <a:off x="5120640" y="4471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9" name="Text 26"/>
          <p:cNvSpPr txBox="1"/>
          <p:nvPr/>
        </p:nvSpPr>
        <p:spPr>
          <a:xfrm>
            <a:off x="5687568" y="4453128"/>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Single-dataset validation</a:t>
            </a:r>
            <a:endParaRPr lang="en-US" sz="1500" dirty="0"/>
          </a:p>
        </p:txBody>
      </p:sp>
      <p:sp>
        <p:nvSpPr>
          <p:cNvPr id="30" name="Text 27"/>
          <p:cNvSpPr txBox="1"/>
          <p:nvPr/>
        </p:nvSpPr>
        <p:spPr>
          <a:xfrm>
            <a:off x="5687568" y="4782312"/>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Cross-validation within one dataset; no external or cross-cohort test.</a:t>
            </a:r>
            <a:endParaRPr lang="en-US" sz="1250" dirty="0"/>
          </a:p>
        </p:txBody>
      </p:sp>
      <p:sp>
        <p:nvSpPr>
          <p:cNvPr id="31" name="Shape 28"/>
          <p:cNvSpPr/>
          <p:nvPr/>
        </p:nvSpPr>
        <p:spPr>
          <a:xfrm>
            <a:off x="5120640" y="5321808"/>
            <a:ext cx="420624" cy="420624"/>
          </a:xfrm>
          <a:prstGeom prst="roundRect">
            <a:avLst>
              <a:gd name="adj" fmla="val 17391"/>
            </a:avLst>
          </a:prstGeom>
          <a:solidFill>
            <a:srgbClr val="21295C"/>
          </a:solidFill>
          <a:ln/>
        </p:spPr>
      </p:sp>
      <p:sp>
        <p:nvSpPr>
          <p:cNvPr id="32" name="Text 29"/>
          <p:cNvSpPr txBox="1"/>
          <p:nvPr/>
        </p:nvSpPr>
        <p:spPr>
          <a:xfrm>
            <a:off x="5120640" y="532180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33" name="Text 30"/>
          <p:cNvSpPr txBox="1"/>
          <p:nvPr/>
        </p:nvSpPr>
        <p:spPr>
          <a:xfrm>
            <a:off x="5687568" y="5303520"/>
            <a:ext cx="595274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Compute cost not addressed</a:t>
            </a:r>
            <a:endParaRPr lang="en-US" sz="1500" dirty="0"/>
          </a:p>
        </p:txBody>
      </p:sp>
      <p:sp>
        <p:nvSpPr>
          <p:cNvPr id="34" name="Text 31"/>
          <p:cNvSpPr txBox="1"/>
          <p:nvPr/>
        </p:nvSpPr>
        <p:spPr>
          <a:xfrm>
            <a:off x="5687568" y="5632704"/>
            <a:ext cx="5952744" cy="41148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Two detection networks; deployability on point-of-care devices is not discussed.</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CONTRIBUTIONS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Six Contributions, One Per Gap</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548640" y="1920240"/>
            <a:ext cx="3566160" cy="1965960"/>
          </a:xfrm>
          <a:prstGeom prst="roundRect">
            <a:avLst>
              <a:gd name="adj" fmla="val 2791"/>
            </a:avLst>
          </a:prstGeom>
          <a:solidFill>
            <a:srgbClr val="F3F6F9"/>
          </a:solidFill>
          <a:ln w="9525">
            <a:solidFill>
              <a:srgbClr val="DCE3E8"/>
            </a:solidFill>
            <a:prstDash val="solid"/>
          </a:ln>
        </p:spPr>
      </p:sp>
      <p:sp>
        <p:nvSpPr>
          <p:cNvPr id="8" name="Shape 5"/>
          <p:cNvSpPr/>
          <p:nvPr/>
        </p:nvSpPr>
        <p:spPr>
          <a:xfrm>
            <a:off x="822960" y="2194560"/>
            <a:ext cx="420624" cy="420624"/>
          </a:xfrm>
          <a:prstGeom prst="roundRect">
            <a:avLst>
              <a:gd name="adj" fmla="val 17391"/>
            </a:avLst>
          </a:prstGeom>
          <a:solidFill>
            <a:srgbClr val="21295C"/>
          </a:solidFill>
          <a:ln/>
        </p:spPr>
      </p:sp>
      <p:sp>
        <p:nvSpPr>
          <p:cNvPr id="9" name="Text 6"/>
          <p:cNvSpPr txBox="1"/>
          <p:nvPr/>
        </p:nvSpPr>
        <p:spPr>
          <a:xfrm>
            <a:off x="822960"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0" name="Shape 7"/>
          <p:cNvSpPr/>
          <p:nvPr/>
        </p:nvSpPr>
        <p:spPr>
          <a:xfrm>
            <a:off x="3031236" y="2267712"/>
            <a:ext cx="809244" cy="274320"/>
          </a:xfrm>
          <a:prstGeom prst="roundRect">
            <a:avLst>
              <a:gd name="adj" fmla="val 20000"/>
            </a:avLst>
          </a:prstGeom>
          <a:solidFill>
            <a:srgbClr val="E6F2EC"/>
          </a:solidFill>
          <a:ln/>
        </p:spPr>
      </p:sp>
      <p:sp>
        <p:nvSpPr>
          <p:cNvPr id="11" name="Text 8"/>
          <p:cNvSpPr txBox="1"/>
          <p:nvPr/>
        </p:nvSpPr>
        <p:spPr>
          <a:xfrm>
            <a:off x="3031236" y="2267712"/>
            <a:ext cx="809244"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EVALUATED</a:t>
            </a:r>
            <a:endParaRPr lang="en-US" sz="1000" dirty="0"/>
          </a:p>
        </p:txBody>
      </p:sp>
      <p:sp>
        <p:nvSpPr>
          <p:cNvPr id="12" name="Text 9"/>
          <p:cNvSpPr txBox="1"/>
          <p:nvPr/>
        </p:nvSpPr>
        <p:spPr>
          <a:xfrm>
            <a:off x="822960" y="276148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Optimized loss weighting</a:t>
            </a:r>
            <a:endParaRPr lang="en-US" sz="1600" dirty="0"/>
          </a:p>
        </p:txBody>
      </p:sp>
      <p:sp>
        <p:nvSpPr>
          <p:cNvPr id="13" name="Text 10"/>
          <p:cNvSpPr txBox="1"/>
          <p:nvPr/>
        </p:nvSpPr>
        <p:spPr>
          <a:xfrm>
            <a:off x="822960" y="312724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Six task-loss weights searched instead of fixed at 1.</a:t>
            </a:r>
            <a:endParaRPr lang="en-US" sz="1250" dirty="0"/>
          </a:p>
        </p:txBody>
      </p:sp>
      <p:sp>
        <p:nvSpPr>
          <p:cNvPr id="14" name="Shape 11"/>
          <p:cNvSpPr/>
          <p:nvPr/>
        </p:nvSpPr>
        <p:spPr>
          <a:xfrm>
            <a:off x="4311396" y="1920240"/>
            <a:ext cx="3566160" cy="1965960"/>
          </a:xfrm>
          <a:prstGeom prst="roundRect">
            <a:avLst>
              <a:gd name="adj" fmla="val 2791"/>
            </a:avLst>
          </a:prstGeom>
          <a:solidFill>
            <a:srgbClr val="F3F6F9"/>
          </a:solidFill>
          <a:ln w="9525">
            <a:solidFill>
              <a:srgbClr val="DCE3E8"/>
            </a:solidFill>
            <a:prstDash val="solid"/>
          </a:ln>
        </p:spPr>
      </p:sp>
      <p:sp>
        <p:nvSpPr>
          <p:cNvPr id="15" name="Shape 12"/>
          <p:cNvSpPr/>
          <p:nvPr/>
        </p:nvSpPr>
        <p:spPr>
          <a:xfrm>
            <a:off x="4585716" y="2194560"/>
            <a:ext cx="420624" cy="420624"/>
          </a:xfrm>
          <a:prstGeom prst="roundRect">
            <a:avLst>
              <a:gd name="adj" fmla="val 17391"/>
            </a:avLst>
          </a:prstGeom>
          <a:solidFill>
            <a:srgbClr val="21295C"/>
          </a:solidFill>
          <a:ln/>
        </p:spPr>
      </p:sp>
      <p:sp>
        <p:nvSpPr>
          <p:cNvPr id="16" name="Text 13"/>
          <p:cNvSpPr txBox="1"/>
          <p:nvPr/>
        </p:nvSpPr>
        <p:spPr>
          <a:xfrm>
            <a:off x="4585716"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7" name="Shape 14"/>
          <p:cNvSpPr/>
          <p:nvPr/>
        </p:nvSpPr>
        <p:spPr>
          <a:xfrm>
            <a:off x="6793992" y="2267712"/>
            <a:ext cx="809244" cy="274320"/>
          </a:xfrm>
          <a:prstGeom prst="roundRect">
            <a:avLst>
              <a:gd name="adj" fmla="val 20000"/>
            </a:avLst>
          </a:prstGeom>
          <a:solidFill>
            <a:srgbClr val="E6F2EC"/>
          </a:solidFill>
          <a:ln/>
        </p:spPr>
      </p:sp>
      <p:sp>
        <p:nvSpPr>
          <p:cNvPr id="18" name="Text 15"/>
          <p:cNvSpPr txBox="1"/>
          <p:nvPr/>
        </p:nvSpPr>
        <p:spPr>
          <a:xfrm>
            <a:off x="6793992" y="2267712"/>
            <a:ext cx="809244"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EVALUATED</a:t>
            </a:r>
            <a:endParaRPr lang="en-US" sz="1000" dirty="0"/>
          </a:p>
        </p:txBody>
      </p:sp>
      <p:sp>
        <p:nvSpPr>
          <p:cNvPr id="19" name="Text 16"/>
          <p:cNvSpPr txBox="1"/>
          <p:nvPr/>
        </p:nvSpPr>
        <p:spPr>
          <a:xfrm>
            <a:off x="4585716" y="276148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Optimized enhancement</a:t>
            </a:r>
            <a:endParaRPr lang="en-US" sz="1600" dirty="0"/>
          </a:p>
        </p:txBody>
      </p:sp>
      <p:sp>
        <p:nvSpPr>
          <p:cNvPr id="20" name="Text 17"/>
          <p:cNvSpPr txBox="1"/>
          <p:nvPr/>
        </p:nvSpPr>
        <p:spPr>
          <a:xfrm>
            <a:off x="4585716" y="312724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CLAHE, denoising and gamma tuned jointly with the weights.</a:t>
            </a:r>
            <a:endParaRPr lang="en-US" sz="1250" dirty="0"/>
          </a:p>
        </p:txBody>
      </p:sp>
      <p:sp>
        <p:nvSpPr>
          <p:cNvPr id="21" name="Shape 18"/>
          <p:cNvSpPr/>
          <p:nvPr/>
        </p:nvSpPr>
        <p:spPr>
          <a:xfrm>
            <a:off x="8074152" y="1920240"/>
            <a:ext cx="3566160" cy="1965960"/>
          </a:xfrm>
          <a:prstGeom prst="roundRect">
            <a:avLst>
              <a:gd name="adj" fmla="val 2791"/>
            </a:avLst>
          </a:prstGeom>
          <a:solidFill>
            <a:srgbClr val="F3F6F9"/>
          </a:solidFill>
          <a:ln w="9525">
            <a:solidFill>
              <a:srgbClr val="DCE3E8"/>
            </a:solidFill>
            <a:prstDash val="solid"/>
          </a:ln>
        </p:spPr>
      </p:sp>
      <p:sp>
        <p:nvSpPr>
          <p:cNvPr id="22" name="Shape 19"/>
          <p:cNvSpPr/>
          <p:nvPr/>
        </p:nvSpPr>
        <p:spPr>
          <a:xfrm>
            <a:off x="8348472" y="2194560"/>
            <a:ext cx="420624" cy="420624"/>
          </a:xfrm>
          <a:prstGeom prst="roundRect">
            <a:avLst>
              <a:gd name="adj" fmla="val 17391"/>
            </a:avLst>
          </a:prstGeom>
          <a:solidFill>
            <a:srgbClr val="21295C"/>
          </a:solidFill>
          <a:ln/>
        </p:spPr>
      </p:sp>
      <p:sp>
        <p:nvSpPr>
          <p:cNvPr id="23" name="Text 20"/>
          <p:cNvSpPr txBox="1"/>
          <p:nvPr/>
        </p:nvSpPr>
        <p:spPr>
          <a:xfrm>
            <a:off x="8348472"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4" name="Shape 21"/>
          <p:cNvSpPr/>
          <p:nvPr/>
        </p:nvSpPr>
        <p:spPr>
          <a:xfrm>
            <a:off x="10634472" y="2267712"/>
            <a:ext cx="731520" cy="274320"/>
          </a:xfrm>
          <a:prstGeom prst="roundRect">
            <a:avLst>
              <a:gd name="adj" fmla="val 20000"/>
            </a:avLst>
          </a:prstGeom>
          <a:solidFill>
            <a:srgbClr val="E6F2EC"/>
          </a:solidFill>
          <a:ln/>
        </p:spPr>
      </p:sp>
      <p:sp>
        <p:nvSpPr>
          <p:cNvPr id="25" name="Text 22"/>
          <p:cNvSpPr txBox="1"/>
          <p:nvPr/>
        </p:nvSpPr>
        <p:spPr>
          <a:xfrm>
            <a:off x="10634472" y="2267712"/>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26" name="Text 23"/>
          <p:cNvSpPr txBox="1"/>
          <p:nvPr/>
        </p:nvSpPr>
        <p:spPr>
          <a:xfrm>
            <a:off x="8348472" y="276148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Optimizer comparison</a:t>
            </a:r>
            <a:endParaRPr lang="en-US" sz="1600" dirty="0"/>
          </a:p>
        </p:txBody>
      </p:sp>
      <p:sp>
        <p:nvSpPr>
          <p:cNvPr id="27" name="Text 24"/>
          <p:cNvSpPr txBox="1"/>
          <p:nvPr/>
        </p:nvSpPr>
        <p:spPr>
          <a:xfrm>
            <a:off x="8348472" y="312724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COA vs WOA vs GWO at an equal budget of 60 trainings each.</a:t>
            </a:r>
            <a:endParaRPr lang="en-US" sz="1250" dirty="0"/>
          </a:p>
        </p:txBody>
      </p:sp>
      <p:sp>
        <p:nvSpPr>
          <p:cNvPr id="28" name="Shape 25"/>
          <p:cNvSpPr/>
          <p:nvPr/>
        </p:nvSpPr>
        <p:spPr>
          <a:xfrm>
            <a:off x="548640" y="4069080"/>
            <a:ext cx="3566160" cy="1965960"/>
          </a:xfrm>
          <a:prstGeom prst="roundRect">
            <a:avLst>
              <a:gd name="adj" fmla="val 2791"/>
            </a:avLst>
          </a:prstGeom>
          <a:solidFill>
            <a:srgbClr val="F3F6F9"/>
          </a:solidFill>
          <a:ln w="9525">
            <a:solidFill>
              <a:srgbClr val="DCE3E8"/>
            </a:solidFill>
            <a:prstDash val="solid"/>
          </a:ln>
        </p:spPr>
      </p:sp>
      <p:sp>
        <p:nvSpPr>
          <p:cNvPr id="29" name="Shape 26"/>
          <p:cNvSpPr/>
          <p:nvPr/>
        </p:nvSpPr>
        <p:spPr>
          <a:xfrm>
            <a:off x="822960" y="4343400"/>
            <a:ext cx="420624" cy="420624"/>
          </a:xfrm>
          <a:prstGeom prst="roundRect">
            <a:avLst>
              <a:gd name="adj" fmla="val 17391"/>
            </a:avLst>
          </a:prstGeom>
          <a:solidFill>
            <a:srgbClr val="21295C"/>
          </a:solidFill>
          <a:ln/>
        </p:spPr>
      </p:sp>
      <p:sp>
        <p:nvSpPr>
          <p:cNvPr id="30" name="Text 27"/>
          <p:cNvSpPr txBox="1"/>
          <p:nvPr/>
        </p:nvSpPr>
        <p:spPr>
          <a:xfrm>
            <a:off x="822960"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31" name="Shape 28"/>
          <p:cNvSpPr/>
          <p:nvPr/>
        </p:nvSpPr>
        <p:spPr>
          <a:xfrm>
            <a:off x="3108960" y="4416552"/>
            <a:ext cx="731520" cy="274320"/>
          </a:xfrm>
          <a:prstGeom prst="roundRect">
            <a:avLst>
              <a:gd name="adj" fmla="val 20000"/>
            </a:avLst>
          </a:prstGeom>
          <a:solidFill>
            <a:srgbClr val="E6F2EC"/>
          </a:solidFill>
          <a:ln/>
        </p:spPr>
      </p:sp>
      <p:sp>
        <p:nvSpPr>
          <p:cNvPr id="32" name="Text 29"/>
          <p:cNvSpPr txBox="1"/>
          <p:nvPr/>
        </p:nvSpPr>
        <p:spPr>
          <a:xfrm>
            <a:off x="3108960" y="4416552"/>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33" name="Text 30"/>
          <p:cNvSpPr txBox="1"/>
          <p:nvPr/>
        </p:nvSpPr>
        <p:spPr>
          <a:xfrm>
            <a:off x="822960" y="491032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Anatomical consistency</a:t>
            </a:r>
            <a:endParaRPr lang="en-US" sz="1600" dirty="0"/>
          </a:p>
        </p:txBody>
      </p:sp>
      <p:sp>
        <p:nvSpPr>
          <p:cNvPr id="34" name="Text 31"/>
          <p:cNvSpPr txBox="1"/>
          <p:nvPr/>
        </p:nvSpPr>
        <p:spPr>
          <a:xfrm>
            <a:off x="822960" y="527608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Penalizes lesion predictions outside the kidney; corrected ratio form.</a:t>
            </a:r>
            <a:endParaRPr lang="en-US" sz="1250" dirty="0"/>
          </a:p>
        </p:txBody>
      </p:sp>
      <p:sp>
        <p:nvSpPr>
          <p:cNvPr id="35" name="Shape 32"/>
          <p:cNvSpPr/>
          <p:nvPr/>
        </p:nvSpPr>
        <p:spPr>
          <a:xfrm>
            <a:off x="4311396" y="4069080"/>
            <a:ext cx="3566160" cy="1965960"/>
          </a:xfrm>
          <a:prstGeom prst="roundRect">
            <a:avLst>
              <a:gd name="adj" fmla="val 2791"/>
            </a:avLst>
          </a:prstGeom>
          <a:solidFill>
            <a:srgbClr val="F3F6F9"/>
          </a:solidFill>
          <a:ln w="9525">
            <a:solidFill>
              <a:srgbClr val="DCE3E8"/>
            </a:solidFill>
            <a:prstDash val="solid"/>
          </a:ln>
        </p:spPr>
      </p:sp>
      <p:sp>
        <p:nvSpPr>
          <p:cNvPr id="36" name="Shape 33"/>
          <p:cNvSpPr/>
          <p:nvPr/>
        </p:nvSpPr>
        <p:spPr>
          <a:xfrm>
            <a:off x="4585716" y="4343400"/>
            <a:ext cx="420624" cy="420624"/>
          </a:xfrm>
          <a:prstGeom prst="roundRect">
            <a:avLst>
              <a:gd name="adj" fmla="val 17391"/>
            </a:avLst>
          </a:prstGeom>
          <a:solidFill>
            <a:srgbClr val="21295C"/>
          </a:solidFill>
          <a:ln/>
        </p:spPr>
      </p:sp>
      <p:sp>
        <p:nvSpPr>
          <p:cNvPr id="37" name="Text 34"/>
          <p:cNvSpPr txBox="1"/>
          <p:nvPr/>
        </p:nvSpPr>
        <p:spPr>
          <a:xfrm>
            <a:off x="4585716"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38" name="Shape 35"/>
          <p:cNvSpPr/>
          <p:nvPr/>
        </p:nvSpPr>
        <p:spPr>
          <a:xfrm>
            <a:off x="6871716" y="4416552"/>
            <a:ext cx="731520" cy="274320"/>
          </a:xfrm>
          <a:prstGeom prst="roundRect">
            <a:avLst>
              <a:gd name="adj" fmla="val 20000"/>
            </a:avLst>
          </a:prstGeom>
          <a:solidFill>
            <a:srgbClr val="E6F2EC"/>
          </a:solidFill>
          <a:ln/>
        </p:spPr>
      </p:sp>
      <p:sp>
        <p:nvSpPr>
          <p:cNvPr id="39" name="Text 36"/>
          <p:cNvSpPr txBox="1"/>
          <p:nvPr/>
        </p:nvSpPr>
        <p:spPr>
          <a:xfrm>
            <a:off x="6871716" y="4416552"/>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40" name="Text 37"/>
          <p:cNvSpPr txBox="1"/>
          <p:nvPr/>
        </p:nvSpPr>
        <p:spPr>
          <a:xfrm>
            <a:off x="4585716" y="491032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Lightweight architecture</a:t>
            </a:r>
            <a:endParaRPr lang="en-US" sz="1600" dirty="0"/>
          </a:p>
        </p:txBody>
      </p:sp>
      <p:sp>
        <p:nvSpPr>
          <p:cNvPr id="41" name="Text 38"/>
          <p:cNvSpPr txBox="1"/>
          <p:nvPr/>
        </p:nvSpPr>
        <p:spPr>
          <a:xfrm>
            <a:off x="4585716" y="527608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One ResNet-34 encoder, five heads, 24.4 M parameters.</a:t>
            </a:r>
            <a:endParaRPr lang="en-US" sz="1250" dirty="0"/>
          </a:p>
        </p:txBody>
      </p:sp>
      <p:sp>
        <p:nvSpPr>
          <p:cNvPr id="42" name="Shape 39"/>
          <p:cNvSpPr/>
          <p:nvPr/>
        </p:nvSpPr>
        <p:spPr>
          <a:xfrm>
            <a:off x="8074152" y="4069080"/>
            <a:ext cx="3566160" cy="1965960"/>
          </a:xfrm>
          <a:prstGeom prst="roundRect">
            <a:avLst>
              <a:gd name="adj" fmla="val 2791"/>
            </a:avLst>
          </a:prstGeom>
          <a:solidFill>
            <a:srgbClr val="F3F6F9"/>
          </a:solidFill>
          <a:ln w="9525">
            <a:solidFill>
              <a:srgbClr val="DCE3E8"/>
            </a:solidFill>
            <a:prstDash val="solid"/>
          </a:ln>
        </p:spPr>
      </p:sp>
      <p:sp>
        <p:nvSpPr>
          <p:cNvPr id="43" name="Shape 40"/>
          <p:cNvSpPr/>
          <p:nvPr/>
        </p:nvSpPr>
        <p:spPr>
          <a:xfrm>
            <a:off x="8348472" y="4343400"/>
            <a:ext cx="420624" cy="420624"/>
          </a:xfrm>
          <a:prstGeom prst="roundRect">
            <a:avLst>
              <a:gd name="adj" fmla="val 17391"/>
            </a:avLst>
          </a:prstGeom>
          <a:solidFill>
            <a:srgbClr val="21295C"/>
          </a:solidFill>
          <a:ln/>
        </p:spPr>
      </p:sp>
      <p:sp>
        <p:nvSpPr>
          <p:cNvPr id="44" name="Text 41"/>
          <p:cNvSpPr txBox="1"/>
          <p:nvPr/>
        </p:nvSpPr>
        <p:spPr>
          <a:xfrm>
            <a:off x="8348472"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45" name="Shape 42"/>
          <p:cNvSpPr/>
          <p:nvPr/>
        </p:nvSpPr>
        <p:spPr>
          <a:xfrm>
            <a:off x="10712196" y="4416552"/>
            <a:ext cx="653796" cy="274320"/>
          </a:xfrm>
          <a:prstGeom prst="roundRect">
            <a:avLst>
              <a:gd name="adj" fmla="val 20000"/>
            </a:avLst>
          </a:prstGeom>
          <a:solidFill>
            <a:srgbClr val="FBF0DF"/>
          </a:solidFill>
          <a:ln/>
        </p:spPr>
      </p:sp>
      <p:sp>
        <p:nvSpPr>
          <p:cNvPr id="46" name="Text 43"/>
          <p:cNvSpPr txBox="1"/>
          <p:nvPr/>
        </p:nvSpPr>
        <p:spPr>
          <a:xfrm>
            <a:off x="10712196" y="4416552"/>
            <a:ext cx="653796"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PENDING</a:t>
            </a:r>
            <a:endParaRPr lang="en-US" sz="1000" dirty="0"/>
          </a:p>
        </p:txBody>
      </p:sp>
      <p:sp>
        <p:nvSpPr>
          <p:cNvPr id="47" name="Text 44"/>
          <p:cNvSpPr txBox="1"/>
          <p:nvPr/>
        </p:nvSpPr>
        <p:spPr>
          <a:xfrm>
            <a:off x="8348472" y="4910328"/>
            <a:ext cx="3063240" cy="365760"/>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Beyond a single split</a:t>
            </a:r>
            <a:endParaRPr lang="en-US" sz="1600" dirty="0"/>
          </a:p>
        </p:txBody>
      </p:sp>
      <p:sp>
        <p:nvSpPr>
          <p:cNvPr id="48" name="Text 45"/>
          <p:cNvSpPr txBox="1"/>
          <p:nvPr/>
        </p:nvSpPr>
        <p:spPr>
          <a:xfrm>
            <a:off x="8348472" y="5276088"/>
            <a:ext cx="3063240" cy="6858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Five-fold cross-validation and an external cohort test.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URI-CADS Renal Ultrasound Dataset</a:t>
            </a:r>
            <a:endParaRPr lang="en-US" sz="3000" dirty="0"/>
          </a:p>
        </p:txBody>
      </p:sp>
      <p:sp>
        <p:nvSpPr>
          <p:cNvPr id="4" name="Text 2"/>
          <p:cNvSpPr txBox="1"/>
          <p:nvPr/>
        </p:nvSpPr>
        <p:spPr>
          <a:xfrm>
            <a:off x="548640" y="1316736"/>
            <a:ext cx="11094415" cy="457200"/>
          </a:xfrm>
          <a:prstGeom prst="rect">
            <a:avLst/>
          </a:prstGeom>
          <a:noFill/>
          <a:ln/>
        </p:spPr>
        <p:txBody>
          <a:bodyPr wrap="square" lIns="0" tIns="0" rIns="0" bIns="0" rtlCol="0" anchor="t"/>
          <a:lstStyle/>
          <a:p>
            <a:pPr marL="0" indent="0">
              <a:buNone/>
            </a:pPr>
            <a:r>
              <a:rPr lang="en-US" sz="1500" dirty="0">
                <a:solidFill>
                  <a:srgbClr val="5B6B79"/>
                </a:solidFill>
                <a:latin typeface="Calibri" pitchFamily="34" charset="0"/>
                <a:ea typeface="Calibri" pitchFamily="34" charset="-122"/>
                <a:cs typeface="Calibri" pitchFamily="34" charset="-120"/>
              </a:rPr>
              <a:t>A public, peer-reviewed benchmark with pixel-level kidney masks and bounding-box lesion annotations.</a:t>
            </a:r>
            <a:endParaRPr lang="en-US" sz="15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6</a:t>
            </a:r>
            <a:endParaRPr lang="en-US" sz="1000" dirty="0"/>
          </a:p>
        </p:txBody>
      </p:sp>
      <p:pic>
        <p:nvPicPr>
          <p:cNvPr id="8" name="Image 0" descr="C:/StudyMaterialDoNotTouch/publications/URI-CADS dataset/presentation/assets/dataset_examples.png"/>
          <p:cNvPicPr>
            <a:picLocks noChangeAspect="1"/>
          </p:cNvPicPr>
          <p:nvPr/>
        </p:nvPicPr>
        <p:blipFill>
          <a:blip r:embed="rId3"/>
          <a:stretch>
            <a:fillRect/>
          </a:stretch>
        </p:blipFill>
        <p:spPr>
          <a:xfrm>
            <a:off x="548640" y="1828800"/>
            <a:ext cx="11094415" cy="2981648"/>
          </a:xfrm>
          <a:prstGeom prst="rect">
            <a:avLst/>
          </a:prstGeom>
        </p:spPr>
      </p:pic>
      <p:sp>
        <p:nvSpPr>
          <p:cNvPr id="9" name="Text 5"/>
          <p:cNvSpPr txBox="1"/>
          <p:nvPr/>
        </p:nvSpPr>
        <p:spPr>
          <a:xfrm>
            <a:off x="548640" y="4846320"/>
            <a:ext cx="11094415" cy="274320"/>
          </a:xfrm>
          <a:prstGeom prst="rect">
            <a:avLst/>
          </a:prstGeom>
          <a:noFill/>
          <a:ln/>
        </p:spPr>
        <p:txBody>
          <a:bodyPr wrap="square" lIns="0" tIns="0" rIns="0" bIns="0" rtlCol="0" anchor="t"/>
          <a:lstStyle/>
          <a:p>
            <a:pPr marL="0" indent="0">
              <a:buNone/>
            </a:pPr>
            <a:r>
              <a:rPr lang="en-US" sz="1150" i="1" dirty="0">
                <a:solidFill>
                  <a:srgbClr val="5B6B79"/>
                </a:solidFill>
                <a:latin typeface="Calibri" pitchFamily="34" charset="0"/>
                <a:ea typeface="Calibri" pitchFamily="34" charset="-122"/>
                <a:cs typeface="Calibri" pitchFamily="34" charset="-120"/>
              </a:rPr>
              <a:t>Teal outline: pixel-level kidney mask     Orange boxes: annotated lesion regions</a:t>
            </a:r>
            <a:endParaRPr lang="en-US" sz="1150" dirty="0"/>
          </a:p>
        </p:txBody>
      </p:sp>
      <p:sp>
        <p:nvSpPr>
          <p:cNvPr id="10" name="Text 6"/>
          <p:cNvSpPr txBox="1"/>
          <p:nvPr/>
        </p:nvSpPr>
        <p:spPr>
          <a:xfrm>
            <a:off x="548640"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1,985</a:t>
            </a:r>
            <a:endParaRPr lang="en-US" sz="2600" dirty="0"/>
          </a:p>
        </p:txBody>
      </p:sp>
      <p:sp>
        <p:nvSpPr>
          <p:cNvPr id="11" name="Text 7"/>
          <p:cNvSpPr txBox="1"/>
          <p:nvPr/>
        </p:nvSpPr>
        <p:spPr>
          <a:xfrm>
            <a:off x="548640"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annotated ultrasound images</a:t>
            </a:r>
            <a:endParaRPr lang="en-US" sz="1200" dirty="0"/>
          </a:p>
        </p:txBody>
      </p:sp>
      <p:sp>
        <p:nvSpPr>
          <p:cNvPr id="12" name="Text 8"/>
          <p:cNvSpPr txBox="1"/>
          <p:nvPr/>
        </p:nvSpPr>
        <p:spPr>
          <a:xfrm>
            <a:off x="3355848"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450 / 1,535</a:t>
            </a:r>
            <a:endParaRPr lang="en-US" sz="2600" dirty="0"/>
          </a:p>
        </p:txBody>
      </p:sp>
      <p:sp>
        <p:nvSpPr>
          <p:cNvPr id="13" name="Text 9"/>
          <p:cNvSpPr txBox="1"/>
          <p:nvPr/>
        </p:nvSpPr>
        <p:spPr>
          <a:xfrm>
            <a:off x="3355848"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healthy / pathological</a:t>
            </a:r>
            <a:endParaRPr lang="en-US" sz="1200" dirty="0"/>
          </a:p>
        </p:txBody>
      </p:sp>
      <p:sp>
        <p:nvSpPr>
          <p:cNvPr id="14" name="Text 10"/>
          <p:cNvSpPr txBox="1"/>
          <p:nvPr/>
        </p:nvSpPr>
        <p:spPr>
          <a:xfrm>
            <a:off x="6163056"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9</a:t>
            </a:r>
            <a:endParaRPr lang="en-US" sz="2600" dirty="0"/>
          </a:p>
        </p:txBody>
      </p:sp>
      <p:sp>
        <p:nvSpPr>
          <p:cNvPr id="15" name="Text 11"/>
          <p:cNvSpPr txBox="1"/>
          <p:nvPr/>
        </p:nvSpPr>
        <p:spPr>
          <a:xfrm>
            <a:off x="6163056"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local pathology categories, plus 2 global labels</a:t>
            </a:r>
            <a:endParaRPr lang="en-US" sz="1200" dirty="0"/>
          </a:p>
        </p:txBody>
      </p:sp>
      <p:sp>
        <p:nvSpPr>
          <p:cNvPr id="16" name="Text 12"/>
          <p:cNvSpPr txBox="1"/>
          <p:nvPr/>
        </p:nvSpPr>
        <p:spPr>
          <a:xfrm>
            <a:off x="8970264" y="5138928"/>
            <a:ext cx="269748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1,389 / 298 / 298</a:t>
            </a:r>
            <a:endParaRPr lang="en-US" sz="2600" dirty="0"/>
          </a:p>
        </p:txBody>
      </p:sp>
      <p:sp>
        <p:nvSpPr>
          <p:cNvPr id="17" name="Text 13"/>
          <p:cNvSpPr txBox="1"/>
          <p:nvPr/>
        </p:nvSpPr>
        <p:spPr>
          <a:xfrm>
            <a:off x="8970264" y="5742432"/>
            <a:ext cx="269748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train / validation / test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Two Label Properties That Shape the Evaluation</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7</a:t>
            </a:r>
            <a:endParaRPr lang="en-US" sz="1000" dirty="0"/>
          </a:p>
        </p:txBody>
      </p:sp>
      <p:sp>
        <p:nvSpPr>
          <p:cNvPr id="7" name="Text 4"/>
          <p:cNvSpPr txBox="1"/>
          <p:nvPr/>
        </p:nvSpPr>
        <p:spPr>
          <a:xfrm>
            <a:off x="548640" y="1874520"/>
            <a:ext cx="539496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Images by number of annotated lesions</a:t>
            </a:r>
            <a:endParaRPr lang="en-US" sz="1300" dirty="0"/>
          </a:p>
        </p:txBody>
      </p:sp>
      <p:graphicFrame>
        <p:nvGraphicFramePr>
          <p:cNvPr id="8" name="Chart 0"/>
          <p:cNvGraphicFramePr/>
          <p:nvPr/>
        </p:nvGraphicFramePr>
        <p:xfrm>
          <a:off x="548640" y="2194560"/>
          <a:ext cx="53949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6245352" y="1874520"/>
            <a:ext cx="539496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Lesion boxes per local pathology category</a:t>
            </a:r>
            <a:endParaRPr lang="en-US" sz="1300" dirty="0"/>
          </a:p>
        </p:txBody>
      </p:sp>
      <p:graphicFrame>
        <p:nvGraphicFramePr>
          <p:cNvPr id="10" name="Chart 1"/>
          <p:cNvGraphicFramePr/>
          <p:nvPr/>
        </p:nvGraphicFramePr>
        <p:xfrm>
          <a:off x="6245352" y="2194560"/>
          <a:ext cx="539496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6"/>
          <p:cNvSpPr/>
          <p:nvPr/>
        </p:nvSpPr>
        <p:spPr>
          <a:xfrm>
            <a:off x="548640" y="5394960"/>
            <a:ext cx="11094415" cy="822960"/>
          </a:xfrm>
          <a:prstGeom prst="roundRect">
            <a:avLst>
              <a:gd name="adj" fmla="val 6667"/>
            </a:avLst>
          </a:prstGeom>
          <a:solidFill>
            <a:srgbClr val="F3F6F9"/>
          </a:solidFill>
          <a:ln w="9525">
            <a:solidFill>
              <a:srgbClr val="DCE3E8"/>
            </a:solidFill>
            <a:prstDash val="solid"/>
          </a:ln>
        </p:spPr>
      </p:sp>
      <p:sp>
        <p:nvSpPr>
          <p:cNvPr id="12" name="Text 7"/>
          <p:cNvSpPr txBox="1"/>
          <p:nvPr/>
        </p:nvSpPr>
        <p:spPr>
          <a:xfrm>
            <a:off x="822960" y="5468112"/>
            <a:ext cx="10545775" cy="685800"/>
          </a:xfrm>
          <a:prstGeom prst="rect">
            <a:avLst/>
          </a:prstGeom>
          <a:noFill/>
          <a:ln/>
        </p:spPr>
        <p:txBody>
          <a:bodyPr wrap="square" lIns="0" tIns="0" rIns="0" bIns="0" rtlCol="0" anchor="ctr"/>
          <a:lstStyle/>
          <a:p>
            <a:pPr marL="0" indent="0">
              <a:buNone/>
            </a:pPr>
            <a:r>
              <a:rPr lang="en-US" sz="1350" b="1" dirty="0">
                <a:solidFill>
                  <a:srgbClr val="21295C"/>
                </a:solidFill>
                <a:latin typeface="Calibri" pitchFamily="34" charset="0"/>
                <a:ea typeface="Calibri" pitchFamily="34" charset="-122"/>
                <a:cs typeface="Calibri" pitchFamily="34" charset="-120"/>
              </a:rPr>
              <a:t>Reading the charts:  </a:t>
            </a:r>
            <a:r>
              <a:rPr lang="en-US" sz="1350" dirty="0">
                <a:solidFill>
                  <a:srgbClr val="1A2233"/>
                </a:solidFill>
                <a:latin typeface="Calibri" pitchFamily="34" charset="0"/>
                <a:ea typeface="Calibri" pitchFamily="34" charset="-122"/>
                <a:cs typeface="Calibri" pitchFamily="34" charset="-120"/>
              </a:rPr>
              <a:t>33.4% of images have no lesion, which distorts naive lesion metrics.  Categories 2 and 7 hold 68.2% of boxes; categories 5 and 6 have only 34 and 11, so their per-category scores are unreliable.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End-to-End Framework</a:t>
            </a:r>
            <a:endParaRPr lang="en-US" sz="3000" dirty="0"/>
          </a:p>
        </p:txBody>
      </p:sp>
      <p:sp>
        <p:nvSpPr>
          <p:cNvPr id="4" name="Text 2"/>
          <p:cNvSpPr txBox="1"/>
          <p:nvPr/>
        </p:nvSpPr>
        <p:spPr>
          <a:xfrm>
            <a:off x="548640" y="1316736"/>
            <a:ext cx="11094415" cy="457200"/>
          </a:xfrm>
          <a:prstGeom prst="rect">
            <a:avLst/>
          </a:prstGeom>
          <a:noFill/>
          <a:ln/>
        </p:spPr>
        <p:txBody>
          <a:bodyPr wrap="square" lIns="0" tIns="0" rIns="0" bIns="0" rtlCol="0" anchor="t"/>
          <a:lstStyle/>
          <a:p>
            <a:pPr marL="0" indent="0">
              <a:buNone/>
            </a:pPr>
            <a:r>
              <a:rPr lang="en-US" sz="1500" dirty="0">
                <a:solidFill>
                  <a:srgbClr val="5B6B79"/>
                </a:solidFill>
                <a:latin typeface="Calibri" pitchFamily="34" charset="0"/>
                <a:ea typeface="Calibri" pitchFamily="34" charset="-122"/>
                <a:cs typeface="Calibri" pitchFamily="34" charset="-120"/>
              </a:rPr>
              <a:t>One shared encoder, five task heads, and an optimizer that tunes both the enhancement and the loss weights.</a:t>
            </a:r>
            <a:endParaRPr lang="en-US" sz="1500" dirty="0"/>
          </a:p>
        </p:txBody>
      </p:sp>
      <p:sp>
        <p:nvSpPr>
          <p:cNvPr id="6" name="Text 4"/>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548640" y="2834640"/>
            <a:ext cx="1600200" cy="1024128"/>
          </a:xfrm>
          <a:prstGeom prst="roundRect">
            <a:avLst>
              <a:gd name="adj" fmla="val 5357"/>
            </a:avLst>
          </a:prstGeom>
          <a:solidFill>
            <a:srgbClr val="F3F6F9"/>
          </a:solidFill>
          <a:ln w="9525">
            <a:solidFill>
              <a:srgbClr val="DCE3E8"/>
            </a:solidFill>
            <a:prstDash val="solid"/>
          </a:ln>
        </p:spPr>
      </p:sp>
      <p:sp>
        <p:nvSpPr>
          <p:cNvPr id="9" name="Text 6"/>
          <p:cNvSpPr txBox="1"/>
          <p:nvPr/>
        </p:nvSpPr>
        <p:spPr>
          <a:xfrm>
            <a:off x="658368" y="2834640"/>
            <a:ext cx="1380744"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Ultrasound image</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resized to 512 x 512</a:t>
            </a:r>
            <a:endParaRPr lang="en-US" sz="1400" dirty="0"/>
          </a:p>
        </p:txBody>
      </p:sp>
      <p:sp>
        <p:nvSpPr>
          <p:cNvPr id="10" name="Shape 7"/>
          <p:cNvSpPr/>
          <p:nvPr/>
        </p:nvSpPr>
        <p:spPr>
          <a:xfrm>
            <a:off x="2148840" y="3346704"/>
            <a:ext cx="246888" cy="0"/>
          </a:xfrm>
          <a:prstGeom prst="line">
            <a:avLst/>
          </a:prstGeom>
          <a:noFill/>
          <a:ln w="19050">
            <a:solidFill>
              <a:srgbClr val="5B6B79"/>
            </a:solidFill>
            <a:prstDash val="solid"/>
            <a:tailEnd type="triangle"/>
          </a:ln>
        </p:spPr>
      </p:sp>
      <p:sp>
        <p:nvSpPr>
          <p:cNvPr id="11" name="Shape 8"/>
          <p:cNvSpPr/>
          <p:nvPr/>
        </p:nvSpPr>
        <p:spPr>
          <a:xfrm>
            <a:off x="2395728" y="2834640"/>
            <a:ext cx="1920240" cy="1024128"/>
          </a:xfrm>
          <a:prstGeom prst="roundRect">
            <a:avLst>
              <a:gd name="adj" fmla="val 5357"/>
            </a:avLst>
          </a:prstGeom>
          <a:solidFill>
            <a:srgbClr val="F3F6F9"/>
          </a:solidFill>
          <a:ln w="9525">
            <a:solidFill>
              <a:srgbClr val="DCE3E8"/>
            </a:solidFill>
            <a:prstDash val="solid"/>
          </a:ln>
        </p:spPr>
      </p:sp>
      <p:sp>
        <p:nvSpPr>
          <p:cNvPr id="12" name="Text 9"/>
          <p:cNvSpPr txBox="1"/>
          <p:nvPr/>
        </p:nvSpPr>
        <p:spPr>
          <a:xfrm>
            <a:off x="2505456" y="2834640"/>
            <a:ext cx="1700784"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Enhancement</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CLAHE, denoise, gamma</a:t>
            </a:r>
            <a:endParaRPr lang="en-US" sz="1400" dirty="0"/>
          </a:p>
        </p:txBody>
      </p:sp>
      <p:sp>
        <p:nvSpPr>
          <p:cNvPr id="13" name="Shape 10"/>
          <p:cNvSpPr/>
          <p:nvPr/>
        </p:nvSpPr>
        <p:spPr>
          <a:xfrm>
            <a:off x="4315968" y="3346704"/>
            <a:ext cx="246888" cy="0"/>
          </a:xfrm>
          <a:prstGeom prst="line">
            <a:avLst/>
          </a:prstGeom>
          <a:noFill/>
          <a:ln w="19050">
            <a:solidFill>
              <a:srgbClr val="5B6B79"/>
            </a:solidFill>
            <a:prstDash val="solid"/>
            <a:tailEnd type="triangle"/>
          </a:ln>
        </p:spPr>
      </p:sp>
      <p:sp>
        <p:nvSpPr>
          <p:cNvPr id="14" name="Shape 11"/>
          <p:cNvSpPr/>
          <p:nvPr/>
        </p:nvSpPr>
        <p:spPr>
          <a:xfrm>
            <a:off x="4562856" y="2834640"/>
            <a:ext cx="1737360" cy="1024128"/>
          </a:xfrm>
          <a:prstGeom prst="roundRect">
            <a:avLst>
              <a:gd name="adj" fmla="val 5357"/>
            </a:avLst>
          </a:prstGeom>
          <a:solidFill>
            <a:srgbClr val="F3F6F9"/>
          </a:solidFill>
          <a:ln w="9525">
            <a:solidFill>
              <a:srgbClr val="DCE3E8"/>
            </a:solidFill>
            <a:prstDash val="solid"/>
          </a:ln>
        </p:spPr>
      </p:sp>
      <p:sp>
        <p:nvSpPr>
          <p:cNvPr id="15" name="Text 12"/>
          <p:cNvSpPr txBox="1"/>
          <p:nvPr/>
        </p:nvSpPr>
        <p:spPr>
          <a:xfrm>
            <a:off x="4672584" y="2834640"/>
            <a:ext cx="1517904"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Shared encoder</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ResNet-34, pretrained</a:t>
            </a:r>
            <a:endParaRPr lang="en-US" sz="1400" dirty="0"/>
          </a:p>
        </p:txBody>
      </p:sp>
      <p:sp>
        <p:nvSpPr>
          <p:cNvPr id="16" name="Shape 13"/>
          <p:cNvSpPr/>
          <p:nvPr/>
        </p:nvSpPr>
        <p:spPr>
          <a:xfrm>
            <a:off x="6720840" y="1920240"/>
            <a:ext cx="2377440" cy="493776"/>
          </a:xfrm>
          <a:prstGeom prst="roundRect">
            <a:avLst>
              <a:gd name="adj" fmla="val 11111"/>
            </a:avLst>
          </a:prstGeom>
          <a:solidFill>
            <a:srgbClr val="F3F6F9"/>
          </a:solidFill>
          <a:ln w="9525">
            <a:solidFill>
              <a:srgbClr val="DCE3E8"/>
            </a:solidFill>
            <a:prstDash val="solid"/>
          </a:ln>
        </p:spPr>
      </p:sp>
      <p:sp>
        <p:nvSpPr>
          <p:cNvPr id="17" name="Text 14"/>
          <p:cNvSpPr txBox="1"/>
          <p:nvPr/>
        </p:nvSpPr>
        <p:spPr>
          <a:xfrm>
            <a:off x="6812280" y="1920240"/>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Diagnosis  </a:t>
            </a:r>
            <a:r>
              <a:rPr lang="en-US" sz="1050" dirty="0">
                <a:solidFill>
                  <a:srgbClr val="5B6B79"/>
                </a:solidFill>
                <a:latin typeface="Calibri" pitchFamily="34" charset="0"/>
                <a:ea typeface="Calibri" pitchFamily="34" charset="-122"/>
                <a:cs typeface="Calibri" pitchFamily="34" charset="-120"/>
              </a:rPr>
              <a:t>healthy vs pathological</a:t>
            </a:r>
            <a:endParaRPr lang="en-US" sz="1200" dirty="0"/>
          </a:p>
        </p:txBody>
      </p:sp>
      <p:sp>
        <p:nvSpPr>
          <p:cNvPr id="18" name="Shape 15"/>
          <p:cNvSpPr/>
          <p:nvPr/>
        </p:nvSpPr>
        <p:spPr>
          <a:xfrm flipV="1">
            <a:off x="6300216" y="2167128"/>
            <a:ext cx="420624" cy="1179576"/>
          </a:xfrm>
          <a:prstGeom prst="line">
            <a:avLst/>
          </a:prstGeom>
          <a:noFill/>
          <a:ln w="19050">
            <a:solidFill>
              <a:srgbClr val="5B6B79"/>
            </a:solidFill>
            <a:prstDash val="solid"/>
            <a:tailEnd type="triangle"/>
          </a:ln>
        </p:spPr>
      </p:sp>
      <p:sp>
        <p:nvSpPr>
          <p:cNvPr id="19" name="Shape 16"/>
          <p:cNvSpPr/>
          <p:nvPr/>
        </p:nvSpPr>
        <p:spPr>
          <a:xfrm>
            <a:off x="9098280" y="2167128"/>
            <a:ext cx="411480" cy="1179576"/>
          </a:xfrm>
          <a:prstGeom prst="line">
            <a:avLst/>
          </a:prstGeom>
          <a:noFill/>
          <a:ln w="19050">
            <a:solidFill>
              <a:srgbClr val="5B6B79"/>
            </a:solidFill>
            <a:prstDash val="solid"/>
            <a:tailEnd type="triangle"/>
          </a:ln>
        </p:spPr>
      </p:sp>
      <p:sp>
        <p:nvSpPr>
          <p:cNvPr id="20" name="Shape 17"/>
          <p:cNvSpPr/>
          <p:nvPr/>
        </p:nvSpPr>
        <p:spPr>
          <a:xfrm>
            <a:off x="6720840" y="2523744"/>
            <a:ext cx="2377440" cy="493776"/>
          </a:xfrm>
          <a:prstGeom prst="roundRect">
            <a:avLst>
              <a:gd name="adj" fmla="val 11111"/>
            </a:avLst>
          </a:prstGeom>
          <a:solidFill>
            <a:srgbClr val="F3F6F9"/>
          </a:solidFill>
          <a:ln w="9525">
            <a:solidFill>
              <a:srgbClr val="DCE3E8"/>
            </a:solidFill>
            <a:prstDash val="solid"/>
          </a:ln>
        </p:spPr>
      </p:sp>
      <p:sp>
        <p:nvSpPr>
          <p:cNvPr id="21" name="Text 18"/>
          <p:cNvSpPr txBox="1"/>
          <p:nvPr/>
        </p:nvSpPr>
        <p:spPr>
          <a:xfrm>
            <a:off x="6812280" y="2523744"/>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Global pathology  </a:t>
            </a:r>
            <a:r>
              <a:rPr lang="en-US" sz="1050" dirty="0">
                <a:solidFill>
                  <a:srgbClr val="5B6B79"/>
                </a:solidFill>
                <a:latin typeface="Calibri" pitchFamily="34" charset="0"/>
                <a:ea typeface="Calibri" pitchFamily="34" charset="-122"/>
                <a:cs typeface="Calibri" pitchFamily="34" charset="-120"/>
              </a:rPr>
              <a:t>PCD, HC</a:t>
            </a:r>
            <a:endParaRPr lang="en-US" sz="1200" dirty="0"/>
          </a:p>
        </p:txBody>
      </p:sp>
      <p:sp>
        <p:nvSpPr>
          <p:cNvPr id="22" name="Shape 19"/>
          <p:cNvSpPr/>
          <p:nvPr/>
        </p:nvSpPr>
        <p:spPr>
          <a:xfrm flipV="1">
            <a:off x="6300216" y="2770632"/>
            <a:ext cx="420624" cy="576072"/>
          </a:xfrm>
          <a:prstGeom prst="line">
            <a:avLst/>
          </a:prstGeom>
          <a:noFill/>
          <a:ln w="19050">
            <a:solidFill>
              <a:srgbClr val="5B6B79"/>
            </a:solidFill>
            <a:prstDash val="solid"/>
            <a:tailEnd type="triangle"/>
          </a:ln>
        </p:spPr>
      </p:sp>
      <p:sp>
        <p:nvSpPr>
          <p:cNvPr id="23" name="Shape 20"/>
          <p:cNvSpPr/>
          <p:nvPr/>
        </p:nvSpPr>
        <p:spPr>
          <a:xfrm>
            <a:off x="9098280" y="2770632"/>
            <a:ext cx="411480" cy="576072"/>
          </a:xfrm>
          <a:prstGeom prst="line">
            <a:avLst/>
          </a:prstGeom>
          <a:noFill/>
          <a:ln w="19050">
            <a:solidFill>
              <a:srgbClr val="5B6B79"/>
            </a:solidFill>
            <a:prstDash val="solid"/>
            <a:tailEnd type="triangle"/>
          </a:ln>
        </p:spPr>
      </p:sp>
      <p:sp>
        <p:nvSpPr>
          <p:cNvPr id="24" name="Shape 21"/>
          <p:cNvSpPr/>
          <p:nvPr/>
        </p:nvSpPr>
        <p:spPr>
          <a:xfrm>
            <a:off x="6720840" y="3127248"/>
            <a:ext cx="2377440" cy="493776"/>
          </a:xfrm>
          <a:prstGeom prst="roundRect">
            <a:avLst>
              <a:gd name="adj" fmla="val 11111"/>
            </a:avLst>
          </a:prstGeom>
          <a:solidFill>
            <a:srgbClr val="F3F6F9"/>
          </a:solidFill>
          <a:ln w="9525">
            <a:solidFill>
              <a:srgbClr val="DCE3E8"/>
            </a:solidFill>
            <a:prstDash val="solid"/>
          </a:ln>
        </p:spPr>
      </p:sp>
      <p:sp>
        <p:nvSpPr>
          <p:cNvPr id="25" name="Text 22"/>
          <p:cNvSpPr txBox="1"/>
          <p:nvPr/>
        </p:nvSpPr>
        <p:spPr>
          <a:xfrm>
            <a:off x="6812280" y="3127248"/>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Local pathology  </a:t>
            </a:r>
            <a:r>
              <a:rPr lang="en-US" sz="1050" dirty="0">
                <a:solidFill>
                  <a:srgbClr val="5B6B79"/>
                </a:solidFill>
                <a:latin typeface="Calibri" pitchFamily="34" charset="0"/>
                <a:ea typeface="Calibri" pitchFamily="34" charset="-122"/>
                <a:cs typeface="Calibri" pitchFamily="34" charset="-120"/>
              </a:rPr>
              <a:t>9 categories</a:t>
            </a:r>
            <a:endParaRPr lang="en-US" sz="1200" dirty="0"/>
          </a:p>
        </p:txBody>
      </p:sp>
      <p:sp>
        <p:nvSpPr>
          <p:cNvPr id="26" name="Shape 23"/>
          <p:cNvSpPr/>
          <p:nvPr/>
        </p:nvSpPr>
        <p:spPr>
          <a:xfrm>
            <a:off x="6300216" y="3346704"/>
            <a:ext cx="420624" cy="27432"/>
          </a:xfrm>
          <a:prstGeom prst="line">
            <a:avLst/>
          </a:prstGeom>
          <a:noFill/>
          <a:ln w="19050">
            <a:solidFill>
              <a:srgbClr val="5B6B79"/>
            </a:solidFill>
            <a:prstDash val="solid"/>
            <a:tailEnd type="triangle"/>
          </a:ln>
        </p:spPr>
      </p:sp>
      <p:sp>
        <p:nvSpPr>
          <p:cNvPr id="27" name="Shape 24"/>
          <p:cNvSpPr/>
          <p:nvPr/>
        </p:nvSpPr>
        <p:spPr>
          <a:xfrm flipV="1">
            <a:off x="9098280" y="3346704"/>
            <a:ext cx="411480" cy="27432"/>
          </a:xfrm>
          <a:prstGeom prst="line">
            <a:avLst/>
          </a:prstGeom>
          <a:noFill/>
          <a:ln w="19050">
            <a:solidFill>
              <a:srgbClr val="5B6B79"/>
            </a:solidFill>
            <a:prstDash val="solid"/>
            <a:tailEnd type="triangle"/>
          </a:ln>
        </p:spPr>
      </p:sp>
      <p:sp>
        <p:nvSpPr>
          <p:cNvPr id="28" name="Shape 25"/>
          <p:cNvSpPr/>
          <p:nvPr/>
        </p:nvSpPr>
        <p:spPr>
          <a:xfrm>
            <a:off x="6720840" y="3730752"/>
            <a:ext cx="2377440" cy="493776"/>
          </a:xfrm>
          <a:prstGeom prst="roundRect">
            <a:avLst>
              <a:gd name="adj" fmla="val 11111"/>
            </a:avLst>
          </a:prstGeom>
          <a:solidFill>
            <a:srgbClr val="F3F6F9"/>
          </a:solidFill>
          <a:ln w="9525">
            <a:solidFill>
              <a:srgbClr val="DCE3E8"/>
            </a:solidFill>
            <a:prstDash val="solid"/>
          </a:ln>
        </p:spPr>
      </p:sp>
      <p:sp>
        <p:nvSpPr>
          <p:cNvPr id="29" name="Text 26"/>
          <p:cNvSpPr txBox="1"/>
          <p:nvPr/>
        </p:nvSpPr>
        <p:spPr>
          <a:xfrm>
            <a:off x="6812280" y="3730752"/>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Kidney segmentation  </a:t>
            </a:r>
            <a:r>
              <a:rPr lang="en-US" sz="1050" dirty="0">
                <a:solidFill>
                  <a:srgbClr val="5B6B79"/>
                </a:solidFill>
                <a:latin typeface="Calibri" pitchFamily="34" charset="0"/>
                <a:ea typeface="Calibri" pitchFamily="34" charset="-122"/>
                <a:cs typeface="Calibri" pitchFamily="34" charset="-120"/>
              </a:rPr>
              <a:t>pixel mask</a:t>
            </a:r>
            <a:endParaRPr lang="en-US" sz="1200" dirty="0"/>
          </a:p>
        </p:txBody>
      </p:sp>
      <p:sp>
        <p:nvSpPr>
          <p:cNvPr id="30" name="Shape 27"/>
          <p:cNvSpPr/>
          <p:nvPr/>
        </p:nvSpPr>
        <p:spPr>
          <a:xfrm>
            <a:off x="6300216" y="3346704"/>
            <a:ext cx="420624" cy="630936"/>
          </a:xfrm>
          <a:prstGeom prst="line">
            <a:avLst/>
          </a:prstGeom>
          <a:noFill/>
          <a:ln w="19050">
            <a:solidFill>
              <a:srgbClr val="5B6B79"/>
            </a:solidFill>
            <a:prstDash val="solid"/>
            <a:tailEnd type="triangle"/>
          </a:ln>
        </p:spPr>
      </p:sp>
      <p:sp>
        <p:nvSpPr>
          <p:cNvPr id="31" name="Shape 28"/>
          <p:cNvSpPr/>
          <p:nvPr/>
        </p:nvSpPr>
        <p:spPr>
          <a:xfrm flipV="1">
            <a:off x="9098280" y="3346704"/>
            <a:ext cx="411480" cy="630936"/>
          </a:xfrm>
          <a:prstGeom prst="line">
            <a:avLst/>
          </a:prstGeom>
          <a:noFill/>
          <a:ln w="19050">
            <a:solidFill>
              <a:srgbClr val="5B6B79"/>
            </a:solidFill>
            <a:prstDash val="solid"/>
            <a:tailEnd type="triangle"/>
          </a:ln>
        </p:spPr>
      </p:sp>
      <p:sp>
        <p:nvSpPr>
          <p:cNvPr id="32" name="Shape 29"/>
          <p:cNvSpPr/>
          <p:nvPr/>
        </p:nvSpPr>
        <p:spPr>
          <a:xfrm>
            <a:off x="6720840" y="4334256"/>
            <a:ext cx="2377440" cy="493776"/>
          </a:xfrm>
          <a:prstGeom prst="roundRect">
            <a:avLst>
              <a:gd name="adj" fmla="val 11111"/>
            </a:avLst>
          </a:prstGeom>
          <a:solidFill>
            <a:srgbClr val="F3F6F9"/>
          </a:solidFill>
          <a:ln w="9525">
            <a:solidFill>
              <a:srgbClr val="DCE3E8"/>
            </a:solidFill>
            <a:prstDash val="solid"/>
          </a:ln>
        </p:spPr>
      </p:sp>
      <p:sp>
        <p:nvSpPr>
          <p:cNvPr id="33" name="Text 30"/>
          <p:cNvSpPr txBox="1"/>
          <p:nvPr/>
        </p:nvSpPr>
        <p:spPr>
          <a:xfrm>
            <a:off x="6812280" y="4334256"/>
            <a:ext cx="2240280" cy="493776"/>
          </a:xfrm>
          <a:prstGeom prst="rect">
            <a:avLst/>
          </a:prstGeom>
          <a:noFill/>
          <a:ln/>
        </p:spPr>
        <p:txBody>
          <a:bodyPr wrap="square" lIns="0" tIns="0" rIns="0" bIns="0" rtlCol="0" anchor="ctr"/>
          <a:lstStyle/>
          <a:p>
            <a:pPr marL="0" indent="0">
              <a:buNone/>
            </a:pPr>
            <a:r>
              <a:rPr lang="en-US" sz="1200" b="1" dirty="0">
                <a:solidFill>
                  <a:srgbClr val="1A2233"/>
                </a:solidFill>
                <a:latin typeface="Calibri" pitchFamily="34" charset="0"/>
                <a:ea typeface="Calibri" pitchFamily="34" charset="-122"/>
                <a:cs typeface="Calibri" pitchFamily="34" charset="-120"/>
              </a:rPr>
              <a:t>Lesion segmentation  </a:t>
            </a:r>
            <a:r>
              <a:rPr lang="en-US" sz="1050" dirty="0">
                <a:solidFill>
                  <a:srgbClr val="5B6B79"/>
                </a:solidFill>
                <a:latin typeface="Calibri" pitchFamily="34" charset="0"/>
                <a:ea typeface="Calibri" pitchFamily="34" charset="-122"/>
                <a:cs typeface="Calibri" pitchFamily="34" charset="-120"/>
              </a:rPr>
              <a:t>coarse mask</a:t>
            </a:r>
            <a:endParaRPr lang="en-US" sz="1200" dirty="0"/>
          </a:p>
        </p:txBody>
      </p:sp>
      <p:sp>
        <p:nvSpPr>
          <p:cNvPr id="34" name="Shape 31"/>
          <p:cNvSpPr/>
          <p:nvPr/>
        </p:nvSpPr>
        <p:spPr>
          <a:xfrm>
            <a:off x="6300216" y="3346704"/>
            <a:ext cx="420624" cy="1234440"/>
          </a:xfrm>
          <a:prstGeom prst="line">
            <a:avLst/>
          </a:prstGeom>
          <a:noFill/>
          <a:ln w="19050">
            <a:solidFill>
              <a:srgbClr val="5B6B79"/>
            </a:solidFill>
            <a:prstDash val="solid"/>
            <a:tailEnd type="triangle"/>
          </a:ln>
        </p:spPr>
      </p:sp>
      <p:sp>
        <p:nvSpPr>
          <p:cNvPr id="35" name="Shape 32"/>
          <p:cNvSpPr/>
          <p:nvPr/>
        </p:nvSpPr>
        <p:spPr>
          <a:xfrm flipV="1">
            <a:off x="9098280" y="3346704"/>
            <a:ext cx="411480" cy="1234440"/>
          </a:xfrm>
          <a:prstGeom prst="line">
            <a:avLst/>
          </a:prstGeom>
          <a:noFill/>
          <a:ln w="19050">
            <a:solidFill>
              <a:srgbClr val="5B6B79"/>
            </a:solidFill>
            <a:prstDash val="solid"/>
            <a:tailEnd type="triangle"/>
          </a:ln>
        </p:spPr>
      </p:sp>
      <p:sp>
        <p:nvSpPr>
          <p:cNvPr id="36" name="Shape 33"/>
          <p:cNvSpPr/>
          <p:nvPr/>
        </p:nvSpPr>
        <p:spPr>
          <a:xfrm>
            <a:off x="9509760" y="2834640"/>
            <a:ext cx="2130552" cy="1024128"/>
          </a:xfrm>
          <a:prstGeom prst="roundRect">
            <a:avLst>
              <a:gd name="adj" fmla="val 5357"/>
            </a:avLst>
          </a:prstGeom>
          <a:solidFill>
            <a:srgbClr val="F3F6F9"/>
          </a:solidFill>
          <a:ln w="9525">
            <a:solidFill>
              <a:srgbClr val="DCE3E8"/>
            </a:solidFill>
            <a:prstDash val="solid"/>
          </a:ln>
        </p:spPr>
      </p:sp>
      <p:sp>
        <p:nvSpPr>
          <p:cNvPr id="37" name="Text 34"/>
          <p:cNvSpPr txBox="1"/>
          <p:nvPr/>
        </p:nvSpPr>
        <p:spPr>
          <a:xfrm>
            <a:off x="9619488" y="2834640"/>
            <a:ext cx="1911096" cy="1024128"/>
          </a:xfrm>
          <a:prstGeom prst="rect">
            <a:avLst/>
          </a:prstGeom>
          <a:noFill/>
          <a:ln/>
        </p:spPr>
        <p:txBody>
          <a:bodyPr wrap="square" lIns="0" tIns="0" rIns="0" bIns="0" rtlCol="0" anchor="ctr"/>
          <a:lstStyle/>
          <a:p>
            <a:pPr marL="0" indent="0" algn="ctr">
              <a:buNone/>
            </a:pPr>
            <a:r>
              <a:rPr lang="en-US" sz="1450" b="1" dirty="0">
                <a:solidFill>
                  <a:srgbClr val="21295C"/>
                </a:solidFill>
                <a:latin typeface="Calibri" pitchFamily="34" charset="0"/>
                <a:ea typeface="Calibri" pitchFamily="34" charset="-122"/>
                <a:cs typeface="Calibri" pitchFamily="34" charset="-120"/>
              </a:rPr>
              <a:t>Multi-task loss</a:t>
            </a:r>
            <a:endParaRPr lang="en-US" sz="1400" dirty="0"/>
          </a:p>
          <a:p>
            <a:pPr marL="0" indent="0" algn="ctr">
              <a:buNone/>
            </a:pPr>
            <a:r>
              <a:rPr lang="en-US" sz="1150" dirty="0">
                <a:solidFill>
                  <a:srgbClr val="5B6B79"/>
                </a:solidFill>
                <a:latin typeface="Calibri" pitchFamily="34" charset="0"/>
                <a:ea typeface="Calibri" pitchFamily="34" charset="-122"/>
                <a:cs typeface="Calibri" pitchFamily="34" charset="-120"/>
              </a:rPr>
              <a:t>L = sum of w_i x L_i, 6 terms</a:t>
            </a:r>
            <a:endParaRPr lang="en-US" sz="1400" dirty="0"/>
          </a:p>
        </p:txBody>
      </p:sp>
      <p:sp>
        <p:nvSpPr>
          <p:cNvPr id="38" name="Shape 35"/>
          <p:cNvSpPr/>
          <p:nvPr/>
        </p:nvSpPr>
        <p:spPr>
          <a:xfrm>
            <a:off x="2395728" y="5257800"/>
            <a:ext cx="9244584" cy="868680"/>
          </a:xfrm>
          <a:prstGeom prst="roundRect">
            <a:avLst>
              <a:gd name="adj" fmla="val 6316"/>
            </a:avLst>
          </a:prstGeom>
          <a:solidFill>
            <a:srgbClr val="21295C"/>
          </a:solidFill>
          <a:ln w="9525">
            <a:solidFill>
              <a:srgbClr val="21295C"/>
            </a:solidFill>
            <a:prstDash val="solid"/>
          </a:ln>
        </p:spPr>
      </p:sp>
      <p:sp>
        <p:nvSpPr>
          <p:cNvPr id="39" name="Text 36"/>
          <p:cNvSpPr txBox="1"/>
          <p:nvPr/>
        </p:nvSpPr>
        <p:spPr>
          <a:xfrm>
            <a:off x="2651760" y="5257800"/>
            <a:ext cx="603504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Metaheuristic optimizer: COA, WOA or GWO</a:t>
            </a:r>
            <a:endParaRPr lang="en-US" sz="1400" dirty="0"/>
          </a:p>
          <a:p>
            <a:pPr marL="0" indent="0">
              <a:buNone/>
            </a:pPr>
            <a:r>
              <a:rPr lang="en-US" sz="1200" dirty="0">
                <a:solidFill>
                  <a:srgbClr val="CADCFC"/>
                </a:solidFill>
                <a:latin typeface="Calibri" pitchFamily="34" charset="0"/>
                <a:ea typeface="Calibri" pitchFamily="34" charset="-122"/>
                <a:cs typeface="Calibri" pitchFamily="34" charset="-120"/>
              </a:rPr>
              <a:t>proposes 10 parameters, trains a model, and receives its validation fitness in return</a:t>
            </a:r>
            <a:endParaRPr lang="en-US" sz="1400" dirty="0"/>
          </a:p>
        </p:txBody>
      </p:sp>
      <p:sp>
        <p:nvSpPr>
          <p:cNvPr id="40" name="Shape 37"/>
          <p:cNvSpPr/>
          <p:nvPr/>
        </p:nvSpPr>
        <p:spPr>
          <a:xfrm flipV="1">
            <a:off x="3355848" y="3858768"/>
            <a:ext cx="0" cy="1399032"/>
          </a:xfrm>
          <a:prstGeom prst="line">
            <a:avLst/>
          </a:prstGeom>
          <a:noFill/>
          <a:ln w="25400">
            <a:solidFill>
              <a:srgbClr val="D9912B"/>
            </a:solidFill>
            <a:prstDash val="solid"/>
            <a:tailEnd type="triangle"/>
          </a:ln>
        </p:spPr>
      </p:sp>
      <p:sp>
        <p:nvSpPr>
          <p:cNvPr id="41" name="Text 38"/>
          <p:cNvSpPr txBox="1"/>
          <p:nvPr/>
        </p:nvSpPr>
        <p:spPr>
          <a:xfrm>
            <a:off x="3474720" y="4343400"/>
            <a:ext cx="2103120" cy="274320"/>
          </a:xfrm>
          <a:prstGeom prst="rect">
            <a:avLst/>
          </a:prstGeom>
          <a:noFill/>
          <a:ln/>
        </p:spPr>
        <p:txBody>
          <a:bodyPr wrap="square" lIns="0" tIns="0" rIns="0" bIns="0" rtlCol="0" anchor="t"/>
          <a:lstStyle/>
          <a:p>
            <a:pPr marL="0" indent="0">
              <a:buNone/>
            </a:pPr>
            <a:r>
              <a:rPr lang="en-US" sz="1100" i="1" dirty="0">
                <a:solidFill>
                  <a:srgbClr val="5B6B79"/>
                </a:solidFill>
                <a:latin typeface="Calibri" pitchFamily="34" charset="0"/>
                <a:ea typeface="Calibri" pitchFamily="34" charset="-122"/>
                <a:cs typeface="Calibri" pitchFamily="34" charset="-120"/>
              </a:rPr>
              <a:t>enhancement parameters</a:t>
            </a:r>
            <a:endParaRPr lang="en-US" sz="1100" dirty="0"/>
          </a:p>
        </p:txBody>
      </p:sp>
      <p:sp>
        <p:nvSpPr>
          <p:cNvPr id="42" name="Shape 39"/>
          <p:cNvSpPr/>
          <p:nvPr/>
        </p:nvSpPr>
        <p:spPr>
          <a:xfrm flipV="1">
            <a:off x="10570464" y="3858768"/>
            <a:ext cx="0" cy="1399032"/>
          </a:xfrm>
          <a:prstGeom prst="line">
            <a:avLst/>
          </a:prstGeom>
          <a:noFill/>
          <a:ln w="25400">
            <a:solidFill>
              <a:srgbClr val="D9912B"/>
            </a:solidFill>
            <a:prstDash val="solid"/>
            <a:tailEnd type="triangle"/>
          </a:ln>
        </p:spPr>
      </p:sp>
      <p:sp>
        <p:nvSpPr>
          <p:cNvPr id="43" name="Text 40"/>
          <p:cNvSpPr txBox="1"/>
          <p:nvPr/>
        </p:nvSpPr>
        <p:spPr>
          <a:xfrm>
            <a:off x="9418320" y="4343400"/>
            <a:ext cx="1051560" cy="274320"/>
          </a:xfrm>
          <a:prstGeom prst="rect">
            <a:avLst/>
          </a:prstGeom>
          <a:noFill/>
          <a:ln/>
        </p:spPr>
        <p:txBody>
          <a:bodyPr wrap="square" lIns="0" tIns="0" rIns="0" bIns="0" rtlCol="0" anchor="t"/>
          <a:lstStyle/>
          <a:p>
            <a:pPr marL="0" indent="0" algn="r">
              <a:buNone/>
            </a:pPr>
            <a:r>
              <a:rPr lang="en-US" sz="1100" i="1" dirty="0">
                <a:solidFill>
                  <a:srgbClr val="5B6B79"/>
                </a:solidFill>
                <a:latin typeface="Calibri" pitchFamily="34" charset="0"/>
                <a:ea typeface="Calibri" pitchFamily="34" charset="-122"/>
                <a:cs typeface="Calibri" pitchFamily="34" charset="-120"/>
              </a:rPr>
              <a:t>loss weights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Architecture: Five Heads on One Encoder</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2141531931"/>
              </p:ext>
            </p:extLst>
          </p:nvPr>
        </p:nvGraphicFramePr>
        <p:xfrm>
          <a:off x="548640" y="1920240"/>
          <a:ext cx="7498080" cy="3584448"/>
        </p:xfrm>
        <a:graphic>
          <a:graphicData uri="http://schemas.openxmlformats.org/drawingml/2006/table">
            <a:tbl>
              <a:tblPr/>
              <a:tblGrid>
                <a:gridCol w="19202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51206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Head</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Diagnosis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 logit: healthy vs pathological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Binary cross-entropy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Global pathology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 logits: PCD, HC (multi-label)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Binary cross-entropy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Local pathology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9 logits, one per lesion category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Binary cross-entropy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Kidney segmentation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512 x 512 mask, 5-stage upsampling decoder</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Dice loss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Lesion segmentation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512 x 512 mask of the lesion-box union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Dice loss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5"/>
                  </a:ext>
                </a:extLst>
              </a:tr>
              <a:tr h="51206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Anatomical consistency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Lesion probability outside the kidney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Ratio penalty</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 4"/>
          <p:cNvSpPr txBox="1"/>
          <p:nvPr/>
        </p:nvSpPr>
        <p:spPr>
          <a:xfrm>
            <a:off x="548640" y="5715000"/>
            <a:ext cx="7498080" cy="411480"/>
          </a:xfrm>
          <a:prstGeom prst="rect">
            <a:avLst/>
          </a:prstGeom>
          <a:noFill/>
          <a:ln/>
        </p:spPr>
        <p:txBody>
          <a:bodyPr wrap="square" lIns="0" tIns="0" rIns="0" bIns="0" rtlCol="0" anchor="t"/>
          <a:lstStyle/>
          <a:p>
            <a:pPr marL="0" indent="0">
              <a:buNone/>
            </a:pPr>
            <a:r>
              <a:rPr lang="en-US" sz="1350" i="1" dirty="0">
                <a:solidFill>
                  <a:srgbClr val="1C7293"/>
                </a:solidFill>
                <a:latin typeface="Calibri" pitchFamily="34" charset="0"/>
                <a:ea typeface="Calibri" pitchFamily="34" charset="-122"/>
                <a:cs typeface="Calibri" pitchFamily="34" charset="-120"/>
              </a:rPr>
              <a:t>No Mask R-CNN, Faster R-CNN or U-Net: every head reads the same encoder feature map.</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Loss Design and the Anatomical Constraint</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920240"/>
            <a:ext cx="5394960" cy="4206240"/>
          </a:xfrm>
          <a:prstGeom prst="roundRect">
            <a:avLst>
              <a:gd name="adj" fmla="val 1304"/>
            </a:avLst>
          </a:prstGeom>
          <a:solidFill>
            <a:srgbClr val="F3F6F9"/>
          </a:solidFill>
          <a:ln w="9525">
            <a:solidFill>
              <a:srgbClr val="DCE3E8"/>
            </a:solidFill>
            <a:prstDash val="solid"/>
          </a:ln>
        </p:spPr>
      </p:sp>
      <p:sp>
        <p:nvSpPr>
          <p:cNvPr id="8" name="Text 5"/>
          <p:cNvSpPr txBox="1"/>
          <p:nvPr/>
        </p:nvSpPr>
        <p:spPr>
          <a:xfrm>
            <a:off x="822960" y="2103120"/>
            <a:ext cx="4846320" cy="365760"/>
          </a:xfrm>
          <a:prstGeom prst="rect">
            <a:avLst/>
          </a:prstGeom>
          <a:noFill/>
          <a:ln/>
        </p:spPr>
        <p:txBody>
          <a:bodyPr wrap="square" lIns="0" tIns="0" rIns="0" bIns="0" rtlCol="0" anchor="t"/>
          <a:lstStyle/>
          <a:p>
            <a:pPr marL="0" indent="0">
              <a:buNone/>
            </a:pPr>
            <a:r>
              <a:rPr lang="en-US" sz="1700" b="1" dirty="0">
                <a:solidFill>
                  <a:srgbClr val="21295C"/>
                </a:solidFill>
                <a:latin typeface="Calibri" pitchFamily="34" charset="0"/>
                <a:ea typeface="Calibri" pitchFamily="34" charset="-122"/>
                <a:cs typeface="Calibri" pitchFamily="34" charset="-120"/>
              </a:rPr>
              <a:t>Multi-task objective</a:t>
            </a:r>
            <a:endParaRPr lang="en-US" sz="1700" dirty="0"/>
          </a:p>
        </p:txBody>
      </p:sp>
      <p:sp>
        <p:nvSpPr>
          <p:cNvPr id="9" name="Text 6"/>
          <p:cNvSpPr txBox="1"/>
          <p:nvPr/>
        </p:nvSpPr>
        <p:spPr>
          <a:xfrm>
            <a:off x="822960" y="2560320"/>
            <a:ext cx="4937760" cy="731520"/>
          </a:xfrm>
          <a:prstGeom prst="rect">
            <a:avLst/>
          </a:prstGeom>
          <a:noFill/>
          <a:ln/>
        </p:spPr>
        <p:txBody>
          <a:bodyPr wrap="square" lIns="0" tIns="0" rIns="0" bIns="0" rtlCol="0" anchor="t"/>
          <a:lstStyle/>
          <a:p>
            <a:pPr marL="0" indent="0">
              <a:buNone/>
            </a:pPr>
            <a:r>
              <a:rPr lang="en-US" sz="1500" dirty="0">
                <a:solidFill>
                  <a:srgbClr val="1A2233"/>
                </a:solidFill>
                <a:latin typeface="Cambria" pitchFamily="34" charset="0"/>
                <a:ea typeface="Cambria" pitchFamily="34" charset="-122"/>
                <a:cs typeface="Cambria" pitchFamily="34" charset="-120"/>
              </a:rPr>
              <a:t>L = w1 L_diag + w2 L_global + w3 L_local</a:t>
            </a:r>
            <a:endParaRPr lang="en-US" sz="1500" dirty="0"/>
          </a:p>
          <a:p>
            <a:pPr marL="0" indent="0">
              <a:buNone/>
            </a:pPr>
            <a:r>
              <a:rPr lang="en-US" sz="1500" dirty="0">
                <a:solidFill>
                  <a:srgbClr val="1A2233"/>
                </a:solidFill>
                <a:latin typeface="Cambria" pitchFamily="34" charset="0"/>
                <a:ea typeface="Cambria" pitchFamily="34" charset="-122"/>
                <a:cs typeface="Cambria" pitchFamily="34" charset="-120"/>
              </a:rPr>
              <a:t>     + w4 L_kidney + w5 L_lesion + w6 L_anat</a:t>
            </a:r>
            <a:endParaRPr lang="en-US" sz="1500" dirty="0"/>
          </a:p>
        </p:txBody>
      </p:sp>
      <p:sp>
        <p:nvSpPr>
          <p:cNvPr id="10" name="Text 7"/>
          <p:cNvSpPr txBox="1"/>
          <p:nvPr/>
        </p:nvSpPr>
        <p:spPr>
          <a:xfrm>
            <a:off x="822960" y="3429000"/>
            <a:ext cx="4892040" cy="2560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Phases 2 to 5: every w = 1, the unweighted sum used by URI-CADS</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Phase 6: each w searched in [0.1, 5.0]</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Classification heads: binary cross-entropy</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Segmentation heads: Dice loss = 1 - 2|P ∩ G| / (|P| + |G|)</a:t>
            </a:r>
            <a:endParaRPr lang="en-US" sz="1400" dirty="0"/>
          </a:p>
        </p:txBody>
      </p:sp>
      <p:sp>
        <p:nvSpPr>
          <p:cNvPr id="11" name="Shape 8"/>
          <p:cNvSpPr/>
          <p:nvPr/>
        </p:nvSpPr>
        <p:spPr>
          <a:xfrm>
            <a:off x="6245352" y="1920240"/>
            <a:ext cx="5394960" cy="4206240"/>
          </a:xfrm>
          <a:prstGeom prst="roundRect">
            <a:avLst>
              <a:gd name="adj" fmla="val 1304"/>
            </a:avLst>
          </a:prstGeom>
          <a:solidFill>
            <a:srgbClr val="F3F6F9"/>
          </a:solidFill>
          <a:ln w="9525">
            <a:solidFill>
              <a:srgbClr val="DCE3E8"/>
            </a:solidFill>
            <a:prstDash val="solid"/>
          </a:ln>
        </p:spPr>
      </p:sp>
      <p:sp>
        <p:nvSpPr>
          <p:cNvPr id="12" name="Text 9"/>
          <p:cNvSpPr txBox="1"/>
          <p:nvPr/>
        </p:nvSpPr>
        <p:spPr>
          <a:xfrm>
            <a:off x="6519672" y="2103120"/>
            <a:ext cx="4846320" cy="365760"/>
          </a:xfrm>
          <a:prstGeom prst="rect">
            <a:avLst/>
          </a:prstGeom>
          <a:noFill/>
          <a:ln/>
        </p:spPr>
        <p:txBody>
          <a:bodyPr wrap="square" lIns="0" tIns="0" rIns="0" bIns="0" rtlCol="0" anchor="t"/>
          <a:lstStyle/>
          <a:p>
            <a:pPr marL="0" indent="0">
              <a:buNone/>
            </a:pPr>
            <a:r>
              <a:rPr lang="en-US" sz="1700" b="1" dirty="0">
                <a:solidFill>
                  <a:srgbClr val="21295C"/>
                </a:solidFill>
                <a:latin typeface="Calibri" pitchFamily="34" charset="0"/>
                <a:ea typeface="Calibri" pitchFamily="34" charset="-122"/>
                <a:cs typeface="Calibri" pitchFamily="34" charset="-120"/>
              </a:rPr>
              <a:t>Anatomical consistency: two formulations</a:t>
            </a:r>
            <a:endParaRPr lang="en-US" sz="1700" dirty="0"/>
          </a:p>
        </p:txBody>
      </p:sp>
      <p:sp>
        <p:nvSpPr>
          <p:cNvPr id="13" name="Text 10"/>
          <p:cNvSpPr txBox="1"/>
          <p:nvPr/>
        </p:nvSpPr>
        <p:spPr>
          <a:xfrm>
            <a:off x="6519672" y="2606040"/>
            <a:ext cx="4846320" cy="685800"/>
          </a:xfrm>
          <a:prstGeom prst="rect">
            <a:avLst/>
          </a:prstGeom>
          <a:noFill/>
          <a:ln/>
        </p:spPr>
        <p:txBody>
          <a:bodyPr wrap="square" lIns="0" tIns="0" rIns="0" bIns="0" rtlCol="0" anchor="t"/>
          <a:lstStyle/>
          <a:p>
            <a:pPr marL="0" indent="0">
              <a:buNone/>
            </a:pPr>
            <a:r>
              <a:rPr lang="en-US" sz="1400" b="1" dirty="0">
                <a:solidFill>
                  <a:srgbClr val="B5483B"/>
                </a:solidFill>
                <a:latin typeface="Calibri" pitchFamily="34" charset="0"/>
                <a:ea typeface="Calibri" pitchFamily="34" charset="-122"/>
                <a:cs typeface="Calibri" pitchFamily="34" charset="-120"/>
              </a:rPr>
              <a:t>Original (Phase 5): absolute mass</a:t>
            </a:r>
            <a:endParaRPr lang="en-US" sz="1400" dirty="0"/>
          </a:p>
          <a:p>
            <a:pPr marL="0" indent="0">
              <a:buNone/>
            </a:pPr>
            <a:r>
              <a:rPr lang="en-US" sz="1400" dirty="0">
                <a:solidFill>
                  <a:srgbClr val="1A2233"/>
                </a:solidFill>
                <a:latin typeface="Cambria" pitchFamily="34" charset="0"/>
                <a:ea typeface="Cambria" pitchFamily="34" charset="-122"/>
                <a:cs typeface="Cambria" pitchFamily="34" charset="-120"/>
              </a:rPr>
              <a:t>L = mean( p_lesion x (1 - kidney) )</a:t>
            </a:r>
            <a:endParaRPr lang="en-US" sz="1400" dirty="0"/>
          </a:p>
        </p:txBody>
      </p:sp>
      <p:sp>
        <p:nvSpPr>
          <p:cNvPr id="14" name="Text 11"/>
          <p:cNvSpPr txBox="1"/>
          <p:nvPr/>
        </p:nvSpPr>
        <p:spPr>
          <a:xfrm>
            <a:off x="6519672" y="3429000"/>
            <a:ext cx="4846320" cy="685800"/>
          </a:xfrm>
          <a:prstGeom prst="rect">
            <a:avLst/>
          </a:prstGeom>
          <a:noFill/>
          <a:ln/>
        </p:spPr>
        <p:txBody>
          <a:bodyPr wrap="square" lIns="0" tIns="0" rIns="0" bIns="0" rtlCol="0" anchor="t"/>
          <a:lstStyle/>
          <a:p>
            <a:pPr marL="0" indent="0">
              <a:buNone/>
            </a:pPr>
            <a:r>
              <a:rPr lang="en-US" sz="1400" b="1" dirty="0">
                <a:solidFill>
                  <a:srgbClr val="2E7D5B"/>
                </a:solidFill>
                <a:latin typeface="Calibri" pitchFamily="34" charset="0"/>
                <a:ea typeface="Calibri" pitchFamily="34" charset="-122"/>
                <a:cs typeface="Calibri" pitchFamily="34" charset="-120"/>
              </a:rPr>
              <a:t>Corrected (Phase 5b): fraction outside the kidney</a:t>
            </a:r>
            <a:endParaRPr lang="en-US" sz="1400" dirty="0"/>
          </a:p>
          <a:p>
            <a:pPr marL="0" indent="0">
              <a:buNone/>
            </a:pPr>
            <a:r>
              <a:rPr lang="en-US" sz="1400" dirty="0">
                <a:solidFill>
                  <a:srgbClr val="1A2233"/>
                </a:solidFill>
                <a:latin typeface="Cambria" pitchFamily="34" charset="0"/>
                <a:ea typeface="Cambria" pitchFamily="34" charset="-122"/>
                <a:cs typeface="Cambria" pitchFamily="34" charset="-120"/>
              </a:rPr>
              <a:t>L = sum( p_lesion x (1 - kidney) ) / sum( p_lesion )</a:t>
            </a:r>
            <a:endParaRPr lang="en-US" sz="1400" dirty="0"/>
          </a:p>
        </p:txBody>
      </p:sp>
      <p:sp>
        <p:nvSpPr>
          <p:cNvPr id="15" name="Text 12"/>
          <p:cNvSpPr txBox="1"/>
          <p:nvPr/>
        </p:nvSpPr>
        <p:spPr>
          <a:xfrm>
            <a:off x="6519672" y="4343400"/>
            <a:ext cx="4846320" cy="164592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Why it matters: the absolute form can be reduced by predicting less lesion everywhere, which leaves the reported fraction unchanged. The ratio form is unaffected by uniform scaling, so the only way to reduce it is to move predictions inside the kidney.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Image Enhancement Layer</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11</a:t>
            </a:r>
            <a:endParaRPr lang="en-US" sz="1000" dirty="0"/>
          </a:p>
        </p:txBody>
      </p:sp>
      <p:pic>
        <p:nvPicPr>
          <p:cNvPr id="7" name="Image 0" descr="C:/StudyMaterialDoNotTouch/publications/URI-CADS dataset/presentation/assets/enhancement_comparison.png"/>
          <p:cNvPicPr>
            <a:picLocks noChangeAspect="1"/>
          </p:cNvPicPr>
          <p:nvPr/>
        </p:nvPicPr>
        <p:blipFill>
          <a:blip r:embed="rId3"/>
          <a:stretch>
            <a:fillRect/>
          </a:stretch>
        </p:blipFill>
        <p:spPr>
          <a:xfrm>
            <a:off x="548640" y="1874520"/>
            <a:ext cx="6222318" cy="4251960"/>
          </a:xfrm>
          <a:prstGeom prst="rect">
            <a:avLst/>
          </a:prstGeom>
        </p:spPr>
      </p:pic>
      <p:sp>
        <p:nvSpPr>
          <p:cNvPr id="8" name="Shape 4"/>
          <p:cNvSpPr/>
          <p:nvPr/>
        </p:nvSpPr>
        <p:spPr>
          <a:xfrm>
            <a:off x="6995160" y="1920240"/>
            <a:ext cx="420624" cy="420624"/>
          </a:xfrm>
          <a:prstGeom prst="roundRect">
            <a:avLst>
              <a:gd name="adj" fmla="val 17391"/>
            </a:avLst>
          </a:prstGeom>
          <a:solidFill>
            <a:srgbClr val="21295C"/>
          </a:solidFill>
          <a:ln/>
        </p:spPr>
      </p:sp>
      <p:sp>
        <p:nvSpPr>
          <p:cNvPr id="9" name="Text 5"/>
          <p:cNvSpPr txBox="1"/>
          <p:nvPr/>
        </p:nvSpPr>
        <p:spPr>
          <a:xfrm>
            <a:off x="699516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0" name="Text 6"/>
          <p:cNvSpPr txBox="1"/>
          <p:nvPr/>
        </p:nvSpPr>
        <p:spPr>
          <a:xfrm>
            <a:off x="7562088" y="1901952"/>
            <a:ext cx="407822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CLAHE clip limit</a:t>
            </a:r>
            <a:endParaRPr lang="en-US" sz="1500" dirty="0"/>
          </a:p>
        </p:txBody>
      </p:sp>
      <p:sp>
        <p:nvSpPr>
          <p:cNvPr id="11" name="Text 7"/>
          <p:cNvSpPr txBox="1"/>
          <p:nvPr/>
        </p:nvSpPr>
        <p:spPr>
          <a:xfrm>
            <a:off x="7562088" y="2231136"/>
            <a:ext cx="4078224" cy="4572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Caps local contrast amplification.  Search range 1.0 to 5.0</a:t>
            </a:r>
            <a:endParaRPr lang="en-US" sz="1250" dirty="0"/>
          </a:p>
        </p:txBody>
      </p:sp>
      <p:sp>
        <p:nvSpPr>
          <p:cNvPr id="12" name="Shape 8"/>
          <p:cNvSpPr/>
          <p:nvPr/>
        </p:nvSpPr>
        <p:spPr>
          <a:xfrm>
            <a:off x="6995160" y="2770632"/>
            <a:ext cx="420624" cy="420624"/>
          </a:xfrm>
          <a:prstGeom prst="roundRect">
            <a:avLst>
              <a:gd name="adj" fmla="val 17391"/>
            </a:avLst>
          </a:prstGeom>
          <a:solidFill>
            <a:srgbClr val="21295C"/>
          </a:solidFill>
          <a:ln/>
        </p:spPr>
      </p:sp>
      <p:sp>
        <p:nvSpPr>
          <p:cNvPr id="13" name="Text 9"/>
          <p:cNvSpPr txBox="1"/>
          <p:nvPr/>
        </p:nvSpPr>
        <p:spPr>
          <a:xfrm>
            <a:off x="6995160" y="2770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4" name="Text 10"/>
          <p:cNvSpPr txBox="1"/>
          <p:nvPr/>
        </p:nvSpPr>
        <p:spPr>
          <a:xfrm>
            <a:off x="7562088" y="2752344"/>
            <a:ext cx="407822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CLAHE tile grid</a:t>
            </a:r>
            <a:endParaRPr lang="en-US" sz="1500" dirty="0"/>
          </a:p>
        </p:txBody>
      </p:sp>
      <p:sp>
        <p:nvSpPr>
          <p:cNvPr id="15" name="Text 11"/>
          <p:cNvSpPr txBox="1"/>
          <p:nvPr/>
        </p:nvSpPr>
        <p:spPr>
          <a:xfrm>
            <a:off x="7562088" y="3081528"/>
            <a:ext cx="4078224" cy="4572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Neighbourhood size for local contrast.  Search range 4 to 16</a:t>
            </a:r>
            <a:endParaRPr lang="en-US" sz="1250" dirty="0"/>
          </a:p>
        </p:txBody>
      </p:sp>
      <p:sp>
        <p:nvSpPr>
          <p:cNvPr id="16" name="Shape 12"/>
          <p:cNvSpPr/>
          <p:nvPr/>
        </p:nvSpPr>
        <p:spPr>
          <a:xfrm>
            <a:off x="6995160" y="3621024"/>
            <a:ext cx="420624" cy="420624"/>
          </a:xfrm>
          <a:prstGeom prst="roundRect">
            <a:avLst>
              <a:gd name="adj" fmla="val 17391"/>
            </a:avLst>
          </a:prstGeom>
          <a:solidFill>
            <a:srgbClr val="21295C"/>
          </a:solidFill>
          <a:ln/>
        </p:spPr>
      </p:sp>
      <p:sp>
        <p:nvSpPr>
          <p:cNvPr id="17" name="Text 13"/>
          <p:cNvSpPr txBox="1"/>
          <p:nvPr/>
        </p:nvSpPr>
        <p:spPr>
          <a:xfrm>
            <a:off x="6995160" y="362102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8" name="Text 14"/>
          <p:cNvSpPr txBox="1"/>
          <p:nvPr/>
        </p:nvSpPr>
        <p:spPr>
          <a:xfrm>
            <a:off x="7562088" y="3602736"/>
            <a:ext cx="407822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Denoising strength h</a:t>
            </a:r>
            <a:endParaRPr lang="en-US" sz="1500" dirty="0"/>
          </a:p>
        </p:txBody>
      </p:sp>
      <p:sp>
        <p:nvSpPr>
          <p:cNvPr id="19" name="Text 15"/>
          <p:cNvSpPr txBox="1"/>
          <p:nvPr/>
        </p:nvSpPr>
        <p:spPr>
          <a:xfrm>
            <a:off x="7562088" y="3931920"/>
            <a:ext cx="4078224" cy="4572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Non-local-means filter strength.  Search range 0 to 20</a:t>
            </a:r>
            <a:endParaRPr lang="en-US" sz="1250" dirty="0"/>
          </a:p>
        </p:txBody>
      </p:sp>
      <p:sp>
        <p:nvSpPr>
          <p:cNvPr id="20" name="Shape 16"/>
          <p:cNvSpPr/>
          <p:nvPr/>
        </p:nvSpPr>
        <p:spPr>
          <a:xfrm>
            <a:off x="6995160" y="4471416"/>
            <a:ext cx="420624" cy="420624"/>
          </a:xfrm>
          <a:prstGeom prst="roundRect">
            <a:avLst>
              <a:gd name="adj" fmla="val 17391"/>
            </a:avLst>
          </a:prstGeom>
          <a:solidFill>
            <a:srgbClr val="21295C"/>
          </a:solidFill>
          <a:ln/>
        </p:spPr>
      </p:sp>
      <p:sp>
        <p:nvSpPr>
          <p:cNvPr id="21" name="Text 17"/>
          <p:cNvSpPr txBox="1"/>
          <p:nvPr/>
        </p:nvSpPr>
        <p:spPr>
          <a:xfrm>
            <a:off x="6995160" y="4471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2" name="Text 18"/>
          <p:cNvSpPr txBox="1"/>
          <p:nvPr/>
        </p:nvSpPr>
        <p:spPr>
          <a:xfrm>
            <a:off x="7562088" y="4453128"/>
            <a:ext cx="4078224"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Gamma</a:t>
            </a:r>
            <a:endParaRPr lang="en-US" sz="1500" dirty="0"/>
          </a:p>
        </p:txBody>
      </p:sp>
      <p:sp>
        <p:nvSpPr>
          <p:cNvPr id="23" name="Text 19"/>
          <p:cNvSpPr txBox="1"/>
          <p:nvPr/>
        </p:nvSpPr>
        <p:spPr>
          <a:xfrm>
            <a:off x="7562088" y="4782312"/>
            <a:ext cx="4078224" cy="45720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Reshapes the brightness curve.  Search range 0.5 to 2.0</a:t>
            </a:r>
            <a:endParaRPr lang="en-US" sz="1250" dirty="0"/>
          </a:p>
        </p:txBody>
      </p:sp>
      <p:sp>
        <p:nvSpPr>
          <p:cNvPr id="24" name="Shape 20"/>
          <p:cNvSpPr/>
          <p:nvPr/>
        </p:nvSpPr>
        <p:spPr>
          <a:xfrm>
            <a:off x="6995160" y="5349240"/>
            <a:ext cx="4645152" cy="777240"/>
          </a:xfrm>
          <a:prstGeom prst="roundRect">
            <a:avLst>
              <a:gd name="adj" fmla="val 7059"/>
            </a:avLst>
          </a:prstGeom>
          <a:solidFill>
            <a:srgbClr val="F3F6F9"/>
          </a:solidFill>
          <a:ln w="9525">
            <a:solidFill>
              <a:srgbClr val="DCE3E8"/>
            </a:solidFill>
            <a:prstDash val="solid"/>
          </a:ln>
        </p:spPr>
      </p:sp>
      <p:sp>
        <p:nvSpPr>
          <p:cNvPr id="25" name="Text 21"/>
          <p:cNvSpPr txBox="1"/>
          <p:nvPr/>
        </p:nvSpPr>
        <p:spPr>
          <a:xfrm>
            <a:off x="7223760" y="5349240"/>
            <a:ext cx="4206240" cy="777240"/>
          </a:xfrm>
          <a:prstGeom prst="rect">
            <a:avLst/>
          </a:prstGeom>
          <a:noFill/>
          <a:ln/>
        </p:spPr>
        <p:txBody>
          <a:bodyPr wrap="square" lIns="0" tIns="0" rIns="0" bIns="0" rtlCol="0" anchor="ctr"/>
          <a:lstStyle/>
          <a:p>
            <a:pPr marL="0" indent="0">
              <a:buNone/>
            </a:pPr>
            <a:r>
              <a:rPr lang="en-US" sz="1250" dirty="0">
                <a:solidFill>
                  <a:srgbClr val="1A2233"/>
                </a:solidFill>
                <a:latin typeface="Calibri" pitchFamily="34" charset="0"/>
                <a:ea typeface="Calibri" pitchFamily="34" charset="-122"/>
                <a:cs typeface="Calibri" pitchFamily="34" charset="-120"/>
              </a:rPr>
              <a:t>Enhancement is computed once per configuration across 12 CPU workers, because non-local-means denoising costs about 0.6 s per image.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OPTIMIZATION DESIGN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How the Search Is Set Up</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920240"/>
            <a:ext cx="5760720" cy="1143000"/>
          </a:xfrm>
          <a:prstGeom prst="roundRect">
            <a:avLst>
              <a:gd name="adj" fmla="val 4800"/>
            </a:avLst>
          </a:prstGeom>
          <a:solidFill>
            <a:srgbClr val="F3F6F9"/>
          </a:solidFill>
          <a:ln w="9525">
            <a:solidFill>
              <a:srgbClr val="DCE3E8"/>
            </a:solidFill>
            <a:prstDash val="solid"/>
          </a:ln>
        </p:spPr>
      </p:sp>
      <p:sp>
        <p:nvSpPr>
          <p:cNvPr id="8" name="Text 5"/>
          <p:cNvSpPr txBox="1"/>
          <p:nvPr/>
        </p:nvSpPr>
        <p:spPr>
          <a:xfrm>
            <a:off x="822960" y="1965960"/>
            <a:ext cx="5303520" cy="1051560"/>
          </a:xfrm>
          <a:prstGeom prst="rect">
            <a:avLst/>
          </a:prstGeom>
          <a:noFill/>
          <a:ln/>
        </p:spPr>
        <p:txBody>
          <a:bodyPr wrap="square" lIns="0" tIns="0" rIns="0" bIns="0" rtlCol="0" anchor="ctr"/>
          <a:lstStyle/>
          <a:p>
            <a:pPr marL="0" indent="0">
              <a:buNone/>
            </a:pPr>
            <a:r>
              <a:rPr lang="en-US" sz="1500" b="1" dirty="0">
                <a:solidFill>
                  <a:srgbClr val="21295C"/>
                </a:solidFill>
                <a:latin typeface="Calibri" pitchFamily="34" charset="0"/>
                <a:ea typeface="Calibri" pitchFamily="34" charset="-122"/>
                <a:cs typeface="Calibri" pitchFamily="34" charset="-120"/>
              </a:rPr>
              <a:t>Fitness, maximized on the validation split</a:t>
            </a:r>
            <a:endParaRPr lang="en-US" sz="1400" dirty="0"/>
          </a:p>
          <a:p>
            <a:pPr marL="0" indent="0">
              <a:buNone/>
            </a:pPr>
            <a:r>
              <a:rPr lang="en-US" sz="1300" dirty="0">
                <a:solidFill>
                  <a:srgbClr val="1A2233"/>
                </a:solidFill>
                <a:latin typeface="Cambria" pitchFamily="34" charset="0"/>
                <a:ea typeface="Cambria" pitchFamily="34" charset="-122"/>
                <a:cs typeface="Cambria" pitchFamily="34" charset="-120"/>
              </a:rPr>
              <a:t>F = 0.30 AUC_diag + 0.15 AUC_local + 0.25 Dice_kidney + 0.25 Dice_lesion+ + 0.05 (1 - violation)</a:t>
            </a:r>
            <a:endParaRPr lang="en-US" sz="1400" dirty="0"/>
          </a:p>
        </p:txBody>
      </p:sp>
      <p:sp>
        <p:nvSpPr>
          <p:cNvPr id="9" name="Text 6"/>
          <p:cNvSpPr txBox="1"/>
          <p:nvPr/>
        </p:nvSpPr>
        <p:spPr>
          <a:xfrm>
            <a:off x="548640" y="3246120"/>
            <a:ext cx="57607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Share of fitness by objective</a:t>
            </a:r>
            <a:endParaRPr lang="en-US" sz="1300" dirty="0"/>
          </a:p>
        </p:txBody>
      </p:sp>
      <p:graphicFrame>
        <p:nvGraphicFramePr>
          <p:cNvPr id="10" name="Chart 0"/>
          <p:cNvGraphicFramePr/>
          <p:nvPr/>
        </p:nvGraphicFramePr>
        <p:xfrm>
          <a:off x="548640" y="3520440"/>
          <a:ext cx="576072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1" name="Shape 7"/>
          <p:cNvSpPr/>
          <p:nvPr/>
        </p:nvSpPr>
        <p:spPr>
          <a:xfrm>
            <a:off x="6629400" y="1920240"/>
            <a:ext cx="5010912" cy="941832"/>
          </a:xfrm>
          <a:prstGeom prst="roundRect">
            <a:avLst>
              <a:gd name="adj" fmla="val 5825"/>
            </a:avLst>
          </a:prstGeom>
          <a:solidFill>
            <a:srgbClr val="F3F6F9"/>
          </a:solidFill>
          <a:ln w="9525">
            <a:solidFill>
              <a:srgbClr val="DCE3E8"/>
            </a:solidFill>
            <a:prstDash val="solid"/>
          </a:ln>
        </p:spPr>
      </p:sp>
      <p:sp>
        <p:nvSpPr>
          <p:cNvPr id="12" name="Text 8"/>
          <p:cNvSpPr txBox="1"/>
          <p:nvPr/>
        </p:nvSpPr>
        <p:spPr>
          <a:xfrm>
            <a:off x="6858000" y="1920240"/>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10 parameters</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6 loss weights in [0.1, 5.0] and 4 enhancement settings, searched jointly</a:t>
            </a:r>
            <a:endParaRPr lang="en-US" sz="1400" dirty="0"/>
          </a:p>
        </p:txBody>
      </p:sp>
      <p:sp>
        <p:nvSpPr>
          <p:cNvPr id="13" name="Shape 9"/>
          <p:cNvSpPr/>
          <p:nvPr/>
        </p:nvSpPr>
        <p:spPr>
          <a:xfrm>
            <a:off x="6629400" y="2990088"/>
            <a:ext cx="5010912" cy="941832"/>
          </a:xfrm>
          <a:prstGeom prst="roundRect">
            <a:avLst>
              <a:gd name="adj" fmla="val 5825"/>
            </a:avLst>
          </a:prstGeom>
          <a:solidFill>
            <a:srgbClr val="F3F6F9"/>
          </a:solidFill>
          <a:ln w="9525">
            <a:solidFill>
              <a:srgbClr val="DCE3E8"/>
            </a:solidFill>
            <a:prstDash val="solid"/>
          </a:ln>
        </p:spPr>
      </p:sp>
      <p:sp>
        <p:nvSpPr>
          <p:cNvPr id="14" name="Text 10"/>
          <p:cNvSpPr txBox="1"/>
          <p:nvPr/>
        </p:nvSpPr>
        <p:spPr>
          <a:xfrm>
            <a:off x="6858000" y="2990088"/>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Equal budget</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60 model trainings per optimizer, 180 in total, capped on trainings rather than iterations</a:t>
            </a:r>
            <a:endParaRPr lang="en-US" sz="1400" dirty="0"/>
          </a:p>
        </p:txBody>
      </p:sp>
      <p:sp>
        <p:nvSpPr>
          <p:cNvPr id="15" name="Shape 11"/>
          <p:cNvSpPr/>
          <p:nvPr/>
        </p:nvSpPr>
        <p:spPr>
          <a:xfrm>
            <a:off x="6629400" y="4059936"/>
            <a:ext cx="5010912" cy="941832"/>
          </a:xfrm>
          <a:prstGeom prst="roundRect">
            <a:avLst>
              <a:gd name="adj" fmla="val 5825"/>
            </a:avLst>
          </a:prstGeom>
          <a:solidFill>
            <a:srgbClr val="F3F6F9"/>
          </a:solidFill>
          <a:ln w="9525">
            <a:solidFill>
              <a:srgbClr val="DCE3E8"/>
            </a:solidFill>
            <a:prstDash val="solid"/>
          </a:ln>
        </p:spPr>
      </p:sp>
      <p:sp>
        <p:nvSpPr>
          <p:cNvPr id="16" name="Text 12"/>
          <p:cNvSpPr txBox="1"/>
          <p:nvPr/>
        </p:nvSpPr>
        <p:spPr>
          <a:xfrm>
            <a:off x="6858000" y="4059936"/>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Cheap evaluation</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Each candidate trained 3 epochs at 256 x 256, about 2 minutes, then scored on validation</a:t>
            </a:r>
            <a:endParaRPr lang="en-US" sz="1400" dirty="0"/>
          </a:p>
        </p:txBody>
      </p:sp>
      <p:sp>
        <p:nvSpPr>
          <p:cNvPr id="17" name="Shape 13"/>
          <p:cNvSpPr/>
          <p:nvPr/>
        </p:nvSpPr>
        <p:spPr>
          <a:xfrm>
            <a:off x="6629400" y="5129784"/>
            <a:ext cx="5010912" cy="941832"/>
          </a:xfrm>
          <a:prstGeom prst="roundRect">
            <a:avLst>
              <a:gd name="adj" fmla="val 5825"/>
            </a:avLst>
          </a:prstGeom>
          <a:solidFill>
            <a:srgbClr val="F3F6F9"/>
          </a:solidFill>
          <a:ln w="9525">
            <a:solidFill>
              <a:srgbClr val="DCE3E8"/>
            </a:solidFill>
            <a:prstDash val="solid"/>
          </a:ln>
        </p:spPr>
      </p:sp>
      <p:sp>
        <p:nvSpPr>
          <p:cNvPr id="18" name="Text 14"/>
          <p:cNvSpPr txBox="1"/>
          <p:nvPr/>
        </p:nvSpPr>
        <p:spPr>
          <a:xfrm>
            <a:off x="6858000" y="5129784"/>
            <a:ext cx="4617720" cy="941832"/>
          </a:xfrm>
          <a:prstGeom prst="rect">
            <a:avLst/>
          </a:prstGeom>
          <a:noFill/>
          <a:ln/>
        </p:spPr>
        <p:txBody>
          <a:bodyPr wrap="square" lIns="0" tIns="0" rIns="0" bIns="0" rtlCol="0" anchor="ctr"/>
          <a:lstStyle/>
          <a:p>
            <a:pPr marL="0" indent="0">
              <a:buNone/>
            </a:pPr>
            <a:r>
              <a:rPr lang="en-US" sz="1450" b="1" dirty="0">
                <a:solidFill>
                  <a:srgbClr val="21295C"/>
                </a:solidFill>
                <a:latin typeface="Calibri" pitchFamily="34" charset="0"/>
                <a:ea typeface="Calibri" pitchFamily="34" charset="-122"/>
                <a:cs typeface="Calibri" pitchFamily="34" charset="-120"/>
              </a:rPr>
              <a:t>Common start</a:t>
            </a:r>
            <a:endParaRPr lang="en-US" sz="1400" dirty="0"/>
          </a:p>
          <a:p>
            <a:pPr marL="0" indent="0">
              <a:buNone/>
            </a:pPr>
            <a:r>
              <a:rPr lang="en-US" sz="1250" dirty="0">
                <a:solidFill>
                  <a:srgbClr val="5B6B79"/>
                </a:solidFill>
                <a:latin typeface="Calibri" pitchFamily="34" charset="0"/>
                <a:ea typeface="Calibri" pitchFamily="34" charset="-122"/>
                <a:cs typeface="Calibri" pitchFamily="34" charset="-120"/>
              </a:rPr>
              <a:t>Same random seed, so all optimizers begin from the same 6 candidates; every result is cached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OPTIMIZATION DESIGN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Three Metaheuristics Compared</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13</a:t>
            </a:r>
            <a:endParaRPr lang="en-US" sz="1000" dirty="0"/>
          </a:p>
        </p:txBody>
      </p:sp>
      <p:sp>
        <p:nvSpPr>
          <p:cNvPr id="7" name="Shape 4"/>
          <p:cNvSpPr/>
          <p:nvPr/>
        </p:nvSpPr>
        <p:spPr>
          <a:xfrm>
            <a:off x="548640" y="1920240"/>
            <a:ext cx="3566160" cy="2240280"/>
          </a:xfrm>
          <a:prstGeom prst="roundRect">
            <a:avLst>
              <a:gd name="adj" fmla="val 2449"/>
            </a:avLst>
          </a:prstGeom>
          <a:solidFill>
            <a:srgbClr val="F3F6F9"/>
          </a:solidFill>
          <a:ln w="9525">
            <a:solidFill>
              <a:srgbClr val="DCE3E8"/>
            </a:solidFill>
            <a:prstDash val="solid"/>
          </a:ln>
        </p:spPr>
      </p:sp>
      <p:sp>
        <p:nvSpPr>
          <p:cNvPr id="8" name="Text 5"/>
          <p:cNvSpPr txBox="1"/>
          <p:nvPr/>
        </p:nvSpPr>
        <p:spPr>
          <a:xfrm>
            <a:off x="822960" y="2057400"/>
            <a:ext cx="1371600" cy="502920"/>
          </a:xfrm>
          <a:prstGeom prst="rect">
            <a:avLst/>
          </a:prstGeom>
          <a:noFill/>
          <a:ln/>
        </p:spPr>
        <p:txBody>
          <a:bodyPr wrap="square" lIns="0" tIns="0" rIns="0" bIns="0" rtlCol="0" anchor="t"/>
          <a:lstStyle/>
          <a:p>
            <a:pPr marL="0" indent="0">
              <a:buNone/>
            </a:pPr>
            <a:r>
              <a:rPr lang="en-US" sz="2600" b="1" dirty="0">
                <a:solidFill>
                  <a:srgbClr val="21295C"/>
                </a:solidFill>
                <a:latin typeface="Cambria" pitchFamily="34" charset="0"/>
                <a:ea typeface="Cambria" pitchFamily="34" charset="-122"/>
                <a:cs typeface="Cambria" pitchFamily="34" charset="-120"/>
              </a:rPr>
              <a:t>COA</a:t>
            </a:r>
            <a:endParaRPr lang="en-US" sz="2600" dirty="0"/>
          </a:p>
        </p:txBody>
      </p:sp>
      <p:sp>
        <p:nvSpPr>
          <p:cNvPr id="9" name="Text 6"/>
          <p:cNvSpPr txBox="1"/>
          <p:nvPr/>
        </p:nvSpPr>
        <p:spPr>
          <a:xfrm>
            <a:off x="822960" y="2560320"/>
            <a:ext cx="3108960" cy="548640"/>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Coati Optimization Algorithm</a:t>
            </a:r>
            <a:endParaRPr lang="en-US" sz="1300" dirty="0"/>
          </a:p>
          <a:p>
            <a:pPr marL="0" indent="0">
              <a:buNone/>
            </a:pPr>
            <a:r>
              <a:rPr lang="en-US" sz="1100" i="1" dirty="0">
                <a:solidFill>
                  <a:srgbClr val="5B6B79"/>
                </a:solidFill>
                <a:latin typeface="Calibri" pitchFamily="34" charset="0"/>
                <a:ea typeface="Calibri" pitchFamily="34" charset="-122"/>
                <a:cs typeface="Calibri" pitchFamily="34" charset="-120"/>
              </a:rPr>
              <a:t>Dehghani et al., 2023</a:t>
            </a:r>
            <a:endParaRPr lang="en-US" sz="1300" dirty="0"/>
          </a:p>
        </p:txBody>
      </p:sp>
      <p:sp>
        <p:nvSpPr>
          <p:cNvPr id="10" name="Text 7"/>
          <p:cNvSpPr txBox="1"/>
          <p:nvPr/>
        </p:nvSpPr>
        <p:spPr>
          <a:xfrm>
            <a:off x="822960" y="3154680"/>
            <a:ext cx="3063240" cy="9601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Half the population moves toward the best solution, half toward a random point; then a local search with a radius that shrinks each iteration.</a:t>
            </a:r>
            <a:endParaRPr lang="en-US" sz="1200" dirty="0"/>
          </a:p>
        </p:txBody>
      </p:sp>
      <p:sp>
        <p:nvSpPr>
          <p:cNvPr id="11" name="Shape 8"/>
          <p:cNvSpPr/>
          <p:nvPr/>
        </p:nvSpPr>
        <p:spPr>
          <a:xfrm>
            <a:off x="4311396" y="1920240"/>
            <a:ext cx="3566160" cy="2240280"/>
          </a:xfrm>
          <a:prstGeom prst="roundRect">
            <a:avLst>
              <a:gd name="adj" fmla="val 2449"/>
            </a:avLst>
          </a:prstGeom>
          <a:solidFill>
            <a:srgbClr val="F3F6F9"/>
          </a:solidFill>
          <a:ln w="9525">
            <a:solidFill>
              <a:srgbClr val="DCE3E8"/>
            </a:solidFill>
            <a:prstDash val="solid"/>
          </a:ln>
        </p:spPr>
      </p:sp>
      <p:sp>
        <p:nvSpPr>
          <p:cNvPr id="12" name="Text 9"/>
          <p:cNvSpPr txBox="1"/>
          <p:nvPr/>
        </p:nvSpPr>
        <p:spPr>
          <a:xfrm>
            <a:off x="4585716" y="2057400"/>
            <a:ext cx="1371600" cy="502920"/>
          </a:xfrm>
          <a:prstGeom prst="rect">
            <a:avLst/>
          </a:prstGeom>
          <a:noFill/>
          <a:ln/>
        </p:spPr>
        <p:txBody>
          <a:bodyPr wrap="square" lIns="0" tIns="0" rIns="0" bIns="0" rtlCol="0" anchor="t"/>
          <a:lstStyle/>
          <a:p>
            <a:pPr marL="0" indent="0">
              <a:buNone/>
            </a:pPr>
            <a:r>
              <a:rPr lang="en-US" sz="2600" b="1" dirty="0">
                <a:solidFill>
                  <a:srgbClr val="21295C"/>
                </a:solidFill>
                <a:latin typeface="Cambria" pitchFamily="34" charset="0"/>
                <a:ea typeface="Cambria" pitchFamily="34" charset="-122"/>
                <a:cs typeface="Cambria" pitchFamily="34" charset="-120"/>
              </a:rPr>
              <a:t>WOA</a:t>
            </a:r>
            <a:endParaRPr lang="en-US" sz="2600" dirty="0"/>
          </a:p>
        </p:txBody>
      </p:sp>
      <p:sp>
        <p:nvSpPr>
          <p:cNvPr id="13" name="Text 10"/>
          <p:cNvSpPr txBox="1"/>
          <p:nvPr/>
        </p:nvSpPr>
        <p:spPr>
          <a:xfrm>
            <a:off x="4585716" y="2560320"/>
            <a:ext cx="3108960" cy="548640"/>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Whale Optimization Algorithm</a:t>
            </a:r>
            <a:endParaRPr lang="en-US" sz="1300" dirty="0"/>
          </a:p>
          <a:p>
            <a:pPr marL="0" indent="0">
              <a:buNone/>
            </a:pPr>
            <a:r>
              <a:rPr lang="en-US" sz="1100" i="1" dirty="0">
                <a:solidFill>
                  <a:srgbClr val="5B6B79"/>
                </a:solidFill>
                <a:latin typeface="Calibri" pitchFamily="34" charset="0"/>
                <a:ea typeface="Calibri" pitchFamily="34" charset="-122"/>
                <a:cs typeface="Calibri" pitchFamily="34" charset="-120"/>
              </a:rPr>
              <a:t>Mirjalili and Lewis, 2016</a:t>
            </a:r>
            <a:endParaRPr lang="en-US" sz="1300" dirty="0"/>
          </a:p>
        </p:txBody>
      </p:sp>
      <p:sp>
        <p:nvSpPr>
          <p:cNvPr id="14" name="Text 11"/>
          <p:cNvSpPr txBox="1"/>
          <p:nvPr/>
        </p:nvSpPr>
        <p:spPr>
          <a:xfrm>
            <a:off x="4585716" y="3154680"/>
            <a:ext cx="3063240" cy="9601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Encircles the best solution, explores via random agents, and exploits with a spiral update; step size shrinks over time.</a:t>
            </a:r>
            <a:endParaRPr lang="en-US" sz="1200" dirty="0"/>
          </a:p>
        </p:txBody>
      </p:sp>
      <p:sp>
        <p:nvSpPr>
          <p:cNvPr id="15" name="Shape 12"/>
          <p:cNvSpPr/>
          <p:nvPr/>
        </p:nvSpPr>
        <p:spPr>
          <a:xfrm>
            <a:off x="8074152" y="1920240"/>
            <a:ext cx="3566160" cy="2240280"/>
          </a:xfrm>
          <a:prstGeom prst="roundRect">
            <a:avLst>
              <a:gd name="adj" fmla="val 2449"/>
            </a:avLst>
          </a:prstGeom>
          <a:solidFill>
            <a:srgbClr val="F3F6F9"/>
          </a:solidFill>
          <a:ln w="9525">
            <a:solidFill>
              <a:srgbClr val="DCE3E8"/>
            </a:solidFill>
            <a:prstDash val="solid"/>
          </a:ln>
        </p:spPr>
      </p:sp>
      <p:sp>
        <p:nvSpPr>
          <p:cNvPr id="16" name="Text 13"/>
          <p:cNvSpPr txBox="1"/>
          <p:nvPr/>
        </p:nvSpPr>
        <p:spPr>
          <a:xfrm>
            <a:off x="8348472" y="2057400"/>
            <a:ext cx="1371600" cy="502920"/>
          </a:xfrm>
          <a:prstGeom prst="rect">
            <a:avLst/>
          </a:prstGeom>
          <a:noFill/>
          <a:ln/>
        </p:spPr>
        <p:txBody>
          <a:bodyPr wrap="square" lIns="0" tIns="0" rIns="0" bIns="0" rtlCol="0" anchor="t"/>
          <a:lstStyle/>
          <a:p>
            <a:pPr marL="0" indent="0">
              <a:buNone/>
            </a:pPr>
            <a:r>
              <a:rPr lang="en-US" sz="2600" b="1" dirty="0">
                <a:solidFill>
                  <a:srgbClr val="21295C"/>
                </a:solidFill>
                <a:latin typeface="Cambria" pitchFamily="34" charset="0"/>
                <a:ea typeface="Cambria" pitchFamily="34" charset="-122"/>
                <a:cs typeface="Cambria" pitchFamily="34" charset="-120"/>
              </a:rPr>
              <a:t>GWO</a:t>
            </a:r>
            <a:endParaRPr lang="en-US" sz="2600" dirty="0"/>
          </a:p>
        </p:txBody>
      </p:sp>
      <p:sp>
        <p:nvSpPr>
          <p:cNvPr id="17" name="Text 14"/>
          <p:cNvSpPr txBox="1"/>
          <p:nvPr/>
        </p:nvSpPr>
        <p:spPr>
          <a:xfrm>
            <a:off x="8348472" y="2560320"/>
            <a:ext cx="3108960" cy="548640"/>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Grey Wolf Optimizer</a:t>
            </a:r>
            <a:endParaRPr lang="en-US" sz="1300" dirty="0"/>
          </a:p>
          <a:p>
            <a:pPr marL="0" indent="0">
              <a:buNone/>
            </a:pPr>
            <a:r>
              <a:rPr lang="en-US" sz="1100" i="1" dirty="0">
                <a:solidFill>
                  <a:srgbClr val="5B6B79"/>
                </a:solidFill>
                <a:latin typeface="Calibri" pitchFamily="34" charset="0"/>
                <a:ea typeface="Calibri" pitchFamily="34" charset="-122"/>
                <a:cs typeface="Calibri" pitchFamily="34" charset="-120"/>
              </a:rPr>
              <a:t>Mirjalili et al., 2014</a:t>
            </a:r>
            <a:endParaRPr lang="en-US" sz="1300" dirty="0"/>
          </a:p>
        </p:txBody>
      </p:sp>
      <p:sp>
        <p:nvSpPr>
          <p:cNvPr id="18" name="Text 15"/>
          <p:cNvSpPr txBox="1"/>
          <p:nvPr/>
        </p:nvSpPr>
        <p:spPr>
          <a:xfrm>
            <a:off x="8348472" y="3154680"/>
            <a:ext cx="3063240" cy="9601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Moves every candidate toward the three best solutions so far (alpha, beta, delta); exploration shrinks linearly.</a:t>
            </a:r>
            <a:endParaRPr lang="en-US" sz="1200" dirty="0"/>
          </a:p>
        </p:txBody>
      </p:sp>
      <p:sp>
        <p:nvSpPr>
          <p:cNvPr id="19" name="Text 16"/>
          <p:cNvSpPr txBox="1"/>
          <p:nvPr/>
        </p:nvSpPr>
        <p:spPr>
          <a:xfrm>
            <a:off x="548640" y="4343400"/>
            <a:ext cx="11094415"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Sanity check on standard test functions (10 dimensions, 1,000 evaluations, mean of 5 seeds; lower is better)</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4663440"/>
          <a:ext cx="11091672" cy="109728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993392">
                  <a:extLst>
                    <a:ext uri="{9D8B030D-6E8A-4147-A177-3AD203B41FA5}">
                      <a16:colId xmlns:a16="http://schemas.microsoft.com/office/drawing/2014/main" val="20002"/>
                    </a:ext>
                  </a:extLst>
                </a:gridCol>
                <a:gridCol w="1993392">
                  <a:extLst>
                    <a:ext uri="{9D8B030D-6E8A-4147-A177-3AD203B41FA5}">
                      <a16:colId xmlns:a16="http://schemas.microsoft.com/office/drawing/2014/main" val="20003"/>
                    </a:ext>
                  </a:extLst>
                </a:gridCol>
                <a:gridCol w="1984248">
                  <a:extLst>
                    <a:ext uri="{9D8B030D-6E8A-4147-A177-3AD203B41FA5}">
                      <a16:colId xmlns:a16="http://schemas.microsoft.com/office/drawing/2014/main" val="20004"/>
                    </a:ext>
                  </a:extLst>
                </a:gridCol>
              </a:tblGrid>
              <a:tr h="36576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Function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Landscape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GWO</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6576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Sphere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Smooth, one optimum</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6.9e-7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3.6e-4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1.3e-9</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Rastrigin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Many local optima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25.0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44.0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37.6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1" name="Text 17"/>
          <p:cNvSpPr txBox="1"/>
          <p:nvPr/>
        </p:nvSpPr>
        <p:spPr>
          <a:xfrm>
            <a:off x="548640" y="5897880"/>
            <a:ext cx="11094415" cy="411480"/>
          </a:xfrm>
          <a:prstGeom prst="rect">
            <a:avLst/>
          </a:prstGeom>
          <a:noFill/>
          <a:ln/>
        </p:spPr>
        <p:txBody>
          <a:bodyPr wrap="square" lIns="0" tIns="0" rIns="0" bIns="0" rtlCol="0" anchor="t"/>
          <a:lstStyle/>
          <a:p>
            <a:pPr marL="0" indent="0">
              <a:buNone/>
            </a:pPr>
            <a:r>
              <a:rPr lang="en-US" sz="1300" i="1" dirty="0">
                <a:solidFill>
                  <a:srgbClr val="1C7293"/>
                </a:solidFill>
                <a:latin typeface="Calibri" pitchFamily="34" charset="0"/>
                <a:ea typeface="Calibri" pitchFamily="34" charset="-122"/>
                <a:cs typeface="Calibri" pitchFamily="34" charset="-120"/>
              </a:rPr>
              <a:t>GWO is strongest on smooth landscapes; COA is strongest on multimodal ones, which is closer to what a noisy hyperparameter search looks like.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EXPERIMENTAL SETUP</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Protocol and Reproducibility Check</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548640" y="1920240"/>
            <a:ext cx="5120640" cy="2971800"/>
          </a:xfrm>
          <a:prstGeom prst="roundRect">
            <a:avLst>
              <a:gd name="adj" fmla="val 1846"/>
            </a:avLst>
          </a:prstGeom>
          <a:solidFill>
            <a:srgbClr val="F3F6F9"/>
          </a:solidFill>
          <a:ln w="9525">
            <a:solidFill>
              <a:srgbClr val="DCE3E8"/>
            </a:solidFill>
            <a:prstDash val="solid"/>
          </a:ln>
        </p:spPr>
      </p:sp>
      <p:sp>
        <p:nvSpPr>
          <p:cNvPr id="8" name="Text 5"/>
          <p:cNvSpPr txBox="1"/>
          <p:nvPr/>
        </p:nvSpPr>
        <p:spPr>
          <a:xfrm>
            <a:off x="822960" y="2103120"/>
            <a:ext cx="466344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Training protocol, identical for every phase</a:t>
            </a:r>
            <a:endParaRPr lang="en-US" sz="1600" dirty="0"/>
          </a:p>
        </p:txBody>
      </p:sp>
      <p:sp>
        <p:nvSpPr>
          <p:cNvPr id="9" name="Text 6"/>
          <p:cNvSpPr txBox="1"/>
          <p:nvPr/>
        </p:nvSpPr>
        <p:spPr>
          <a:xfrm>
            <a:off x="822960" y="2560320"/>
            <a:ext cx="4663440" cy="22860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Split: 70 / 15 / 15, stratified by diagnosis, seed 42</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Training: 15 epochs, batch 4, Adam, learning rate 1e-4</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Mixed precision; best checkpoint chosen on validation Dice</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Input: 512 x 512, normalized to [-1, 1]</a:t>
            </a:r>
            <a:endParaRPr lang="en-US" sz="1400" dirty="0"/>
          </a:p>
          <a:p>
            <a:pPr marL="177800" indent="-177800">
              <a:spcAft>
                <a:spcPts val="700"/>
              </a:spcAft>
              <a:buSzPct val="100000"/>
              <a:buChar char="•"/>
            </a:pPr>
            <a:r>
              <a:rPr lang="en-US" sz="1300" dirty="0">
                <a:solidFill>
                  <a:srgbClr val="1A2233"/>
                </a:solidFill>
                <a:latin typeface="Calibri" pitchFamily="34" charset="0"/>
                <a:ea typeface="Calibri" pitchFamily="34" charset="-122"/>
                <a:cs typeface="Calibri" pitchFamily="34" charset="-120"/>
              </a:rPr>
              <a:t>Hardware: RTX 3050 Laptop GPU, 4 GB</a:t>
            </a:r>
            <a:endParaRPr lang="en-US" sz="1400" dirty="0"/>
          </a:p>
        </p:txBody>
      </p:sp>
      <p:sp>
        <p:nvSpPr>
          <p:cNvPr id="10" name="Shape 7"/>
          <p:cNvSpPr/>
          <p:nvPr/>
        </p:nvSpPr>
        <p:spPr>
          <a:xfrm>
            <a:off x="548640" y="5029200"/>
            <a:ext cx="5120640" cy="1143000"/>
          </a:xfrm>
          <a:prstGeom prst="roundRect">
            <a:avLst>
              <a:gd name="adj" fmla="val 4800"/>
            </a:avLst>
          </a:prstGeom>
          <a:solidFill>
            <a:srgbClr val="F3F6F9"/>
          </a:solidFill>
          <a:ln w="9525">
            <a:solidFill>
              <a:srgbClr val="DCE3E8"/>
            </a:solidFill>
            <a:prstDash val="solid"/>
          </a:ln>
        </p:spPr>
      </p:sp>
      <p:sp>
        <p:nvSpPr>
          <p:cNvPr id="11" name="Text 8"/>
          <p:cNvSpPr txBox="1"/>
          <p:nvPr/>
        </p:nvSpPr>
        <p:spPr>
          <a:xfrm>
            <a:off x="822960" y="5029200"/>
            <a:ext cx="4663440" cy="1143000"/>
          </a:xfrm>
          <a:prstGeom prst="rect">
            <a:avLst/>
          </a:prstGeom>
          <a:noFill/>
          <a:ln/>
        </p:spPr>
        <p:txBody>
          <a:bodyPr wrap="square" lIns="0" tIns="0" rIns="0" bIns="0" rtlCol="0" anchor="ctr"/>
          <a:lstStyle/>
          <a:p>
            <a:pPr marL="0" indent="0">
              <a:buNone/>
            </a:pPr>
            <a:r>
              <a:rPr lang="en-US" sz="1250" b="1" dirty="0">
                <a:solidFill>
                  <a:srgbClr val="21295C"/>
                </a:solidFill>
                <a:latin typeface="Calibri" pitchFamily="34" charset="0"/>
                <a:ea typeface="Calibri" pitchFamily="34" charset="-122"/>
                <a:cs typeface="Calibri" pitchFamily="34" charset="-120"/>
              </a:rPr>
              <a:t>Metrics.  </a:t>
            </a:r>
            <a:r>
              <a:rPr lang="en-US" sz="1250" dirty="0">
                <a:solidFill>
                  <a:srgbClr val="1A2233"/>
                </a:solidFill>
                <a:latin typeface="Calibri" pitchFamily="34" charset="0"/>
                <a:ea typeface="Calibri" pitchFamily="34" charset="-122"/>
                <a:cs typeface="Calibri" pitchFamily="34" charset="-120"/>
              </a:rPr>
              <a:t>AUC: ranking quality, 0.5 is chance.  Dice: overlap, 1 is perfect.  Violation rate: share of lesion probability outside the kidney, lower is better.</a:t>
            </a:r>
            <a:endParaRPr lang="en-US" sz="1250" dirty="0"/>
          </a:p>
        </p:txBody>
      </p:sp>
      <p:sp>
        <p:nvSpPr>
          <p:cNvPr id="12" name="Text 9"/>
          <p:cNvSpPr txBox="1"/>
          <p:nvPr/>
        </p:nvSpPr>
        <p:spPr>
          <a:xfrm>
            <a:off x="5989320" y="1920240"/>
            <a:ext cx="5650992"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Earlier checkpoints re-evaluated with the local implementation</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89320" y="2286000"/>
          <a:ext cx="5650992" cy="2523744"/>
        </p:xfrm>
        <a:graphic>
          <a:graphicData uri="http://schemas.openxmlformats.org/drawingml/2006/table">
            <a:tbl>
              <a:tblPr/>
              <a:tblGrid>
                <a:gridCol w="1234440">
                  <a:extLst>
                    <a:ext uri="{9D8B030D-6E8A-4147-A177-3AD203B41FA5}">
                      <a16:colId xmlns:a16="http://schemas.microsoft.com/office/drawing/2014/main" val="20000"/>
                    </a:ext>
                  </a:extLst>
                </a:gridCol>
                <a:gridCol w="1947672">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42062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Checkpoint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Metric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Original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Reproduced</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Diagnosis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0.9003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0.9001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Kidney Dice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0.8735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0.8733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Diagnosis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0.8712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0.8707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Local path.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0.7724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0.7723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Phase 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Violation rate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0.3790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0.3786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Shape 10"/>
          <p:cNvSpPr/>
          <p:nvPr/>
        </p:nvSpPr>
        <p:spPr>
          <a:xfrm>
            <a:off x="5989320" y="5029200"/>
            <a:ext cx="5650992" cy="1143000"/>
          </a:xfrm>
          <a:prstGeom prst="roundRect">
            <a:avLst>
              <a:gd name="adj" fmla="val 4800"/>
            </a:avLst>
          </a:prstGeom>
          <a:solidFill>
            <a:srgbClr val="E6F2EC"/>
          </a:solidFill>
          <a:ln w="9525">
            <a:solidFill>
              <a:srgbClr val="E6F2EC"/>
            </a:solidFill>
            <a:prstDash val="solid"/>
          </a:ln>
        </p:spPr>
      </p:sp>
      <p:sp>
        <p:nvSpPr>
          <p:cNvPr id="6" name="Text 11"/>
          <p:cNvSpPr txBox="1"/>
          <p:nvPr/>
        </p:nvSpPr>
        <p:spPr>
          <a:xfrm>
            <a:off x="6263640" y="5029200"/>
            <a:ext cx="5120640" cy="1143000"/>
          </a:xfrm>
          <a:prstGeom prst="rect">
            <a:avLst/>
          </a:prstGeom>
          <a:noFill/>
          <a:ln/>
        </p:spPr>
        <p:txBody>
          <a:bodyPr wrap="square" lIns="0" tIns="0" rIns="0" bIns="0" rtlCol="0" anchor="ctr"/>
          <a:lstStyle/>
          <a:p>
            <a:pPr marL="0" indent="0">
              <a:buNone/>
            </a:pPr>
            <a:r>
              <a:rPr lang="en-US" sz="1800" b="1" dirty="0">
                <a:solidFill>
                  <a:srgbClr val="2E7D5B"/>
                </a:solidFill>
                <a:latin typeface="Calibri" pitchFamily="34" charset="0"/>
                <a:ea typeface="Calibri" pitchFamily="34" charset="-122"/>
                <a:cs typeface="Calibri" pitchFamily="34" charset="-120"/>
              </a:rPr>
              <a:t>Largest difference: 0.0024</a:t>
            </a:r>
            <a:endParaRPr lang="en-US" sz="1400" dirty="0"/>
          </a:p>
          <a:p>
            <a:pPr marL="0" indent="0">
              <a:buNone/>
            </a:pPr>
            <a:r>
              <a:rPr lang="en-US" sz="1250" dirty="0">
                <a:solidFill>
                  <a:srgbClr val="1A2233"/>
                </a:solidFill>
                <a:latin typeface="Calibri" pitchFamily="34" charset="0"/>
                <a:ea typeface="Calibri" pitchFamily="34" charset="-122"/>
                <a:cs typeface="Calibri" pitchFamily="34" charset="-120"/>
              </a:rPr>
              <a:t>The reimplementation matches the original, so earlier and new results are comparable.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PHASES 2 AND 3</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Hand-Picked Enhancement Is Roughly Neutral</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15</a:t>
            </a:r>
            <a:endParaRPr lang="en-US" sz="1000" dirty="0"/>
          </a:p>
        </p:txBody>
      </p:sp>
      <p:sp>
        <p:nvSpPr>
          <p:cNvPr id="7" name="Text 4"/>
          <p:cNvSpPr txBox="1"/>
          <p:nvPr/>
        </p:nvSpPr>
        <p:spPr>
          <a:xfrm>
            <a:off x="548640" y="1874520"/>
            <a:ext cx="676656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Test-set performance at matched 15 epochs (axis starts at 0.70)</a:t>
            </a:r>
            <a:endParaRPr lang="en-US" sz="1300" dirty="0"/>
          </a:p>
        </p:txBody>
      </p:sp>
      <p:graphicFrame>
        <p:nvGraphicFramePr>
          <p:cNvPr id="8" name="Chart 0"/>
          <p:cNvGraphicFramePr/>
          <p:nvPr/>
        </p:nvGraphicFramePr>
        <p:xfrm>
          <a:off x="548640" y="2194560"/>
          <a:ext cx="676656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635240" y="1920240"/>
            <a:ext cx="4005072" cy="4251960"/>
          </a:xfrm>
          <a:prstGeom prst="roundRect">
            <a:avLst>
              <a:gd name="adj" fmla="val 1370"/>
            </a:avLst>
          </a:prstGeom>
          <a:solidFill>
            <a:srgbClr val="F3F6F9"/>
          </a:solidFill>
          <a:ln w="9525">
            <a:solidFill>
              <a:srgbClr val="DCE3E8"/>
            </a:solidFill>
            <a:prstDash val="solid"/>
          </a:ln>
        </p:spPr>
      </p:sp>
      <p:sp>
        <p:nvSpPr>
          <p:cNvPr id="10" name="Text 6"/>
          <p:cNvSpPr txBox="1"/>
          <p:nvPr/>
        </p:nvSpPr>
        <p:spPr>
          <a:xfrm>
            <a:off x="7909560" y="2103120"/>
            <a:ext cx="356616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What changed with enhancement</a:t>
            </a:r>
            <a:endParaRPr lang="en-US" sz="1600" dirty="0"/>
          </a:p>
        </p:txBody>
      </p:sp>
      <p:sp>
        <p:nvSpPr>
          <p:cNvPr id="11" name="Text 7"/>
          <p:cNvSpPr txBox="1"/>
          <p:nvPr/>
        </p:nvSpPr>
        <p:spPr>
          <a:xfrm>
            <a:off x="7909560" y="2606040"/>
            <a:ext cx="3566160" cy="502920"/>
          </a:xfrm>
          <a:prstGeom prst="rect">
            <a:avLst/>
          </a:prstGeom>
          <a:noFill/>
          <a:ln/>
        </p:spPr>
        <p:txBody>
          <a:bodyPr wrap="square" lIns="0" tIns="0" rIns="0" bIns="0" rtlCol="0" anchor="ctr"/>
          <a:lstStyle/>
          <a:p>
            <a:pPr marL="0" indent="0">
              <a:buNone/>
            </a:pPr>
            <a:r>
              <a:rPr lang="en-US" sz="2400" b="1" dirty="0">
                <a:solidFill>
                  <a:srgbClr val="2E7D5B"/>
                </a:solidFill>
                <a:latin typeface="Cambria" pitchFamily="34" charset="0"/>
                <a:ea typeface="Cambria" pitchFamily="34" charset="-122"/>
                <a:cs typeface="Cambria" pitchFamily="34" charset="-120"/>
              </a:rPr>
              <a:t>+0.003  </a:t>
            </a:r>
            <a:r>
              <a:rPr lang="en-US" sz="1350" dirty="0">
                <a:solidFill>
                  <a:srgbClr val="1A2233"/>
                </a:solidFill>
                <a:latin typeface="Calibri" pitchFamily="34" charset="0"/>
                <a:ea typeface="Calibri" pitchFamily="34" charset="-122"/>
                <a:cs typeface="Calibri" pitchFamily="34" charset="-120"/>
              </a:rPr>
              <a:t>kidney Dice</a:t>
            </a:r>
            <a:endParaRPr lang="en-US" sz="1400" dirty="0"/>
          </a:p>
        </p:txBody>
      </p:sp>
      <p:sp>
        <p:nvSpPr>
          <p:cNvPr id="12" name="Text 8"/>
          <p:cNvSpPr txBox="1"/>
          <p:nvPr/>
        </p:nvSpPr>
        <p:spPr>
          <a:xfrm>
            <a:off x="7909560" y="3172968"/>
            <a:ext cx="3566160" cy="502920"/>
          </a:xfrm>
          <a:prstGeom prst="rect">
            <a:avLst/>
          </a:prstGeom>
          <a:noFill/>
          <a:ln/>
        </p:spPr>
        <p:txBody>
          <a:bodyPr wrap="square" lIns="0" tIns="0" rIns="0" bIns="0" rtlCol="0" anchor="ctr"/>
          <a:lstStyle/>
          <a:p>
            <a:pPr marL="0" indent="0">
              <a:buNone/>
            </a:pPr>
            <a:r>
              <a:rPr lang="en-US" sz="2400" b="1" dirty="0">
                <a:solidFill>
                  <a:srgbClr val="B5483B"/>
                </a:solidFill>
                <a:latin typeface="Cambria" pitchFamily="34" charset="0"/>
                <a:ea typeface="Cambria" pitchFamily="34" charset="-122"/>
                <a:cs typeface="Cambria" pitchFamily="34" charset="-120"/>
              </a:rPr>
              <a:t>-0.011  </a:t>
            </a:r>
            <a:r>
              <a:rPr lang="en-US" sz="1350" dirty="0">
                <a:solidFill>
                  <a:srgbClr val="1A2233"/>
                </a:solidFill>
                <a:latin typeface="Calibri" pitchFamily="34" charset="0"/>
                <a:ea typeface="Calibri" pitchFamily="34" charset="-122"/>
                <a:cs typeface="Calibri" pitchFamily="34" charset="-120"/>
              </a:rPr>
              <a:t>diagnosis AUC</a:t>
            </a:r>
            <a:endParaRPr lang="en-US" sz="1400" dirty="0"/>
          </a:p>
        </p:txBody>
      </p:sp>
      <p:sp>
        <p:nvSpPr>
          <p:cNvPr id="13" name="Text 9"/>
          <p:cNvSpPr txBox="1"/>
          <p:nvPr/>
        </p:nvSpPr>
        <p:spPr>
          <a:xfrm>
            <a:off x="7909560" y="3739896"/>
            <a:ext cx="3566160" cy="502920"/>
          </a:xfrm>
          <a:prstGeom prst="rect">
            <a:avLst/>
          </a:prstGeom>
          <a:noFill/>
          <a:ln/>
        </p:spPr>
        <p:txBody>
          <a:bodyPr wrap="square" lIns="0" tIns="0" rIns="0" bIns="0" rtlCol="0" anchor="ctr"/>
          <a:lstStyle/>
          <a:p>
            <a:pPr marL="0" indent="0">
              <a:buNone/>
            </a:pPr>
            <a:r>
              <a:rPr lang="en-US" sz="2400" b="1" dirty="0">
                <a:solidFill>
                  <a:srgbClr val="B5483B"/>
                </a:solidFill>
                <a:latin typeface="Cambria" pitchFamily="34" charset="0"/>
                <a:ea typeface="Cambria" pitchFamily="34" charset="-122"/>
                <a:cs typeface="Cambria" pitchFamily="34" charset="-120"/>
              </a:rPr>
              <a:t>-0.024  </a:t>
            </a:r>
            <a:r>
              <a:rPr lang="en-US" sz="1350" dirty="0">
                <a:solidFill>
                  <a:srgbClr val="1A2233"/>
                </a:solidFill>
                <a:latin typeface="Calibri" pitchFamily="34" charset="0"/>
                <a:ea typeface="Calibri" pitchFamily="34" charset="-122"/>
                <a:cs typeface="Calibri" pitchFamily="34" charset="-120"/>
              </a:rPr>
              <a:t>global pathology AUC</a:t>
            </a:r>
            <a:endParaRPr lang="en-US" sz="1400" dirty="0"/>
          </a:p>
        </p:txBody>
      </p:sp>
      <p:sp>
        <p:nvSpPr>
          <p:cNvPr id="14" name="Text 10"/>
          <p:cNvSpPr txBox="1"/>
          <p:nvPr/>
        </p:nvSpPr>
        <p:spPr>
          <a:xfrm>
            <a:off x="7909560" y="4389120"/>
            <a:ext cx="3520440" cy="1691640"/>
          </a:xfrm>
          <a:prstGeom prst="rect">
            <a:avLst/>
          </a:prstGeom>
          <a:noFill/>
          <a:ln/>
        </p:spPr>
        <p:txBody>
          <a:bodyPr wrap="square" lIns="0" tIns="0" rIns="0" bIns="0" rtlCol="0" anchor="t"/>
          <a:lstStyle/>
          <a:p>
            <a:pPr marL="0" indent="0">
              <a:buNone/>
            </a:pPr>
            <a:r>
              <a:rPr lang="en-US" sz="1250" dirty="0">
                <a:solidFill>
                  <a:srgbClr val="5B6B79"/>
                </a:solidFill>
                <a:latin typeface="Calibri" pitchFamily="34" charset="0"/>
                <a:ea typeface="Calibri" pitchFamily="34" charset="-122"/>
                <a:cs typeface="Calibri" pitchFamily="34" charset="-120"/>
              </a:rPr>
              <a:t>The earlier comparison used 10 vs 15 epochs and could not be interpreted. At matched budgets the gain is small and classification drops, which is why Phase 6 optimizes these parameters instead of fixing them by hand.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EVALUATION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The Standard Lesion Dice Was Hiding Real Performance</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16</a:t>
            </a:r>
            <a:endParaRPr lang="en-US" sz="1000" dirty="0"/>
          </a:p>
        </p:txBody>
      </p:sp>
      <p:sp>
        <p:nvSpPr>
          <p:cNvPr id="7" name="Text 4"/>
          <p:cNvSpPr txBox="1"/>
          <p:nvPr/>
        </p:nvSpPr>
        <p:spPr>
          <a:xfrm>
            <a:off x="548640" y="1874520"/>
            <a:ext cx="61264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Lesion Dice on the test set</a:t>
            </a:r>
            <a:endParaRPr lang="en-US" sz="1300" dirty="0"/>
          </a:p>
        </p:txBody>
      </p:sp>
      <p:graphicFrame>
        <p:nvGraphicFramePr>
          <p:cNvPr id="8" name="Chart 0"/>
          <p:cNvGraphicFramePr/>
          <p:nvPr/>
        </p:nvGraphicFramePr>
        <p:xfrm>
          <a:off x="548640" y="2194560"/>
          <a:ext cx="612648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995160" y="1920240"/>
            <a:ext cx="4645152" cy="1188720"/>
          </a:xfrm>
          <a:prstGeom prst="roundRect">
            <a:avLst>
              <a:gd name="adj" fmla="val 4615"/>
            </a:avLst>
          </a:prstGeom>
          <a:solidFill>
            <a:srgbClr val="F3F6F9"/>
          </a:solidFill>
          <a:ln w="9525">
            <a:solidFill>
              <a:srgbClr val="DCE3E8"/>
            </a:solidFill>
            <a:prstDash val="solid"/>
          </a:ln>
        </p:spPr>
      </p:sp>
      <p:sp>
        <p:nvSpPr>
          <p:cNvPr id="10" name="Text 6"/>
          <p:cNvSpPr txBox="1"/>
          <p:nvPr/>
        </p:nvSpPr>
        <p:spPr>
          <a:xfrm>
            <a:off x="7269480" y="1920240"/>
            <a:ext cx="420624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0.319 vs 0.344</a:t>
            </a:r>
            <a:endParaRPr lang="en-US" sz="2600" dirty="0"/>
          </a:p>
        </p:txBody>
      </p:sp>
      <p:sp>
        <p:nvSpPr>
          <p:cNvPr id="11" name="Text 7"/>
          <p:cNvSpPr txBox="1"/>
          <p:nvPr/>
        </p:nvSpPr>
        <p:spPr>
          <a:xfrm>
            <a:off x="7269480" y="2523744"/>
            <a:ext cx="420624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all images: an empty prediction nearly matches the model</a:t>
            </a:r>
            <a:endParaRPr lang="en-US" sz="1200" dirty="0"/>
          </a:p>
        </p:txBody>
      </p:sp>
      <p:sp>
        <p:nvSpPr>
          <p:cNvPr id="12" name="Shape 8"/>
          <p:cNvSpPr/>
          <p:nvPr/>
        </p:nvSpPr>
        <p:spPr>
          <a:xfrm>
            <a:off x="6995160" y="3246120"/>
            <a:ext cx="4645152" cy="1188720"/>
          </a:xfrm>
          <a:prstGeom prst="roundRect">
            <a:avLst>
              <a:gd name="adj" fmla="val 4615"/>
            </a:avLst>
          </a:prstGeom>
          <a:solidFill>
            <a:srgbClr val="F3F6F9"/>
          </a:solidFill>
          <a:ln w="9525">
            <a:solidFill>
              <a:srgbClr val="DCE3E8"/>
            </a:solidFill>
            <a:prstDash val="solid"/>
          </a:ln>
        </p:spPr>
      </p:sp>
      <p:sp>
        <p:nvSpPr>
          <p:cNvPr id="13" name="Text 9"/>
          <p:cNvSpPr txBox="1"/>
          <p:nvPr/>
        </p:nvSpPr>
        <p:spPr>
          <a:xfrm>
            <a:off x="7269480" y="3246120"/>
            <a:ext cx="4206240" cy="566928"/>
          </a:xfrm>
          <a:prstGeom prst="rect">
            <a:avLst/>
          </a:prstGeom>
          <a:noFill/>
          <a:ln/>
        </p:spPr>
        <p:txBody>
          <a:bodyPr wrap="square" lIns="0" tIns="0" rIns="0" bIns="0" rtlCol="0" anchor="b"/>
          <a:lstStyle/>
          <a:p>
            <a:pPr marL="0" indent="0">
              <a:buNone/>
            </a:pPr>
            <a:r>
              <a:rPr lang="en-US" sz="2600" b="1" dirty="0">
                <a:solidFill>
                  <a:srgbClr val="21295C"/>
                </a:solidFill>
                <a:latin typeface="Cambria" pitchFamily="34" charset="0"/>
                <a:ea typeface="Cambria" pitchFamily="34" charset="-122"/>
                <a:cs typeface="Cambria" pitchFamily="34" charset="-120"/>
              </a:rPr>
              <a:t>0.000 vs 0.506</a:t>
            </a:r>
            <a:endParaRPr lang="en-US" sz="2600" dirty="0"/>
          </a:p>
        </p:txBody>
      </p:sp>
      <p:sp>
        <p:nvSpPr>
          <p:cNvPr id="14" name="Text 10"/>
          <p:cNvSpPr txBox="1"/>
          <p:nvPr/>
        </p:nvSpPr>
        <p:spPr>
          <a:xfrm>
            <a:off x="7269480" y="3849624"/>
            <a:ext cx="4206240" cy="502920"/>
          </a:xfrm>
          <a:prstGeom prst="rect">
            <a:avLst/>
          </a:prstGeom>
          <a:noFill/>
          <a:ln/>
        </p:spPr>
        <p:txBody>
          <a:bodyPr wrap="square" lIns="0" tIns="0" rIns="0" bIns="0" rtlCol="0" anchor="t"/>
          <a:lstStyle/>
          <a:p>
            <a:pPr marL="0" indent="0">
              <a:buNone/>
            </a:pPr>
            <a:r>
              <a:rPr lang="en-US" sz="1200" dirty="0">
                <a:solidFill>
                  <a:srgbClr val="5B6B79"/>
                </a:solidFill>
                <a:latin typeface="Calibri" pitchFamily="34" charset="0"/>
                <a:ea typeface="Calibri" pitchFamily="34" charset="-122"/>
                <a:cs typeface="Calibri" pitchFamily="34" charset="-120"/>
              </a:rPr>
              <a:t>lesion-bearing images: the gap is unmistakable</a:t>
            </a:r>
            <a:endParaRPr lang="en-US" sz="1200" dirty="0"/>
          </a:p>
        </p:txBody>
      </p:sp>
      <p:sp>
        <p:nvSpPr>
          <p:cNvPr id="15" name="Text 11"/>
          <p:cNvSpPr txBox="1"/>
          <p:nvPr/>
        </p:nvSpPr>
        <p:spPr>
          <a:xfrm>
            <a:off x="6995160" y="4663440"/>
            <a:ext cx="4645152" cy="15544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31.9% of test images contain no lesion; an empty prediction scores about 1 on each of them</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We now report both versions of lesion Dice</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The optimizer uses the lesion-bearing version, so it cannot be rewarded for predicting nothing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PHASES 4 AND 5</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The Anatomical Constraint Works Only in Ratio Form</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17</a:t>
            </a:r>
            <a:endParaRPr lang="en-US" sz="1000" dirty="0"/>
          </a:p>
        </p:txBody>
      </p:sp>
      <p:sp>
        <p:nvSpPr>
          <p:cNvPr id="7" name="Text 4"/>
          <p:cNvSpPr txBox="1"/>
          <p:nvPr/>
        </p:nvSpPr>
        <p:spPr>
          <a:xfrm>
            <a:off x="548640" y="1874520"/>
            <a:ext cx="53035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Violation rate on the test set (lower is better)</a:t>
            </a:r>
            <a:endParaRPr lang="en-US" sz="1300" dirty="0"/>
          </a:p>
        </p:txBody>
      </p:sp>
      <p:graphicFrame>
        <p:nvGraphicFramePr>
          <p:cNvPr id="8" name="Chart 0"/>
          <p:cNvGraphicFramePr/>
          <p:nvPr/>
        </p:nvGraphicFramePr>
        <p:xfrm>
          <a:off x="548640" y="2194560"/>
          <a:ext cx="53035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6172200" y="1920240"/>
            <a:ext cx="5468112" cy="1234440"/>
          </a:xfrm>
          <a:prstGeom prst="roundRect">
            <a:avLst>
              <a:gd name="adj" fmla="val 4444"/>
            </a:avLst>
          </a:prstGeom>
          <a:solidFill>
            <a:srgbClr val="E6F2EC"/>
          </a:solidFill>
          <a:ln w="9525">
            <a:solidFill>
              <a:srgbClr val="E6F2EC"/>
            </a:solidFill>
            <a:prstDash val="solid"/>
          </a:ln>
        </p:spPr>
      </p:sp>
      <p:sp>
        <p:nvSpPr>
          <p:cNvPr id="10" name="Text 6"/>
          <p:cNvSpPr txBox="1"/>
          <p:nvPr/>
        </p:nvSpPr>
        <p:spPr>
          <a:xfrm>
            <a:off x="6446520" y="1920240"/>
            <a:ext cx="5029200" cy="1234440"/>
          </a:xfrm>
          <a:prstGeom prst="rect">
            <a:avLst/>
          </a:prstGeom>
          <a:noFill/>
          <a:ln/>
        </p:spPr>
        <p:txBody>
          <a:bodyPr wrap="square" lIns="0" tIns="0" rIns="0" bIns="0" rtlCol="0" anchor="ctr"/>
          <a:lstStyle/>
          <a:p>
            <a:pPr marL="0" indent="0">
              <a:buNone/>
            </a:pPr>
            <a:r>
              <a:rPr lang="en-US" sz="3400" b="1" dirty="0">
                <a:solidFill>
                  <a:srgbClr val="2E7D5B"/>
                </a:solidFill>
                <a:latin typeface="Cambria" pitchFamily="34" charset="0"/>
                <a:ea typeface="Cambria" pitchFamily="34" charset="-122"/>
                <a:cs typeface="Cambria" pitchFamily="34" charset="-120"/>
              </a:rPr>
              <a:t>-77%  </a:t>
            </a:r>
            <a:r>
              <a:rPr lang="en-US" sz="1350" dirty="0">
                <a:solidFill>
                  <a:srgbClr val="1A2233"/>
                </a:solidFill>
                <a:latin typeface="Calibri" pitchFamily="34" charset="0"/>
                <a:ea typeface="Calibri" pitchFamily="34" charset="-122"/>
                <a:cs typeface="Calibri" pitchFamily="34" charset="-120"/>
              </a:rPr>
              <a:t>out-of-kidney lesion probability, Phase 4 to Phase 5b</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172200" y="3337560"/>
          <a:ext cx="5468112" cy="1920240"/>
        </p:xfrm>
        <a:graphic>
          <a:graphicData uri="http://schemas.openxmlformats.org/drawingml/2006/table">
            <a:tbl>
              <a:tblPr/>
              <a:tblGrid>
                <a:gridCol w="2267712">
                  <a:extLst>
                    <a:ext uri="{9D8B030D-6E8A-4147-A177-3AD203B41FA5}">
                      <a16:colId xmlns:a16="http://schemas.microsoft.com/office/drawing/2014/main" val="20000"/>
                    </a:ext>
                  </a:extLst>
                </a:gridCol>
                <a:gridCol w="1069848">
                  <a:extLst>
                    <a:ext uri="{9D8B030D-6E8A-4147-A177-3AD203B41FA5}">
                      <a16:colId xmlns:a16="http://schemas.microsoft.com/office/drawing/2014/main" val="20001"/>
                    </a:ext>
                  </a:extLst>
                </a:gridCol>
                <a:gridCol w="1069848">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Test metric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 5b</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Violation rate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0.2331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0.2817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0.0543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Diagnosis 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0.8995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0.8791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0.9014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Kidney Dice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0.8928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0.8838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0.8954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Lesion Dice (lesion images)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0.5056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0.4868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0.4881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2" name="Text 7"/>
          <p:cNvSpPr txBox="1"/>
          <p:nvPr/>
        </p:nvSpPr>
        <p:spPr>
          <a:xfrm>
            <a:off x="6172200" y="5440680"/>
            <a:ext cx="5468112" cy="731520"/>
          </a:xfrm>
          <a:prstGeom prst="rect">
            <a:avLst/>
          </a:prstGeom>
          <a:noFill/>
          <a:ln/>
        </p:spPr>
        <p:txBody>
          <a:bodyPr wrap="square" lIns="0" tIns="0" rIns="0" bIns="0" rtlCol="0" anchor="t"/>
          <a:lstStyle/>
          <a:p>
            <a:pPr marL="0" indent="0">
              <a:buNone/>
            </a:pPr>
            <a:r>
              <a:rPr lang="en-US" sz="1250" i="1" dirty="0">
                <a:solidFill>
                  <a:srgbClr val="5B6B79"/>
                </a:solidFill>
                <a:latin typeface="Calibri" pitchFamily="34" charset="0"/>
                <a:ea typeface="Calibri" pitchFamily="34" charset="-122"/>
                <a:cs typeface="Calibri" pitchFamily="34" charset="-120"/>
              </a:rPr>
              <a:t>The absolute form also raised violations on the original checkpoints (0.2572 to 0.3786), so the effect is reproducible.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PHASES 4 AND 5</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How the Constraint Acts During Training</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18</a:t>
            </a:r>
            <a:endParaRPr lang="en-US" sz="1000" dirty="0"/>
          </a:p>
        </p:txBody>
      </p:sp>
      <p:sp>
        <p:nvSpPr>
          <p:cNvPr id="7" name="Text 4"/>
          <p:cNvSpPr txBox="1"/>
          <p:nvPr/>
        </p:nvSpPr>
        <p:spPr>
          <a:xfrm>
            <a:off x="548640" y="1874520"/>
            <a:ext cx="54406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Validation violation rate by epoch (lower is better)</a:t>
            </a:r>
            <a:endParaRPr lang="en-US" sz="1300" dirty="0"/>
          </a:p>
        </p:txBody>
      </p:sp>
      <p:graphicFrame>
        <p:nvGraphicFramePr>
          <p:cNvPr id="8" name="Chart 0"/>
          <p:cNvGraphicFramePr/>
          <p:nvPr/>
        </p:nvGraphicFramePr>
        <p:xfrm>
          <a:off x="548640" y="2194560"/>
          <a:ext cx="54406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6199632" y="1874520"/>
            <a:ext cx="54406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Validation lesion Dice on lesion-bearing images by epoch</a:t>
            </a:r>
            <a:endParaRPr lang="en-US" sz="1300" dirty="0"/>
          </a:p>
        </p:txBody>
      </p:sp>
      <p:graphicFrame>
        <p:nvGraphicFramePr>
          <p:cNvPr id="10" name="Chart 1"/>
          <p:cNvGraphicFramePr/>
          <p:nvPr/>
        </p:nvGraphicFramePr>
        <p:xfrm>
          <a:off x="6199632" y="2194560"/>
          <a:ext cx="5440680" cy="3383280"/>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6"/>
          <p:cNvSpPr/>
          <p:nvPr/>
        </p:nvSpPr>
        <p:spPr>
          <a:xfrm>
            <a:off x="548640" y="5687568"/>
            <a:ext cx="11094415" cy="566928"/>
          </a:xfrm>
          <a:prstGeom prst="roundRect">
            <a:avLst>
              <a:gd name="adj" fmla="val 9677"/>
            </a:avLst>
          </a:prstGeom>
          <a:solidFill>
            <a:srgbClr val="F3F6F9"/>
          </a:solidFill>
          <a:ln w="9525">
            <a:solidFill>
              <a:srgbClr val="DCE3E8"/>
            </a:solidFill>
            <a:prstDash val="solid"/>
          </a:ln>
        </p:spPr>
      </p:sp>
      <p:sp>
        <p:nvSpPr>
          <p:cNvPr id="12" name="Text 7"/>
          <p:cNvSpPr txBox="1"/>
          <p:nvPr/>
        </p:nvSpPr>
        <p:spPr>
          <a:xfrm>
            <a:off x="822960" y="5687568"/>
            <a:ext cx="10545775" cy="566928"/>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Reading the curves:  </a:t>
            </a:r>
            <a:r>
              <a:rPr lang="en-US" sz="1300" dirty="0">
                <a:solidFill>
                  <a:srgbClr val="1A2233"/>
                </a:solidFill>
                <a:latin typeface="Calibri" pitchFamily="34" charset="0"/>
                <a:ea typeface="Calibri" pitchFamily="34" charset="-122"/>
                <a:cs typeface="Calibri" pitchFamily="34" charset="-120"/>
              </a:rPr>
              <a:t>the ratio form drives a steady decline in the second half of training and is still improving at epoch 15; lesion Dice rises similarly for all three.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SUMMARY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All Configurations on the Same Test Set</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19</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1672" cy="3310128"/>
        </p:xfrm>
        <a:graphic>
          <a:graphicData uri="http://schemas.openxmlformats.org/drawingml/2006/table">
            <a:tbl>
              <a:tblPr/>
              <a:tblGrid>
                <a:gridCol w="685800">
                  <a:extLst>
                    <a:ext uri="{9D8B030D-6E8A-4147-A177-3AD203B41FA5}">
                      <a16:colId xmlns:a16="http://schemas.microsoft.com/office/drawing/2014/main" val="20000"/>
                    </a:ext>
                  </a:extLst>
                </a:gridCol>
                <a:gridCol w="3136392">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005840">
                  <a:extLst>
                    <a:ext uri="{9D8B030D-6E8A-4147-A177-3AD203B41FA5}">
                      <a16:colId xmlns:a16="http://schemas.microsoft.com/office/drawing/2014/main" val="20008"/>
                    </a:ext>
                  </a:extLst>
                </a:gridCol>
              </a:tblGrid>
              <a:tr h="5669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Phase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Configuration</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Diag.</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Global</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Local</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AUC</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Kidney</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Dice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Lesion Dice</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(all)</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Lesion Dice</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(lesion imgs)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Violation</a:t>
                      </a:r>
                      <a:endParaRPr lang="en-US" sz="1250" dirty="0">
                        <a:latin typeface="Calibri" charset="0"/>
                        <a:ea typeface="Calibri" charset="0"/>
                        <a:cs typeface="Calibri" charset="0"/>
                      </a:endParaRPr>
                    </a:p>
                    <a:p>
                      <a:pPr marL="0" indent="0">
                        <a:buNone/>
                      </a:pPr>
                      <a:r>
                        <a:rPr lang="en-US" sz="1250" b="1" dirty="0">
                          <a:solidFill>
                            <a:srgbClr val="FFFFFF"/>
                          </a:solidFill>
                          <a:latin typeface="Calibri" pitchFamily="34" charset="0"/>
                          <a:ea typeface="Calibri" pitchFamily="34" charset="-122"/>
                          <a:cs typeface="Calibri" pitchFamily="34" charset="-120"/>
                        </a:rPr>
                        <a:t>rate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Equal weights, no enhancement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0.9013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0.8038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0.8991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Hand-picked enhancement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0.8903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0.7802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0.9021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5B6B79"/>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Five heads, no constraint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0.8995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0.8012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0.7704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0.8928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0.3444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0.5056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0.2331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Constraint, absolute form</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0.8791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0.8004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0.7752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0.8838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0.3518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0.4868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0.2817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5b</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Constraint, ratio form</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0.9014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0.7932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0.7416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0.8954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0.3325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0.4881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0.0543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COA-optimized weights + enhancement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0.8753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0.7255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0.7314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b="1" dirty="0">
                          <a:solidFill>
                            <a:srgbClr val="2E7D5B"/>
                          </a:solidFill>
                          <a:latin typeface="Calibri" pitchFamily="34" charset="0"/>
                          <a:ea typeface="Calibri" pitchFamily="34" charset="-122"/>
                          <a:cs typeface="Calibri" pitchFamily="34" charset="-120"/>
                        </a:rPr>
                        <a:t>0.9081</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0.2847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0.4180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lgn="ctr">
                        <a:buNone/>
                      </a:pPr>
                      <a:r>
                        <a:rPr lang="en-US" sz="1250" dirty="0">
                          <a:solidFill>
                            <a:srgbClr val="1A2233"/>
                          </a:solidFill>
                          <a:latin typeface="Calibri" pitchFamily="34" charset="0"/>
                          <a:ea typeface="Calibri" pitchFamily="34" charset="-122"/>
                          <a:cs typeface="Calibri" pitchFamily="34" charset="-120"/>
                        </a:rPr>
                        <a:t>0.0545</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Shape 4"/>
          <p:cNvSpPr/>
          <p:nvPr/>
        </p:nvSpPr>
        <p:spPr>
          <a:xfrm>
            <a:off x="548640" y="5394960"/>
            <a:ext cx="11094415" cy="777240"/>
          </a:xfrm>
          <a:prstGeom prst="roundRect">
            <a:avLst>
              <a:gd name="adj" fmla="val 7059"/>
            </a:avLst>
          </a:prstGeom>
          <a:solidFill>
            <a:srgbClr val="F3F6F9"/>
          </a:solidFill>
          <a:ln w="9525">
            <a:solidFill>
              <a:srgbClr val="DCE3E8"/>
            </a:solidFill>
            <a:prstDash val="solid"/>
          </a:ln>
        </p:spPr>
      </p:sp>
      <p:sp>
        <p:nvSpPr>
          <p:cNvPr id="9" name="Text 5"/>
          <p:cNvSpPr txBox="1"/>
          <p:nvPr/>
        </p:nvSpPr>
        <p:spPr>
          <a:xfrm>
            <a:off x="822960" y="5394960"/>
            <a:ext cx="10545775" cy="77724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Caveat:  </a:t>
            </a:r>
            <a:r>
              <a:rPr lang="en-US" sz="1300" dirty="0">
                <a:solidFill>
                  <a:srgbClr val="1A2233"/>
                </a:solidFill>
                <a:latin typeface="Calibri" pitchFamily="34" charset="0"/>
                <a:ea typeface="Calibri" pitchFamily="34" charset="-122"/>
                <a:cs typeface="Calibri" pitchFamily="34" charset="-120"/>
              </a:rPr>
              <a:t>single held-out split of 298 images, one seed per configuration. URI-CADS reports 0.8741 AUC under five-fold cross-validation, so the like-for-like comparison is Phase 8. Phases 2 and 3 have no lesion head.</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6</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Optimizer Study: 180 Model Trainings</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20</a:t>
            </a:r>
            <a:endParaRPr lang="en-US" sz="1000" dirty="0"/>
          </a:p>
        </p:txBody>
      </p:sp>
      <p:sp>
        <p:nvSpPr>
          <p:cNvPr id="7" name="Text 4"/>
          <p:cNvSpPr txBox="1"/>
          <p:nvPr/>
        </p:nvSpPr>
        <p:spPr>
          <a:xfrm>
            <a:off x="548640" y="1874520"/>
            <a:ext cx="704088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Best validation fitness found so far (search fidelity: 256 x 256, 3 epochs)</a:t>
            </a:r>
            <a:endParaRPr lang="en-US" sz="1300" dirty="0"/>
          </a:p>
        </p:txBody>
      </p:sp>
      <p:graphicFrame>
        <p:nvGraphicFramePr>
          <p:cNvPr id="8" name="Chart 0"/>
          <p:cNvGraphicFramePr/>
          <p:nvPr/>
        </p:nvGraphicFramePr>
        <p:xfrm>
          <a:off x="548640" y="2194560"/>
          <a:ext cx="70408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548640" y="5852160"/>
            <a:ext cx="7040880" cy="274320"/>
          </a:xfrm>
          <a:prstGeom prst="rect">
            <a:avLst/>
          </a:prstGeom>
          <a:noFill/>
          <a:ln/>
        </p:spPr>
        <p:txBody>
          <a:bodyPr wrap="square" lIns="0" tIns="0" rIns="0" bIns="0" rtlCol="0" anchor="t"/>
          <a:lstStyle/>
          <a:p>
            <a:pPr marL="0" indent="0" algn="ctr">
              <a:buNone/>
            </a:pPr>
            <a:r>
              <a:rPr lang="en-US" sz="1150" dirty="0">
                <a:solidFill>
                  <a:srgbClr val="5B6B79"/>
                </a:solidFill>
                <a:latin typeface="Calibri" pitchFamily="34" charset="0"/>
                <a:ea typeface="Calibri" pitchFamily="34" charset="-122"/>
                <a:cs typeface="Calibri" pitchFamily="34" charset="-120"/>
              </a:rPr>
              <a:t>Model trainings used</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863840" y="1920240"/>
          <a:ext cx="3776472" cy="1536192"/>
        </p:xfrm>
        <a:graphic>
          <a:graphicData uri="http://schemas.openxmlformats.org/drawingml/2006/table">
            <a:tbl>
              <a:tblPr/>
              <a:tblGrid>
                <a:gridCol w="914400">
                  <a:extLst>
                    <a:ext uri="{9D8B030D-6E8A-4147-A177-3AD203B41FA5}">
                      <a16:colId xmlns:a16="http://schemas.microsoft.com/office/drawing/2014/main" val="20000"/>
                    </a:ext>
                  </a:extLst>
                </a:gridCol>
                <a:gridCol w="1033272">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Optimizer</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Best fitness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Found at</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Hours</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COA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b="1" dirty="0">
                          <a:solidFill>
                            <a:srgbClr val="2E7D5B"/>
                          </a:solidFill>
                          <a:latin typeface="Calibri" pitchFamily="34" charset="0"/>
                          <a:ea typeface="Calibri" pitchFamily="34" charset="-122"/>
                          <a:cs typeface="Calibri" pitchFamily="34" charset="-120"/>
                        </a:rPr>
                        <a:t>0.6080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training 36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1.97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GWO</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0.6006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training 18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1.94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WOA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0.5983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training 52</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1.73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6"/>
          <p:cNvSpPr txBox="1"/>
          <p:nvPr/>
        </p:nvSpPr>
        <p:spPr>
          <a:xfrm>
            <a:off x="7863840" y="3657600"/>
            <a:ext cx="3776472" cy="25146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All three start at 0.592: the shared initial candidates</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GWO improves earliest; COA finds the highest fitness</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No optimizer improved in its last 8 trainings</a:t>
            </a:r>
            <a:endParaRPr lang="en-US" sz="1400" dirty="0"/>
          </a:p>
          <a:p>
            <a:pPr marL="177800" indent="-177800">
              <a:spcAft>
                <a:spcPts val="800"/>
              </a:spcAft>
              <a:buSzPct val="100000"/>
              <a:buChar char="•"/>
            </a:pPr>
            <a:r>
              <a:rPr lang="en-US" sz="1300" dirty="0">
                <a:solidFill>
                  <a:srgbClr val="1A2233"/>
                </a:solidFill>
                <a:latin typeface="Calibri" pitchFamily="34" charset="0"/>
                <a:ea typeface="Calibri" pitchFamily="34" charset="-122"/>
                <a:cs typeface="Calibri" pitchFamily="34" charset="-120"/>
              </a:rPr>
              <a:t>Best result is only +0.016 over the best random start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6</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What the Optimizers Chose</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21</a:t>
            </a:r>
            <a:endParaRPr lang="en-US" sz="1000" dirty="0"/>
          </a:p>
        </p:txBody>
      </p:sp>
      <p:sp>
        <p:nvSpPr>
          <p:cNvPr id="7" name="Text 4"/>
          <p:cNvSpPr txBox="1"/>
          <p:nvPr/>
        </p:nvSpPr>
        <p:spPr>
          <a:xfrm>
            <a:off x="548640" y="1874520"/>
            <a:ext cx="649224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Loss weights found by each optimizer (baseline: all weights = 1.0)</a:t>
            </a:r>
            <a:endParaRPr lang="en-US" sz="1300" dirty="0"/>
          </a:p>
        </p:txBody>
      </p:sp>
      <p:graphicFrame>
        <p:nvGraphicFramePr>
          <p:cNvPr id="8" name="Chart 0"/>
          <p:cNvGraphicFramePr/>
          <p:nvPr/>
        </p:nvGraphicFramePr>
        <p:xfrm>
          <a:off x="548640" y="2194560"/>
          <a:ext cx="64922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5"/>
          <p:cNvSpPr txBox="1"/>
          <p:nvPr/>
        </p:nvSpPr>
        <p:spPr>
          <a:xfrm>
            <a:off x="7360920" y="1874520"/>
            <a:ext cx="4279392"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Enhancement parameters</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360920" y="2194560"/>
          <a:ext cx="4279392" cy="1920240"/>
        </p:xfrm>
        <a:graphic>
          <a:graphicData uri="http://schemas.openxmlformats.org/drawingml/2006/table">
            <a:tbl>
              <a:tblPr/>
              <a:tblGrid>
                <a:gridCol w="117043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84048">
                <a:tc>
                  <a:txBody>
                    <a:bodyPr/>
                    <a:lstStyle/>
                    <a:p>
                      <a:pPr marL="0" indent="0">
                        <a:buNone/>
                      </a:pP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Clip</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Tile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Denoise</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Gamma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solidFill>
                      <a:srgbClr val="21295C"/>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5B6B79"/>
                          </a:solidFill>
                          <a:latin typeface="Calibri" pitchFamily="34" charset="0"/>
                          <a:ea typeface="Calibri" pitchFamily="34" charset="-122"/>
                          <a:cs typeface="Calibri" pitchFamily="34" charset="-120"/>
                        </a:rPr>
                        <a:t>Hand-picked</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2.00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10.0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5B6B79"/>
                          </a:solidFill>
                          <a:latin typeface="Calibri" pitchFamily="34" charset="0"/>
                          <a:ea typeface="Calibri" pitchFamily="34" charset="-122"/>
                          <a:cs typeface="Calibri" pitchFamily="34" charset="-120"/>
                        </a:rPr>
                        <a:t>1.20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COA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3.40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WOA</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2.57</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1.9</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0.79</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A2233"/>
                          </a:solidFill>
                          <a:latin typeface="Calibri" pitchFamily="34" charset="0"/>
                          <a:ea typeface="Calibri" pitchFamily="34" charset="-122"/>
                          <a:cs typeface="Calibri" pitchFamily="34" charset="-120"/>
                        </a:rPr>
                        <a:t>GWO</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5.00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9.3</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tc>
                  <a:txBody>
                    <a:bodyPr/>
                    <a:lstStyle/>
                    <a:p>
                      <a:pPr marL="0" indent="0">
                        <a:buNone/>
                      </a:pPr>
                      <a:r>
                        <a:rPr lang="en-US" sz="1250" dirty="0">
                          <a:solidFill>
                            <a:srgbClr val="1A2233"/>
                          </a:solidFill>
                          <a:latin typeface="Calibri" pitchFamily="34" charset="0"/>
                          <a:ea typeface="Calibri" pitchFamily="34" charset="-122"/>
                          <a:cs typeface="Calibri" pitchFamily="34" charset="-120"/>
                        </a:rPr>
                        <a:t>0.54</a:t>
                      </a:r>
                      <a:endParaRPr lang="en-US" sz="1250" dirty="0">
                        <a:latin typeface="Calibri" charset="0"/>
                        <a:ea typeface="Calibri" charset="0"/>
                        <a:cs typeface="Calibri" charset="0"/>
                      </a:endParaRPr>
                    </a:p>
                  </a:txBody>
                  <a:tcPr anchor="ctr">
                    <a:lnL w="9525" cap="flat" cmpd="sng" algn="ctr">
                      <a:solidFill>
                        <a:srgbClr val="DCE3E8"/>
                      </a:solidFill>
                      <a:prstDash val="solid"/>
                      <a:round/>
                      <a:headEnd type="none" w="med" len="med"/>
                      <a:tailEnd type="none" w="med" len="med"/>
                    </a:lnL>
                    <a:lnR w="9525" cap="flat" cmpd="sng" algn="ctr">
                      <a:solidFill>
                        <a:srgbClr val="DCE3E8"/>
                      </a:solidFill>
                      <a:prstDash val="solid"/>
                      <a:round/>
                      <a:headEnd type="none" w="med" len="med"/>
                      <a:tailEnd type="none" w="med" len="med"/>
                    </a:lnR>
                    <a:lnT w="9525" cap="flat" cmpd="sng" algn="ctr">
                      <a:solidFill>
                        <a:srgbClr val="DCE3E8"/>
                      </a:solidFill>
                      <a:prstDash val="solid"/>
                      <a:round/>
                      <a:headEnd type="none" w="med" len="med"/>
                      <a:tailEnd type="none" w="med" len="med"/>
                    </a:lnT>
                    <a:lnB w="9525" cap="flat" cmpd="sng" algn="ctr">
                      <a:solidFill>
                        <a:srgbClr val="DCE3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Text 6"/>
          <p:cNvSpPr txBox="1"/>
          <p:nvPr/>
        </p:nvSpPr>
        <p:spPr>
          <a:xfrm>
            <a:off x="7360920" y="4251960"/>
            <a:ext cx="4279392" cy="14630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All three: gamma below 1 and a larger tile grid than hand-picked</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COA and WOA: denoising nearly off</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COA and WOA: diagnosis weight near the 0.1 floor; GWO keeps it at 2.9</a:t>
            </a:r>
            <a:endParaRPr lang="en-US" sz="1400" dirty="0"/>
          </a:p>
        </p:txBody>
      </p:sp>
      <p:sp>
        <p:nvSpPr>
          <p:cNvPr id="12" name="Shape 7"/>
          <p:cNvSpPr/>
          <p:nvPr/>
        </p:nvSpPr>
        <p:spPr>
          <a:xfrm>
            <a:off x="548640" y="5760720"/>
            <a:ext cx="11094415" cy="457200"/>
          </a:xfrm>
          <a:prstGeom prst="roundRect">
            <a:avLst>
              <a:gd name="adj" fmla="val 12000"/>
            </a:avLst>
          </a:prstGeom>
          <a:solidFill>
            <a:srgbClr val="F3F6F9"/>
          </a:solidFill>
          <a:ln w="9525">
            <a:solidFill>
              <a:srgbClr val="DCE3E8"/>
            </a:solidFill>
            <a:prstDash val="solid"/>
          </a:ln>
        </p:spPr>
      </p:sp>
      <p:sp>
        <p:nvSpPr>
          <p:cNvPr id="13" name="Text 8"/>
          <p:cNvSpPr txBox="1"/>
          <p:nvPr/>
        </p:nvSpPr>
        <p:spPr>
          <a:xfrm>
            <a:off x="822960" y="5760720"/>
            <a:ext cx="10545775" cy="457200"/>
          </a:xfrm>
          <a:prstGeom prst="rect">
            <a:avLst/>
          </a:prstGeom>
          <a:noFill/>
          <a:ln/>
        </p:spPr>
        <p:txBody>
          <a:bodyPr wrap="square" lIns="0" tIns="0" rIns="0" bIns="0" rtlCol="0" anchor="ctr"/>
          <a:lstStyle/>
          <a:p>
            <a:pPr marL="0" indent="0">
              <a:buNone/>
            </a:pPr>
            <a:r>
              <a:rPr lang="en-US" sz="1300" b="1" dirty="0">
                <a:solidFill>
                  <a:srgbClr val="21295C"/>
                </a:solidFill>
                <a:latin typeface="Calibri" pitchFamily="34" charset="0"/>
                <a:ea typeface="Calibri" pitchFamily="34" charset="-122"/>
                <a:cs typeface="Calibri" pitchFamily="34" charset="-120"/>
              </a:rPr>
              <a:t>Pattern:  </a:t>
            </a:r>
            <a:r>
              <a:rPr lang="en-US" sz="1300" dirty="0">
                <a:solidFill>
                  <a:srgbClr val="1A2233"/>
                </a:solidFill>
                <a:latin typeface="Calibri" pitchFamily="34" charset="0"/>
                <a:ea typeface="Calibri" pitchFamily="34" charset="-122"/>
                <a:cs typeface="Calibri" pitchFamily="34" charset="-120"/>
              </a:rPr>
              <a:t>the cheap search consistently favoured segmentation-heavy weightings, which matters for the next slide.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6</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Does the Optimized Configuration Hold Up?</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22</a:t>
            </a:r>
            <a:endParaRPr lang="en-US" sz="1000" dirty="0"/>
          </a:p>
        </p:txBody>
      </p:sp>
      <p:sp>
        <p:nvSpPr>
          <p:cNvPr id="7" name="Text 4"/>
          <p:cNvSpPr txBox="1"/>
          <p:nvPr/>
        </p:nvSpPr>
        <p:spPr>
          <a:xfrm>
            <a:off x="548640" y="1874520"/>
            <a:ext cx="66751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Full-fidelity test results (15 epochs, 512 x 512)</a:t>
            </a:r>
            <a:endParaRPr lang="en-US" sz="1300" dirty="0"/>
          </a:p>
        </p:txBody>
      </p:sp>
      <p:graphicFrame>
        <p:nvGraphicFramePr>
          <p:cNvPr id="8" name="Chart 0"/>
          <p:cNvGraphicFramePr/>
          <p:nvPr/>
        </p:nvGraphicFramePr>
        <p:xfrm>
          <a:off x="548640" y="2194560"/>
          <a:ext cx="66751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543800" y="1920240"/>
            <a:ext cx="4096512" cy="4251960"/>
          </a:xfrm>
          <a:prstGeom prst="roundRect">
            <a:avLst>
              <a:gd name="adj" fmla="val 1339"/>
            </a:avLst>
          </a:prstGeom>
          <a:solidFill>
            <a:srgbClr val="F3F6F9"/>
          </a:solidFill>
          <a:ln w="9525">
            <a:solidFill>
              <a:srgbClr val="DCE3E8"/>
            </a:solidFill>
            <a:prstDash val="solid"/>
          </a:ln>
        </p:spPr>
      </p:sp>
      <p:sp>
        <p:nvSpPr>
          <p:cNvPr id="10" name="Text 6"/>
          <p:cNvSpPr txBox="1"/>
          <p:nvPr/>
        </p:nvSpPr>
        <p:spPr>
          <a:xfrm>
            <a:off x="7818120" y="2103120"/>
            <a:ext cx="365760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COA-optimized vs equal weights</a:t>
            </a:r>
            <a:endParaRPr lang="en-US" sz="1600" dirty="0"/>
          </a:p>
        </p:txBody>
      </p:sp>
      <p:sp>
        <p:nvSpPr>
          <p:cNvPr id="11" name="Text 7"/>
          <p:cNvSpPr txBox="1"/>
          <p:nvPr/>
        </p:nvSpPr>
        <p:spPr>
          <a:xfrm>
            <a:off x="7818120" y="2560320"/>
            <a:ext cx="3657600" cy="457200"/>
          </a:xfrm>
          <a:prstGeom prst="rect">
            <a:avLst/>
          </a:prstGeom>
          <a:noFill/>
          <a:ln/>
        </p:spPr>
        <p:txBody>
          <a:bodyPr wrap="square" lIns="0" tIns="0" rIns="0" bIns="0" rtlCol="0" anchor="ctr"/>
          <a:lstStyle/>
          <a:p>
            <a:pPr marL="0" indent="0">
              <a:buNone/>
            </a:pPr>
            <a:r>
              <a:rPr lang="en-US" sz="2200" b="1" dirty="0">
                <a:solidFill>
                  <a:srgbClr val="2E7D5B"/>
                </a:solidFill>
                <a:latin typeface="Cambria" pitchFamily="34" charset="0"/>
                <a:ea typeface="Cambria" pitchFamily="34" charset="-122"/>
                <a:cs typeface="Cambria" pitchFamily="34" charset="-120"/>
              </a:rPr>
              <a:t>+0.013  </a:t>
            </a:r>
            <a:r>
              <a:rPr lang="en-US" sz="1300" dirty="0">
                <a:solidFill>
                  <a:srgbClr val="1A2233"/>
                </a:solidFill>
                <a:latin typeface="Calibri" pitchFamily="34" charset="0"/>
                <a:ea typeface="Calibri" pitchFamily="34" charset="-122"/>
                <a:cs typeface="Calibri" pitchFamily="34" charset="-120"/>
              </a:rPr>
              <a:t>kidney Dice</a:t>
            </a:r>
            <a:endParaRPr lang="en-US" sz="1400" dirty="0"/>
          </a:p>
        </p:txBody>
      </p:sp>
      <p:sp>
        <p:nvSpPr>
          <p:cNvPr id="12" name="Text 8"/>
          <p:cNvSpPr txBox="1"/>
          <p:nvPr/>
        </p:nvSpPr>
        <p:spPr>
          <a:xfrm>
            <a:off x="7818120" y="306324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-0.026  </a:t>
            </a:r>
            <a:r>
              <a:rPr lang="en-US" sz="1300" dirty="0">
                <a:solidFill>
                  <a:srgbClr val="1A2233"/>
                </a:solidFill>
                <a:latin typeface="Calibri" pitchFamily="34" charset="0"/>
                <a:ea typeface="Calibri" pitchFamily="34" charset="-122"/>
                <a:cs typeface="Calibri" pitchFamily="34" charset="-120"/>
              </a:rPr>
              <a:t>diagnosis AUC</a:t>
            </a:r>
            <a:endParaRPr lang="en-US" sz="1400" dirty="0"/>
          </a:p>
        </p:txBody>
      </p:sp>
      <p:sp>
        <p:nvSpPr>
          <p:cNvPr id="13" name="Text 9"/>
          <p:cNvSpPr txBox="1"/>
          <p:nvPr/>
        </p:nvSpPr>
        <p:spPr>
          <a:xfrm>
            <a:off x="7818120" y="356616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-0.070  </a:t>
            </a:r>
            <a:r>
              <a:rPr lang="en-US" sz="1300" dirty="0">
                <a:solidFill>
                  <a:srgbClr val="1A2233"/>
                </a:solidFill>
                <a:latin typeface="Calibri" pitchFamily="34" charset="0"/>
                <a:ea typeface="Calibri" pitchFamily="34" charset="-122"/>
                <a:cs typeface="Calibri" pitchFamily="34" charset="-120"/>
              </a:rPr>
              <a:t>lesion Dice (lesion images)</a:t>
            </a:r>
            <a:endParaRPr lang="en-US" sz="1400" dirty="0"/>
          </a:p>
        </p:txBody>
      </p:sp>
      <p:sp>
        <p:nvSpPr>
          <p:cNvPr id="14" name="Text 10"/>
          <p:cNvSpPr txBox="1"/>
          <p:nvPr/>
        </p:nvSpPr>
        <p:spPr>
          <a:xfrm>
            <a:off x="7818120" y="4160520"/>
            <a:ext cx="3611880" cy="1920240"/>
          </a:xfrm>
          <a:prstGeom prst="rect">
            <a:avLst/>
          </a:prstGeom>
          <a:noFill/>
          <a:ln/>
        </p:spPr>
        <p:txBody>
          <a:bodyPr wrap="square" lIns="0" tIns="0" rIns="0" bIns="0" rtlCol="0" anchor="t"/>
          <a:lstStyle/>
          <a:p>
            <a:pPr marL="0" indent="0">
              <a:buNone/>
            </a:pPr>
            <a:r>
              <a:rPr lang="en-US" sz="1250" b="1" dirty="0">
                <a:solidFill>
                  <a:srgbClr val="21295C"/>
                </a:solidFill>
                <a:latin typeface="Calibri" pitchFamily="34" charset="0"/>
                <a:ea typeface="Calibri" pitchFamily="34" charset="-122"/>
                <a:cs typeface="Calibri" pitchFamily="34" charset="-120"/>
              </a:rPr>
              <a:t>Likely cause.  </a:t>
            </a:r>
            <a:r>
              <a:rPr lang="en-US" sz="1250" dirty="0">
                <a:solidFill>
                  <a:srgbClr val="1A2233"/>
                </a:solidFill>
                <a:latin typeface="Calibri" pitchFamily="34" charset="0"/>
                <a:ea typeface="Calibri" pitchFamily="34" charset="-122"/>
                <a:cs typeface="Calibri" pitchFamily="34" charset="-120"/>
              </a:rPr>
              <a:t>Candidates were scored after 3 epochs at 256 x 256, when segmentation gains come fastest. COA pushed the diagnosis weight to the 0.1 floor, a choice that does not survive full training.</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PHASE 7 ABLATIONS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Does Sharing One Encoder Help?</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23</a:t>
            </a:r>
            <a:endParaRPr lang="en-US" sz="1000" dirty="0"/>
          </a:p>
        </p:txBody>
      </p:sp>
      <p:sp>
        <p:nvSpPr>
          <p:cNvPr id="7" name="Text 4"/>
          <p:cNvSpPr txBox="1"/>
          <p:nvPr/>
        </p:nvSpPr>
        <p:spPr>
          <a:xfrm>
            <a:off x="548640" y="1874520"/>
            <a:ext cx="667512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Each task trained alone vs inside the multi-task model (test set)</a:t>
            </a:r>
            <a:endParaRPr lang="en-US" sz="1300" dirty="0"/>
          </a:p>
        </p:txBody>
      </p:sp>
      <p:graphicFrame>
        <p:nvGraphicFramePr>
          <p:cNvPr id="8" name="Chart 0"/>
          <p:cNvGraphicFramePr/>
          <p:nvPr/>
        </p:nvGraphicFramePr>
        <p:xfrm>
          <a:off x="548640" y="2194560"/>
          <a:ext cx="667512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7543800" y="1920240"/>
            <a:ext cx="4096512" cy="4251960"/>
          </a:xfrm>
          <a:prstGeom prst="roundRect">
            <a:avLst>
              <a:gd name="adj" fmla="val 1339"/>
            </a:avLst>
          </a:prstGeom>
          <a:solidFill>
            <a:srgbClr val="F3F6F9"/>
          </a:solidFill>
          <a:ln w="9525">
            <a:solidFill>
              <a:srgbClr val="DCE3E8"/>
            </a:solidFill>
            <a:prstDash val="solid"/>
          </a:ln>
        </p:spPr>
      </p:sp>
      <p:sp>
        <p:nvSpPr>
          <p:cNvPr id="10" name="Text 6"/>
          <p:cNvSpPr txBox="1"/>
          <p:nvPr/>
        </p:nvSpPr>
        <p:spPr>
          <a:xfrm>
            <a:off x="7818120" y="2103120"/>
            <a:ext cx="365760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Effect of multi-task sharing</a:t>
            </a:r>
            <a:endParaRPr lang="en-US" sz="1600" dirty="0"/>
          </a:p>
        </p:txBody>
      </p:sp>
      <p:sp>
        <p:nvSpPr>
          <p:cNvPr id="11" name="Text 7"/>
          <p:cNvSpPr txBox="1"/>
          <p:nvPr/>
        </p:nvSpPr>
        <p:spPr>
          <a:xfrm>
            <a:off x="7818120" y="2560320"/>
            <a:ext cx="3657600" cy="457200"/>
          </a:xfrm>
          <a:prstGeom prst="rect">
            <a:avLst/>
          </a:prstGeom>
          <a:noFill/>
          <a:ln/>
        </p:spPr>
        <p:txBody>
          <a:bodyPr wrap="square" lIns="0" tIns="0" rIns="0" bIns="0" rtlCol="0" anchor="ctr"/>
          <a:lstStyle/>
          <a:p>
            <a:pPr marL="0" indent="0">
              <a:buNone/>
            </a:pPr>
            <a:r>
              <a:rPr lang="en-US" sz="2200" b="1" dirty="0">
                <a:solidFill>
                  <a:srgbClr val="2E7D5B"/>
                </a:solidFill>
                <a:latin typeface="Cambria" pitchFamily="34" charset="0"/>
                <a:ea typeface="Cambria" pitchFamily="34" charset="-122"/>
                <a:cs typeface="Cambria" pitchFamily="34" charset="-120"/>
              </a:rPr>
              <a:t>+0.058  </a:t>
            </a:r>
            <a:r>
              <a:rPr lang="en-US" sz="1300" dirty="0">
                <a:solidFill>
                  <a:srgbClr val="1A2233"/>
                </a:solidFill>
                <a:latin typeface="Calibri" pitchFamily="34" charset="0"/>
                <a:ea typeface="Calibri" pitchFamily="34" charset="-122"/>
                <a:cs typeface="Calibri" pitchFamily="34" charset="-120"/>
              </a:rPr>
              <a:t>diagnosis AUC with sharing</a:t>
            </a:r>
            <a:endParaRPr lang="en-US" sz="1400" dirty="0"/>
          </a:p>
        </p:txBody>
      </p:sp>
      <p:sp>
        <p:nvSpPr>
          <p:cNvPr id="12" name="Text 8"/>
          <p:cNvSpPr txBox="1"/>
          <p:nvPr/>
        </p:nvSpPr>
        <p:spPr>
          <a:xfrm>
            <a:off x="7818120" y="306324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-0.021  </a:t>
            </a:r>
            <a:r>
              <a:rPr lang="en-US" sz="1300" dirty="0">
                <a:solidFill>
                  <a:srgbClr val="1A2233"/>
                </a:solidFill>
                <a:latin typeface="Calibri" pitchFamily="34" charset="0"/>
                <a:ea typeface="Calibri" pitchFamily="34" charset="-122"/>
                <a:cs typeface="Calibri" pitchFamily="34" charset="-120"/>
              </a:rPr>
              <a:t>kidney Dice with sharing</a:t>
            </a:r>
            <a:endParaRPr lang="en-US" sz="1400" dirty="0"/>
          </a:p>
        </p:txBody>
      </p:sp>
      <p:sp>
        <p:nvSpPr>
          <p:cNvPr id="13" name="Text 9"/>
          <p:cNvSpPr txBox="1"/>
          <p:nvPr/>
        </p:nvSpPr>
        <p:spPr>
          <a:xfrm>
            <a:off x="7818120" y="3566160"/>
            <a:ext cx="3657600" cy="457200"/>
          </a:xfrm>
          <a:prstGeom prst="rect">
            <a:avLst/>
          </a:prstGeom>
          <a:noFill/>
          <a:ln/>
        </p:spPr>
        <p:txBody>
          <a:bodyPr wrap="square" lIns="0" tIns="0" rIns="0" bIns="0" rtlCol="0" anchor="ctr"/>
          <a:lstStyle/>
          <a:p>
            <a:pPr marL="0" indent="0">
              <a:buNone/>
            </a:pPr>
            <a:r>
              <a:rPr lang="en-US" sz="2200" b="1" dirty="0">
                <a:solidFill>
                  <a:srgbClr val="B5483B"/>
                </a:solidFill>
                <a:latin typeface="Cambria" pitchFamily="34" charset="0"/>
                <a:ea typeface="Cambria" pitchFamily="34" charset="-122"/>
                <a:cs typeface="Cambria" pitchFamily="34" charset="-120"/>
              </a:rPr>
              <a:t>-0.008  </a:t>
            </a:r>
            <a:r>
              <a:rPr lang="en-US" sz="1300" dirty="0">
                <a:solidFill>
                  <a:srgbClr val="1A2233"/>
                </a:solidFill>
                <a:latin typeface="Calibri" pitchFamily="34" charset="0"/>
                <a:ea typeface="Calibri" pitchFamily="34" charset="-122"/>
                <a:cs typeface="Calibri" pitchFamily="34" charset="-120"/>
              </a:rPr>
              <a:t>lesion Dice with sharing</a:t>
            </a:r>
            <a:endParaRPr lang="en-US" sz="1400" dirty="0"/>
          </a:p>
        </p:txBody>
      </p:sp>
      <p:sp>
        <p:nvSpPr>
          <p:cNvPr id="14" name="Text 10"/>
          <p:cNvSpPr txBox="1"/>
          <p:nvPr/>
        </p:nvSpPr>
        <p:spPr>
          <a:xfrm>
            <a:off x="7818120" y="4160520"/>
            <a:ext cx="3611880" cy="19202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Sharing mainly strengthens classification</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Segmentation is marginally better trained alone</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One network replaces three single-task models</a:t>
            </a:r>
            <a:endParaRPr lang="en-US" sz="1400" dirty="0"/>
          </a:p>
          <a:p>
            <a:pPr marL="177800" indent="-177800">
              <a:spcAft>
                <a:spcPts val="700"/>
              </a:spcAft>
              <a:buSzPct val="100000"/>
              <a:buChar char="•"/>
            </a:pPr>
            <a:r>
              <a:rPr lang="en-US" sz="1250" dirty="0">
                <a:solidFill>
                  <a:srgbClr val="1A2233"/>
                </a:solidFill>
                <a:latin typeface="Calibri" pitchFamily="34" charset="0"/>
                <a:ea typeface="Calibri" pitchFamily="34" charset="-122"/>
                <a:cs typeface="Calibri" pitchFamily="34" charset="-120"/>
              </a:rPr>
              <a:t>Single seed: gaps of about 0.01 need Phase 8 confirmation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RESULTS  ·  LOCAL PATHOLOGY</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Per-Category Performance and Its Limits</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24</a:t>
            </a:r>
            <a:endParaRPr lang="en-US" sz="1000" dirty="0"/>
          </a:p>
        </p:txBody>
      </p:sp>
      <p:sp>
        <p:nvSpPr>
          <p:cNvPr id="7" name="Text 4"/>
          <p:cNvSpPr txBox="1"/>
          <p:nvPr/>
        </p:nvSpPr>
        <p:spPr>
          <a:xfrm>
            <a:off x="548640" y="1874520"/>
            <a:ext cx="7772400" cy="292608"/>
          </a:xfrm>
          <a:prstGeom prst="rect">
            <a:avLst/>
          </a:prstGeom>
          <a:noFill/>
          <a:ln/>
        </p:spPr>
        <p:txBody>
          <a:bodyPr wrap="square" lIns="0" tIns="0" rIns="0" bIns="0" rtlCol="0" anchor="t"/>
          <a:lstStyle/>
          <a:p>
            <a:pPr marL="0" indent="0">
              <a:buNone/>
            </a:pPr>
            <a:r>
              <a:rPr lang="en-US" sz="1300" b="1" dirty="0">
                <a:solidFill>
                  <a:srgbClr val="1A2233"/>
                </a:solidFill>
                <a:latin typeface="Calibri" pitchFamily="34" charset="0"/>
                <a:ea typeface="Calibri" pitchFamily="34" charset="-122"/>
                <a:cs typeface="Calibri" pitchFamily="34" charset="-120"/>
              </a:rPr>
              <a:t>Local pathology AUC by category (number of test images with that category in brackets)</a:t>
            </a:r>
            <a:endParaRPr lang="en-US" sz="1300" dirty="0"/>
          </a:p>
        </p:txBody>
      </p:sp>
      <p:graphicFrame>
        <p:nvGraphicFramePr>
          <p:cNvPr id="8" name="Chart 0"/>
          <p:cNvGraphicFramePr/>
          <p:nvPr/>
        </p:nvGraphicFramePr>
        <p:xfrm>
          <a:off x="548640" y="2194560"/>
          <a:ext cx="7772400" cy="397764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5"/>
          <p:cNvSpPr/>
          <p:nvPr/>
        </p:nvSpPr>
        <p:spPr>
          <a:xfrm>
            <a:off x="8595360" y="1920240"/>
            <a:ext cx="3044952" cy="4251960"/>
          </a:xfrm>
          <a:prstGeom prst="roundRect">
            <a:avLst>
              <a:gd name="adj" fmla="val 1802"/>
            </a:avLst>
          </a:prstGeom>
          <a:solidFill>
            <a:srgbClr val="F3F6F9"/>
          </a:solidFill>
          <a:ln w="9525">
            <a:solidFill>
              <a:srgbClr val="DCE3E8"/>
            </a:solidFill>
            <a:prstDash val="solid"/>
          </a:ln>
        </p:spPr>
      </p:sp>
      <p:sp>
        <p:nvSpPr>
          <p:cNvPr id="10" name="Text 6"/>
          <p:cNvSpPr txBox="1"/>
          <p:nvPr/>
        </p:nvSpPr>
        <p:spPr>
          <a:xfrm>
            <a:off x="8823960" y="2103120"/>
            <a:ext cx="2651760" cy="365760"/>
          </a:xfrm>
          <a:prstGeom prst="rect">
            <a:avLst/>
          </a:prstGeom>
          <a:noFill/>
          <a:ln/>
        </p:spPr>
        <p:txBody>
          <a:bodyPr wrap="square" lIns="0" tIns="0" rIns="0" bIns="0" rtlCol="0" anchor="t"/>
          <a:lstStyle/>
          <a:p>
            <a:pPr marL="0" indent="0">
              <a:buNone/>
            </a:pPr>
            <a:r>
              <a:rPr lang="en-US" sz="1600" b="1" dirty="0">
                <a:solidFill>
                  <a:srgbClr val="21295C"/>
                </a:solidFill>
                <a:latin typeface="Calibri" pitchFamily="34" charset="0"/>
                <a:ea typeface="Calibri" pitchFamily="34" charset="-122"/>
                <a:cs typeface="Calibri" pitchFamily="34" charset="-120"/>
              </a:rPr>
              <a:t>How to read this</a:t>
            </a:r>
            <a:endParaRPr lang="en-US" sz="1600" dirty="0"/>
          </a:p>
        </p:txBody>
      </p:sp>
      <p:sp>
        <p:nvSpPr>
          <p:cNvPr id="11" name="Text 7"/>
          <p:cNvSpPr txBox="1"/>
          <p:nvPr/>
        </p:nvSpPr>
        <p:spPr>
          <a:xfrm>
            <a:off x="8823960" y="2560320"/>
            <a:ext cx="2651760" cy="352044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AUC 0.5 is chance level</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Common categories 2 and 7 (97 and 65 test images) are strong</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Categories 8 and 9 are weakest</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Categories 5 and 6 have 4 and 2 test images: their AUCs are not reliable</a:t>
            </a:r>
            <a:endParaRPr lang="en-US" sz="1400" dirty="0"/>
          </a:p>
          <a:p>
            <a:pPr marL="177800" indent="-177800">
              <a:spcAft>
                <a:spcPts val="800"/>
              </a:spcAft>
              <a:buSzPct val="100000"/>
              <a:buChar char="•"/>
            </a:pPr>
            <a:r>
              <a:rPr lang="en-US" sz="1250" dirty="0">
                <a:solidFill>
                  <a:srgbClr val="1A2233"/>
                </a:solidFill>
                <a:latin typeface="Calibri" pitchFamily="34" charset="0"/>
                <a:ea typeface="Calibri" pitchFamily="34" charset="-122"/>
                <a:cs typeface="Calibri" pitchFamily="34" charset="-120"/>
              </a:rPr>
              <a:t>Report per-category counts alongside the mean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FINDINGS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Five Findings From This Stage</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548640" y="1965960"/>
            <a:ext cx="420624" cy="420624"/>
          </a:xfrm>
          <a:prstGeom prst="roundRect">
            <a:avLst>
              <a:gd name="adj" fmla="val 17391"/>
            </a:avLst>
          </a:prstGeom>
          <a:solidFill>
            <a:srgbClr val="21295C"/>
          </a:solidFill>
          <a:ln/>
        </p:spPr>
      </p:sp>
      <p:sp>
        <p:nvSpPr>
          <p:cNvPr id="8" name="Text 5"/>
          <p:cNvSpPr txBox="1"/>
          <p:nvPr/>
        </p:nvSpPr>
        <p:spPr>
          <a:xfrm>
            <a:off x="548640" y="19659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9" name="Text 6"/>
          <p:cNvSpPr txBox="1"/>
          <p:nvPr/>
        </p:nvSpPr>
        <p:spPr>
          <a:xfrm>
            <a:off x="1115568" y="1947672"/>
            <a:ext cx="4828032"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Constraint works only as a ratio</a:t>
            </a:r>
            <a:endParaRPr lang="en-US" sz="1600" dirty="0"/>
          </a:p>
        </p:txBody>
      </p:sp>
      <p:sp>
        <p:nvSpPr>
          <p:cNvPr id="10" name="Text 7"/>
          <p:cNvSpPr txBox="1"/>
          <p:nvPr/>
        </p:nvSpPr>
        <p:spPr>
          <a:xfrm>
            <a:off x="1115568" y="2276856"/>
            <a:ext cx="4828032" cy="82296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Violation rate 0.233 to 0.054 (-77%); the absolute form raised it to 0.282.</a:t>
            </a:r>
            <a:endParaRPr lang="en-US" sz="1300" dirty="0"/>
          </a:p>
        </p:txBody>
      </p:sp>
      <p:sp>
        <p:nvSpPr>
          <p:cNvPr id="11" name="Shape 8"/>
          <p:cNvSpPr/>
          <p:nvPr/>
        </p:nvSpPr>
        <p:spPr>
          <a:xfrm>
            <a:off x="548640" y="3337560"/>
            <a:ext cx="420624" cy="420624"/>
          </a:xfrm>
          <a:prstGeom prst="roundRect">
            <a:avLst>
              <a:gd name="adj" fmla="val 17391"/>
            </a:avLst>
          </a:prstGeom>
          <a:solidFill>
            <a:srgbClr val="21295C"/>
          </a:solidFill>
          <a:ln/>
        </p:spPr>
      </p:sp>
      <p:sp>
        <p:nvSpPr>
          <p:cNvPr id="12" name="Text 9"/>
          <p:cNvSpPr txBox="1"/>
          <p:nvPr/>
        </p:nvSpPr>
        <p:spPr>
          <a:xfrm>
            <a:off x="548640" y="3337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3" name="Text 10"/>
          <p:cNvSpPr txBox="1"/>
          <p:nvPr/>
        </p:nvSpPr>
        <p:spPr>
          <a:xfrm>
            <a:off x="1115568" y="3319272"/>
            <a:ext cx="4828032"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Lesion Dice needed correcting</a:t>
            </a:r>
            <a:endParaRPr lang="en-US" sz="1600" dirty="0"/>
          </a:p>
        </p:txBody>
      </p:sp>
      <p:sp>
        <p:nvSpPr>
          <p:cNvPr id="14" name="Text 11"/>
          <p:cNvSpPr txBox="1"/>
          <p:nvPr/>
        </p:nvSpPr>
        <p:spPr>
          <a:xfrm>
            <a:off x="1115568" y="3648456"/>
            <a:ext cx="4828032" cy="82296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Empty model 0.319 vs ours 0.344 on all images; 0.000 vs 0.506 on lesion-bearing images.</a:t>
            </a:r>
            <a:endParaRPr lang="en-US" sz="1300" dirty="0"/>
          </a:p>
        </p:txBody>
      </p:sp>
      <p:sp>
        <p:nvSpPr>
          <p:cNvPr id="15" name="Shape 12"/>
          <p:cNvSpPr/>
          <p:nvPr/>
        </p:nvSpPr>
        <p:spPr>
          <a:xfrm>
            <a:off x="548640" y="4709160"/>
            <a:ext cx="420624" cy="420624"/>
          </a:xfrm>
          <a:prstGeom prst="roundRect">
            <a:avLst>
              <a:gd name="adj" fmla="val 17391"/>
            </a:avLst>
          </a:prstGeom>
          <a:solidFill>
            <a:srgbClr val="21295C"/>
          </a:solidFill>
          <a:ln/>
        </p:spPr>
      </p:sp>
      <p:sp>
        <p:nvSpPr>
          <p:cNvPr id="16" name="Text 13"/>
          <p:cNvSpPr txBox="1"/>
          <p:nvPr/>
        </p:nvSpPr>
        <p:spPr>
          <a:xfrm>
            <a:off x="548640" y="47091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4"/>
          <p:cNvSpPr txBox="1"/>
          <p:nvPr/>
        </p:nvSpPr>
        <p:spPr>
          <a:xfrm>
            <a:off x="1115568" y="4690872"/>
            <a:ext cx="4828032"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Hand-picked enhancement is neutral</a:t>
            </a:r>
            <a:endParaRPr lang="en-US" sz="1600" dirty="0"/>
          </a:p>
        </p:txBody>
      </p:sp>
      <p:sp>
        <p:nvSpPr>
          <p:cNvPr id="18" name="Text 15"/>
          <p:cNvSpPr txBox="1"/>
          <p:nvPr/>
        </p:nvSpPr>
        <p:spPr>
          <a:xfrm>
            <a:off x="1115568" y="5020056"/>
            <a:ext cx="4828032" cy="82296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At matched epochs: kidney Dice +0.003, diagnosis AUC -0.011.</a:t>
            </a:r>
            <a:endParaRPr lang="en-US" sz="1300" dirty="0"/>
          </a:p>
        </p:txBody>
      </p:sp>
      <p:sp>
        <p:nvSpPr>
          <p:cNvPr id="19" name="Shape 16"/>
          <p:cNvSpPr/>
          <p:nvPr/>
        </p:nvSpPr>
        <p:spPr>
          <a:xfrm>
            <a:off x="6245352" y="1965960"/>
            <a:ext cx="420624" cy="420624"/>
          </a:xfrm>
          <a:prstGeom prst="roundRect">
            <a:avLst>
              <a:gd name="adj" fmla="val 17391"/>
            </a:avLst>
          </a:prstGeom>
          <a:solidFill>
            <a:srgbClr val="21295C"/>
          </a:solidFill>
          <a:ln/>
        </p:spPr>
      </p:sp>
      <p:sp>
        <p:nvSpPr>
          <p:cNvPr id="20" name="Text 17"/>
          <p:cNvSpPr txBox="1"/>
          <p:nvPr/>
        </p:nvSpPr>
        <p:spPr>
          <a:xfrm>
            <a:off x="6245352" y="19659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1" name="Text 18"/>
          <p:cNvSpPr txBox="1"/>
          <p:nvPr/>
        </p:nvSpPr>
        <p:spPr>
          <a:xfrm>
            <a:off x="6812280" y="1947672"/>
            <a:ext cx="4828032"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COA wins the search, not the final model</a:t>
            </a:r>
            <a:endParaRPr lang="en-US" sz="1600" dirty="0"/>
          </a:p>
        </p:txBody>
      </p:sp>
      <p:sp>
        <p:nvSpPr>
          <p:cNvPr id="22" name="Text 19"/>
          <p:cNvSpPr txBox="1"/>
          <p:nvPr/>
        </p:nvSpPr>
        <p:spPr>
          <a:xfrm>
            <a:off x="6812280" y="2276856"/>
            <a:ext cx="4828032" cy="82296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Search fitness 0.608 vs 0.601 (GWO) and 0.598 (WOA); after full training, AUC and lesion Dice fall.</a:t>
            </a:r>
            <a:endParaRPr lang="en-US" sz="1300" dirty="0"/>
          </a:p>
        </p:txBody>
      </p:sp>
      <p:sp>
        <p:nvSpPr>
          <p:cNvPr id="23" name="Shape 20"/>
          <p:cNvSpPr/>
          <p:nvPr/>
        </p:nvSpPr>
        <p:spPr>
          <a:xfrm>
            <a:off x="6245352" y="3337560"/>
            <a:ext cx="420624" cy="420624"/>
          </a:xfrm>
          <a:prstGeom prst="roundRect">
            <a:avLst>
              <a:gd name="adj" fmla="val 17391"/>
            </a:avLst>
          </a:prstGeom>
          <a:solidFill>
            <a:srgbClr val="21295C"/>
          </a:solidFill>
          <a:ln/>
        </p:spPr>
      </p:sp>
      <p:sp>
        <p:nvSpPr>
          <p:cNvPr id="24" name="Text 21"/>
          <p:cNvSpPr txBox="1"/>
          <p:nvPr/>
        </p:nvSpPr>
        <p:spPr>
          <a:xfrm>
            <a:off x="6245352" y="3337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5" name="Text 22"/>
          <p:cNvSpPr txBox="1"/>
          <p:nvPr/>
        </p:nvSpPr>
        <p:spPr>
          <a:xfrm>
            <a:off x="6812280" y="3319272"/>
            <a:ext cx="4828032"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Sharing helps classification</a:t>
            </a:r>
            <a:endParaRPr lang="en-US" sz="1600" dirty="0"/>
          </a:p>
        </p:txBody>
      </p:sp>
      <p:sp>
        <p:nvSpPr>
          <p:cNvPr id="26" name="Text 23"/>
          <p:cNvSpPr txBox="1"/>
          <p:nvPr/>
        </p:nvSpPr>
        <p:spPr>
          <a:xfrm>
            <a:off x="6812280" y="3648456"/>
            <a:ext cx="4828032" cy="82296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Diagnosis AUC 0.844 alone vs 0.901 in the multi-task model; segmentation is marginally better alone.</a:t>
            </a:r>
            <a:endParaRPr lang="en-US" sz="1300" dirty="0"/>
          </a:p>
        </p:txBody>
      </p:sp>
      <p:sp>
        <p:nvSpPr>
          <p:cNvPr id="27" name="Shape 24"/>
          <p:cNvSpPr/>
          <p:nvPr/>
        </p:nvSpPr>
        <p:spPr>
          <a:xfrm>
            <a:off x="6245352" y="4754880"/>
            <a:ext cx="5394960" cy="1417320"/>
          </a:xfrm>
          <a:prstGeom prst="roundRect">
            <a:avLst>
              <a:gd name="adj" fmla="val 3871"/>
            </a:avLst>
          </a:prstGeom>
          <a:solidFill>
            <a:srgbClr val="21295C"/>
          </a:solidFill>
          <a:ln w="9525">
            <a:solidFill>
              <a:srgbClr val="21295C"/>
            </a:solidFill>
            <a:prstDash val="solid"/>
          </a:ln>
        </p:spPr>
      </p:sp>
      <p:sp>
        <p:nvSpPr>
          <p:cNvPr id="28" name="Text 25"/>
          <p:cNvSpPr txBox="1"/>
          <p:nvPr/>
        </p:nvSpPr>
        <p:spPr>
          <a:xfrm>
            <a:off x="6519672" y="4754880"/>
            <a:ext cx="4892040" cy="1417320"/>
          </a:xfrm>
          <a:prstGeom prst="rect">
            <a:avLst/>
          </a:prstGeom>
          <a:noFill/>
          <a:ln/>
        </p:spPr>
        <p:txBody>
          <a:bodyPr wrap="square" lIns="0" tIns="0" rIns="0" bIns="0" rtlCol="0" anchor="ctr"/>
          <a:lstStyle/>
          <a:p>
            <a:pPr marL="0" indent="0">
              <a:buNone/>
            </a:pPr>
            <a:r>
              <a:rPr lang="en-US" sz="1100" b="1" kern="0" spc="200" dirty="0">
                <a:solidFill>
                  <a:srgbClr val="CADCFC"/>
                </a:solidFill>
                <a:latin typeface="Calibri" pitchFamily="34" charset="0"/>
                <a:ea typeface="Calibri" pitchFamily="34" charset="-122"/>
                <a:cs typeface="Calibri" pitchFamily="34" charset="-120"/>
              </a:rPr>
              <a:t>BOTTOM LINE</a:t>
            </a:r>
            <a:endParaRPr lang="en-US" sz="1400" dirty="0"/>
          </a:p>
          <a:p>
            <a:pPr marL="0" indent="0">
              <a:buNone/>
            </a:pPr>
            <a:r>
              <a:rPr lang="en-US" sz="1500" dirty="0">
                <a:solidFill>
                  <a:srgbClr val="FFFFFF"/>
                </a:solidFill>
                <a:latin typeface="Cambria" pitchFamily="34" charset="0"/>
                <a:ea typeface="Cambria" pitchFamily="34" charset="-122"/>
                <a:cs typeface="Cambria" pitchFamily="34" charset="-120"/>
              </a:rPr>
              <a:t>Careful formulation and fair evaluation have mattered more so far than the choice of optimizer.</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REFLECTION</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Challenges and Lessons</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548640" y="1920240"/>
            <a:ext cx="5394960" cy="1965960"/>
          </a:xfrm>
          <a:prstGeom prst="roundRect">
            <a:avLst>
              <a:gd name="adj" fmla="val 2791"/>
            </a:avLst>
          </a:prstGeom>
          <a:solidFill>
            <a:srgbClr val="F3F6F9"/>
          </a:solidFill>
          <a:ln w="9525">
            <a:solidFill>
              <a:srgbClr val="DCE3E8"/>
            </a:solidFill>
            <a:prstDash val="solid"/>
          </a:ln>
        </p:spPr>
      </p:sp>
      <p:sp>
        <p:nvSpPr>
          <p:cNvPr id="8" name="Shape 5"/>
          <p:cNvSpPr/>
          <p:nvPr/>
        </p:nvSpPr>
        <p:spPr>
          <a:xfrm>
            <a:off x="822960" y="2194560"/>
            <a:ext cx="420624" cy="420624"/>
          </a:xfrm>
          <a:prstGeom prst="roundRect">
            <a:avLst>
              <a:gd name="adj" fmla="val 17391"/>
            </a:avLst>
          </a:prstGeom>
          <a:solidFill>
            <a:srgbClr val="21295C"/>
          </a:solidFill>
          <a:ln/>
        </p:spPr>
      </p:sp>
      <p:sp>
        <p:nvSpPr>
          <p:cNvPr id="9" name="Text 6"/>
          <p:cNvSpPr txBox="1"/>
          <p:nvPr/>
        </p:nvSpPr>
        <p:spPr>
          <a:xfrm>
            <a:off x="822960"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0" name="Text 7"/>
          <p:cNvSpPr txBox="1"/>
          <p:nvPr/>
        </p:nvSpPr>
        <p:spPr>
          <a:xfrm>
            <a:off x="1417320" y="2194560"/>
            <a:ext cx="4297680" cy="420624"/>
          </a:xfrm>
          <a:prstGeom prst="rect">
            <a:avLst/>
          </a:prstGeom>
          <a:noFill/>
          <a:ln/>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Fair comparisons need matched budgets</a:t>
            </a:r>
            <a:endParaRPr lang="en-US" sz="1600" dirty="0"/>
          </a:p>
        </p:txBody>
      </p:sp>
      <p:sp>
        <p:nvSpPr>
          <p:cNvPr id="11" name="Text 8"/>
          <p:cNvSpPr txBox="1"/>
          <p:nvPr/>
        </p:nvSpPr>
        <p:spPr>
          <a:xfrm>
            <a:off x="822960" y="2788920"/>
            <a:ext cx="4846320" cy="100584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Phase 3 was first trained for 10 epochs against 15. Across optimizers, COA uses about 2.5x more evaluations per iteration, so budgets are capped on trainings.</a:t>
            </a:r>
            <a:endParaRPr lang="en-US" sz="1300" dirty="0"/>
          </a:p>
        </p:txBody>
      </p:sp>
      <p:sp>
        <p:nvSpPr>
          <p:cNvPr id="12" name="Shape 9"/>
          <p:cNvSpPr/>
          <p:nvPr/>
        </p:nvSpPr>
        <p:spPr>
          <a:xfrm>
            <a:off x="6245352" y="1920240"/>
            <a:ext cx="5394960" cy="1965960"/>
          </a:xfrm>
          <a:prstGeom prst="roundRect">
            <a:avLst>
              <a:gd name="adj" fmla="val 2791"/>
            </a:avLst>
          </a:prstGeom>
          <a:solidFill>
            <a:srgbClr val="F3F6F9"/>
          </a:solidFill>
          <a:ln w="9525">
            <a:solidFill>
              <a:srgbClr val="DCE3E8"/>
            </a:solidFill>
            <a:prstDash val="solid"/>
          </a:ln>
        </p:spPr>
      </p:sp>
      <p:sp>
        <p:nvSpPr>
          <p:cNvPr id="13" name="Shape 10"/>
          <p:cNvSpPr/>
          <p:nvPr/>
        </p:nvSpPr>
        <p:spPr>
          <a:xfrm>
            <a:off x="6519672" y="2194560"/>
            <a:ext cx="420624" cy="420624"/>
          </a:xfrm>
          <a:prstGeom prst="roundRect">
            <a:avLst>
              <a:gd name="adj" fmla="val 17391"/>
            </a:avLst>
          </a:prstGeom>
          <a:solidFill>
            <a:srgbClr val="21295C"/>
          </a:solidFill>
          <a:ln/>
        </p:spPr>
      </p:sp>
      <p:sp>
        <p:nvSpPr>
          <p:cNvPr id="14" name="Text 11"/>
          <p:cNvSpPr txBox="1"/>
          <p:nvPr/>
        </p:nvSpPr>
        <p:spPr>
          <a:xfrm>
            <a:off x="6519672" y="219456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5" name="Text 12"/>
          <p:cNvSpPr txBox="1"/>
          <p:nvPr/>
        </p:nvSpPr>
        <p:spPr>
          <a:xfrm>
            <a:off x="7114032" y="2194560"/>
            <a:ext cx="4297680" cy="420624"/>
          </a:xfrm>
          <a:prstGeom prst="rect">
            <a:avLst/>
          </a:prstGeom>
          <a:noFill/>
          <a:ln/>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Metrics can reward the wrong behaviour</a:t>
            </a:r>
            <a:endParaRPr lang="en-US" sz="1600" dirty="0"/>
          </a:p>
        </p:txBody>
      </p:sp>
      <p:sp>
        <p:nvSpPr>
          <p:cNvPr id="16" name="Text 13"/>
          <p:cNvSpPr txBox="1"/>
          <p:nvPr/>
        </p:nvSpPr>
        <p:spPr>
          <a:xfrm>
            <a:off x="6519672" y="2788920"/>
            <a:ext cx="4846320" cy="100584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Empty images inflated lesion Dice, and the absolute consistency loss could be minimized without satisfying the constraint.</a:t>
            </a:r>
            <a:endParaRPr lang="en-US" sz="1300" dirty="0"/>
          </a:p>
        </p:txBody>
      </p:sp>
      <p:sp>
        <p:nvSpPr>
          <p:cNvPr id="17" name="Shape 14"/>
          <p:cNvSpPr/>
          <p:nvPr/>
        </p:nvSpPr>
        <p:spPr>
          <a:xfrm>
            <a:off x="548640" y="4069080"/>
            <a:ext cx="5394960" cy="1965960"/>
          </a:xfrm>
          <a:prstGeom prst="roundRect">
            <a:avLst>
              <a:gd name="adj" fmla="val 2791"/>
            </a:avLst>
          </a:prstGeom>
          <a:solidFill>
            <a:srgbClr val="F3F6F9"/>
          </a:solidFill>
          <a:ln w="9525">
            <a:solidFill>
              <a:srgbClr val="DCE3E8"/>
            </a:solidFill>
            <a:prstDash val="solid"/>
          </a:ln>
        </p:spPr>
      </p:sp>
      <p:sp>
        <p:nvSpPr>
          <p:cNvPr id="18" name="Shape 15"/>
          <p:cNvSpPr/>
          <p:nvPr/>
        </p:nvSpPr>
        <p:spPr>
          <a:xfrm>
            <a:off x="822960" y="4343400"/>
            <a:ext cx="420624" cy="420624"/>
          </a:xfrm>
          <a:prstGeom prst="roundRect">
            <a:avLst>
              <a:gd name="adj" fmla="val 17391"/>
            </a:avLst>
          </a:prstGeom>
          <a:solidFill>
            <a:srgbClr val="21295C"/>
          </a:solidFill>
          <a:ln/>
        </p:spPr>
      </p:sp>
      <p:sp>
        <p:nvSpPr>
          <p:cNvPr id="19" name="Text 16"/>
          <p:cNvSpPr txBox="1"/>
          <p:nvPr/>
        </p:nvSpPr>
        <p:spPr>
          <a:xfrm>
            <a:off x="822960"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0" name="Text 17"/>
          <p:cNvSpPr txBox="1"/>
          <p:nvPr/>
        </p:nvSpPr>
        <p:spPr>
          <a:xfrm>
            <a:off x="1417320" y="4343400"/>
            <a:ext cx="4297680" cy="420624"/>
          </a:xfrm>
          <a:prstGeom prst="rect">
            <a:avLst/>
          </a:prstGeom>
          <a:noFill/>
          <a:ln/>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Search cost vs fidelity</a:t>
            </a:r>
            <a:endParaRPr lang="en-US" sz="1600" dirty="0"/>
          </a:p>
        </p:txBody>
      </p:sp>
      <p:sp>
        <p:nvSpPr>
          <p:cNvPr id="21" name="Text 18"/>
          <p:cNvSpPr txBox="1"/>
          <p:nvPr/>
        </p:nvSpPr>
        <p:spPr>
          <a:xfrm>
            <a:off x="822960" y="4937760"/>
            <a:ext cx="4846320" cy="100584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180 trainings took 5.6 hours even at 256 x 256 and 3 epochs. Full fidelity would take about 70 hours, but the cheap proxy mis-judged the final model.</a:t>
            </a:r>
            <a:endParaRPr lang="en-US" sz="1300" dirty="0"/>
          </a:p>
        </p:txBody>
      </p:sp>
      <p:sp>
        <p:nvSpPr>
          <p:cNvPr id="22" name="Shape 19"/>
          <p:cNvSpPr/>
          <p:nvPr/>
        </p:nvSpPr>
        <p:spPr>
          <a:xfrm>
            <a:off x="6245352" y="4069080"/>
            <a:ext cx="5394960" cy="1965960"/>
          </a:xfrm>
          <a:prstGeom prst="roundRect">
            <a:avLst>
              <a:gd name="adj" fmla="val 2791"/>
            </a:avLst>
          </a:prstGeom>
          <a:solidFill>
            <a:srgbClr val="F3F6F9"/>
          </a:solidFill>
          <a:ln w="9525">
            <a:solidFill>
              <a:srgbClr val="DCE3E8"/>
            </a:solidFill>
            <a:prstDash val="solid"/>
          </a:ln>
        </p:spPr>
      </p:sp>
      <p:sp>
        <p:nvSpPr>
          <p:cNvPr id="23" name="Shape 20"/>
          <p:cNvSpPr/>
          <p:nvPr/>
        </p:nvSpPr>
        <p:spPr>
          <a:xfrm>
            <a:off x="6519672" y="4343400"/>
            <a:ext cx="420624" cy="420624"/>
          </a:xfrm>
          <a:prstGeom prst="roundRect">
            <a:avLst>
              <a:gd name="adj" fmla="val 17391"/>
            </a:avLst>
          </a:prstGeom>
          <a:solidFill>
            <a:srgbClr val="21295C"/>
          </a:solidFill>
          <a:ln/>
        </p:spPr>
      </p:sp>
      <p:sp>
        <p:nvSpPr>
          <p:cNvPr id="24" name="Text 21"/>
          <p:cNvSpPr txBox="1"/>
          <p:nvPr/>
        </p:nvSpPr>
        <p:spPr>
          <a:xfrm>
            <a:off x="6519672" y="434340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5" name="Text 22"/>
          <p:cNvSpPr txBox="1"/>
          <p:nvPr/>
        </p:nvSpPr>
        <p:spPr>
          <a:xfrm>
            <a:off x="7114032" y="4343400"/>
            <a:ext cx="4297680" cy="420624"/>
          </a:xfrm>
          <a:prstGeom prst="rect">
            <a:avLst/>
          </a:prstGeom>
          <a:noFill/>
          <a:ln/>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Compute limits on a 4 GB GPU</a:t>
            </a:r>
            <a:endParaRPr lang="en-US" sz="1600" dirty="0"/>
          </a:p>
        </p:txBody>
      </p:sp>
      <p:sp>
        <p:nvSpPr>
          <p:cNvPr id="26" name="Text 23"/>
          <p:cNvSpPr txBox="1"/>
          <p:nvPr/>
        </p:nvSpPr>
        <p:spPr>
          <a:xfrm>
            <a:off x="6519672" y="4937760"/>
            <a:ext cx="4846320" cy="100584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Non-local-means costs 0.6 s per image, so enhanced images are cached. Parallel data loading cut epoch time from 77 s to 39 s.</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STATUS</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Where the Project Stands</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548640" y="1874520"/>
            <a:ext cx="3566160" cy="1207008"/>
          </a:xfrm>
          <a:prstGeom prst="roundRect">
            <a:avLst>
              <a:gd name="adj" fmla="val 4545"/>
            </a:avLst>
          </a:prstGeom>
          <a:solidFill>
            <a:srgbClr val="F3F6F9"/>
          </a:solidFill>
          <a:ln w="9525">
            <a:solidFill>
              <a:srgbClr val="DCE3E8"/>
            </a:solidFill>
            <a:prstDash val="solid"/>
          </a:ln>
        </p:spPr>
      </p:sp>
      <p:sp>
        <p:nvSpPr>
          <p:cNvPr id="8" name="Text 5"/>
          <p:cNvSpPr txBox="1"/>
          <p:nvPr/>
        </p:nvSpPr>
        <p:spPr>
          <a:xfrm>
            <a:off x="777240" y="20116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1</a:t>
            </a:r>
            <a:endParaRPr lang="en-US" sz="1100" dirty="0"/>
          </a:p>
        </p:txBody>
      </p:sp>
      <p:sp>
        <p:nvSpPr>
          <p:cNvPr id="9" name="Shape 6"/>
          <p:cNvSpPr/>
          <p:nvPr/>
        </p:nvSpPr>
        <p:spPr>
          <a:xfrm>
            <a:off x="3154680" y="2002536"/>
            <a:ext cx="731520" cy="274320"/>
          </a:xfrm>
          <a:prstGeom prst="roundRect">
            <a:avLst>
              <a:gd name="adj" fmla="val 20000"/>
            </a:avLst>
          </a:prstGeom>
          <a:solidFill>
            <a:srgbClr val="E6F2EC"/>
          </a:solidFill>
          <a:ln/>
        </p:spPr>
      </p:sp>
      <p:sp>
        <p:nvSpPr>
          <p:cNvPr id="10" name="Text 7"/>
          <p:cNvSpPr txBox="1"/>
          <p:nvPr/>
        </p:nvSpPr>
        <p:spPr>
          <a:xfrm>
            <a:off x="3154680" y="20025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11" name="Text 8"/>
          <p:cNvSpPr txBox="1"/>
          <p:nvPr/>
        </p:nvSpPr>
        <p:spPr>
          <a:xfrm>
            <a:off x="777240" y="23042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Data pipeline</a:t>
            </a:r>
            <a:endParaRPr lang="en-US" sz="1500" dirty="0"/>
          </a:p>
        </p:txBody>
      </p:sp>
      <p:sp>
        <p:nvSpPr>
          <p:cNvPr id="12" name="Text 9"/>
          <p:cNvSpPr txBox="1"/>
          <p:nvPr/>
        </p:nvSpPr>
        <p:spPr>
          <a:xfrm>
            <a:off x="777240" y="26334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Ingestion, masks, lesion parsing, stratified split</a:t>
            </a:r>
            <a:endParaRPr lang="en-US" sz="1150" dirty="0"/>
          </a:p>
        </p:txBody>
      </p:sp>
      <p:sp>
        <p:nvSpPr>
          <p:cNvPr id="13" name="Shape 10"/>
          <p:cNvSpPr/>
          <p:nvPr/>
        </p:nvSpPr>
        <p:spPr>
          <a:xfrm>
            <a:off x="4311396" y="1874520"/>
            <a:ext cx="3566160" cy="1207008"/>
          </a:xfrm>
          <a:prstGeom prst="roundRect">
            <a:avLst>
              <a:gd name="adj" fmla="val 4545"/>
            </a:avLst>
          </a:prstGeom>
          <a:solidFill>
            <a:srgbClr val="F3F6F9"/>
          </a:solidFill>
          <a:ln w="9525">
            <a:solidFill>
              <a:srgbClr val="DCE3E8"/>
            </a:solidFill>
            <a:prstDash val="solid"/>
          </a:ln>
        </p:spPr>
      </p:sp>
      <p:sp>
        <p:nvSpPr>
          <p:cNvPr id="14" name="Text 11"/>
          <p:cNvSpPr txBox="1"/>
          <p:nvPr/>
        </p:nvSpPr>
        <p:spPr>
          <a:xfrm>
            <a:off x="4539996" y="20116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2</a:t>
            </a:r>
            <a:endParaRPr lang="en-US" sz="1100" dirty="0"/>
          </a:p>
        </p:txBody>
      </p:sp>
      <p:sp>
        <p:nvSpPr>
          <p:cNvPr id="15" name="Shape 12"/>
          <p:cNvSpPr/>
          <p:nvPr/>
        </p:nvSpPr>
        <p:spPr>
          <a:xfrm>
            <a:off x="6917436" y="2002536"/>
            <a:ext cx="731520" cy="274320"/>
          </a:xfrm>
          <a:prstGeom prst="roundRect">
            <a:avLst>
              <a:gd name="adj" fmla="val 20000"/>
            </a:avLst>
          </a:prstGeom>
          <a:solidFill>
            <a:srgbClr val="E6F2EC"/>
          </a:solidFill>
          <a:ln/>
        </p:spPr>
      </p:sp>
      <p:sp>
        <p:nvSpPr>
          <p:cNvPr id="16" name="Text 13"/>
          <p:cNvSpPr txBox="1"/>
          <p:nvPr/>
        </p:nvSpPr>
        <p:spPr>
          <a:xfrm>
            <a:off x="6917436" y="20025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17" name="Text 14"/>
          <p:cNvSpPr txBox="1"/>
          <p:nvPr/>
        </p:nvSpPr>
        <p:spPr>
          <a:xfrm>
            <a:off x="4539996" y="23042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Fixed-weight baseline</a:t>
            </a:r>
            <a:endParaRPr lang="en-US" sz="1500" dirty="0"/>
          </a:p>
        </p:txBody>
      </p:sp>
      <p:sp>
        <p:nvSpPr>
          <p:cNvPr id="18" name="Text 15"/>
          <p:cNvSpPr txBox="1"/>
          <p:nvPr/>
        </p:nvSpPr>
        <p:spPr>
          <a:xfrm>
            <a:off x="4539996" y="26334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Diagnosis AUC 0.901, kidney Dice 0.899</a:t>
            </a:r>
            <a:endParaRPr lang="en-US" sz="1150" dirty="0"/>
          </a:p>
        </p:txBody>
      </p:sp>
      <p:sp>
        <p:nvSpPr>
          <p:cNvPr id="19" name="Shape 16"/>
          <p:cNvSpPr/>
          <p:nvPr/>
        </p:nvSpPr>
        <p:spPr>
          <a:xfrm>
            <a:off x="8074152" y="1874520"/>
            <a:ext cx="3566160" cy="1207008"/>
          </a:xfrm>
          <a:prstGeom prst="roundRect">
            <a:avLst>
              <a:gd name="adj" fmla="val 4545"/>
            </a:avLst>
          </a:prstGeom>
          <a:solidFill>
            <a:srgbClr val="F3F6F9"/>
          </a:solidFill>
          <a:ln w="9525">
            <a:solidFill>
              <a:srgbClr val="DCE3E8"/>
            </a:solidFill>
            <a:prstDash val="solid"/>
          </a:ln>
        </p:spPr>
      </p:sp>
      <p:sp>
        <p:nvSpPr>
          <p:cNvPr id="20" name="Text 17"/>
          <p:cNvSpPr txBox="1"/>
          <p:nvPr/>
        </p:nvSpPr>
        <p:spPr>
          <a:xfrm>
            <a:off x="8302752" y="20116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3</a:t>
            </a:r>
            <a:endParaRPr lang="en-US" sz="1100" dirty="0"/>
          </a:p>
        </p:txBody>
      </p:sp>
      <p:sp>
        <p:nvSpPr>
          <p:cNvPr id="21" name="Shape 18"/>
          <p:cNvSpPr/>
          <p:nvPr/>
        </p:nvSpPr>
        <p:spPr>
          <a:xfrm>
            <a:off x="10680192" y="2002536"/>
            <a:ext cx="731520" cy="274320"/>
          </a:xfrm>
          <a:prstGeom prst="roundRect">
            <a:avLst>
              <a:gd name="adj" fmla="val 20000"/>
            </a:avLst>
          </a:prstGeom>
          <a:solidFill>
            <a:srgbClr val="E6F2EC"/>
          </a:solidFill>
          <a:ln/>
        </p:spPr>
      </p:sp>
      <p:sp>
        <p:nvSpPr>
          <p:cNvPr id="22" name="Text 19"/>
          <p:cNvSpPr txBox="1"/>
          <p:nvPr/>
        </p:nvSpPr>
        <p:spPr>
          <a:xfrm>
            <a:off x="10680192" y="20025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23" name="Text 20"/>
          <p:cNvSpPr txBox="1"/>
          <p:nvPr/>
        </p:nvSpPr>
        <p:spPr>
          <a:xfrm>
            <a:off x="8302752" y="23042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Hand-picked enhancement</a:t>
            </a:r>
            <a:endParaRPr lang="en-US" sz="1500" dirty="0"/>
          </a:p>
        </p:txBody>
      </p:sp>
      <p:sp>
        <p:nvSpPr>
          <p:cNvPr id="24" name="Text 21"/>
          <p:cNvSpPr txBox="1"/>
          <p:nvPr/>
        </p:nvSpPr>
        <p:spPr>
          <a:xfrm>
            <a:off x="8302752" y="26334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Rerun at matched 15 epochs</a:t>
            </a:r>
            <a:endParaRPr lang="en-US" sz="1150" dirty="0"/>
          </a:p>
        </p:txBody>
      </p:sp>
      <p:sp>
        <p:nvSpPr>
          <p:cNvPr id="25" name="Shape 22"/>
          <p:cNvSpPr/>
          <p:nvPr/>
        </p:nvSpPr>
        <p:spPr>
          <a:xfrm>
            <a:off x="548640" y="3246120"/>
            <a:ext cx="3566160" cy="1207008"/>
          </a:xfrm>
          <a:prstGeom prst="roundRect">
            <a:avLst>
              <a:gd name="adj" fmla="val 4545"/>
            </a:avLst>
          </a:prstGeom>
          <a:solidFill>
            <a:srgbClr val="F3F6F9"/>
          </a:solidFill>
          <a:ln w="9525">
            <a:solidFill>
              <a:srgbClr val="DCE3E8"/>
            </a:solidFill>
            <a:prstDash val="solid"/>
          </a:ln>
        </p:spPr>
      </p:sp>
      <p:sp>
        <p:nvSpPr>
          <p:cNvPr id="26" name="Text 23"/>
          <p:cNvSpPr txBox="1"/>
          <p:nvPr/>
        </p:nvSpPr>
        <p:spPr>
          <a:xfrm>
            <a:off x="777240" y="33832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4</a:t>
            </a:r>
            <a:endParaRPr lang="en-US" sz="1100" dirty="0"/>
          </a:p>
        </p:txBody>
      </p:sp>
      <p:sp>
        <p:nvSpPr>
          <p:cNvPr id="27" name="Shape 24"/>
          <p:cNvSpPr/>
          <p:nvPr/>
        </p:nvSpPr>
        <p:spPr>
          <a:xfrm>
            <a:off x="3154680" y="3374136"/>
            <a:ext cx="731520" cy="274320"/>
          </a:xfrm>
          <a:prstGeom prst="roundRect">
            <a:avLst>
              <a:gd name="adj" fmla="val 20000"/>
            </a:avLst>
          </a:prstGeom>
          <a:solidFill>
            <a:srgbClr val="E6F2EC"/>
          </a:solidFill>
          <a:ln/>
        </p:spPr>
      </p:sp>
      <p:sp>
        <p:nvSpPr>
          <p:cNvPr id="28" name="Text 25"/>
          <p:cNvSpPr txBox="1"/>
          <p:nvPr/>
        </p:nvSpPr>
        <p:spPr>
          <a:xfrm>
            <a:off x="3154680" y="33741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29" name="Text 26"/>
          <p:cNvSpPr txBox="1"/>
          <p:nvPr/>
        </p:nvSpPr>
        <p:spPr>
          <a:xfrm>
            <a:off x="777240" y="36758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Five-head multi-task model</a:t>
            </a:r>
            <a:endParaRPr lang="en-US" sz="1500" dirty="0"/>
          </a:p>
        </p:txBody>
      </p:sp>
      <p:sp>
        <p:nvSpPr>
          <p:cNvPr id="30" name="Text 27"/>
          <p:cNvSpPr txBox="1"/>
          <p:nvPr/>
        </p:nvSpPr>
        <p:spPr>
          <a:xfrm>
            <a:off x="777240" y="40050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Lesion and local pathology heads added</a:t>
            </a:r>
            <a:endParaRPr lang="en-US" sz="1150" dirty="0"/>
          </a:p>
        </p:txBody>
      </p:sp>
      <p:sp>
        <p:nvSpPr>
          <p:cNvPr id="31" name="Shape 28"/>
          <p:cNvSpPr/>
          <p:nvPr/>
        </p:nvSpPr>
        <p:spPr>
          <a:xfrm>
            <a:off x="4311396" y="3246120"/>
            <a:ext cx="3566160" cy="1207008"/>
          </a:xfrm>
          <a:prstGeom prst="roundRect">
            <a:avLst>
              <a:gd name="adj" fmla="val 4545"/>
            </a:avLst>
          </a:prstGeom>
          <a:solidFill>
            <a:srgbClr val="F3F6F9"/>
          </a:solidFill>
          <a:ln w="9525">
            <a:solidFill>
              <a:srgbClr val="DCE3E8"/>
            </a:solidFill>
            <a:prstDash val="solid"/>
          </a:ln>
        </p:spPr>
      </p:sp>
      <p:sp>
        <p:nvSpPr>
          <p:cNvPr id="32" name="Text 29"/>
          <p:cNvSpPr txBox="1"/>
          <p:nvPr/>
        </p:nvSpPr>
        <p:spPr>
          <a:xfrm>
            <a:off x="4539996" y="33832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5</a:t>
            </a:r>
            <a:endParaRPr lang="en-US" sz="1100" dirty="0"/>
          </a:p>
        </p:txBody>
      </p:sp>
      <p:sp>
        <p:nvSpPr>
          <p:cNvPr id="33" name="Shape 30"/>
          <p:cNvSpPr/>
          <p:nvPr/>
        </p:nvSpPr>
        <p:spPr>
          <a:xfrm>
            <a:off x="6917436" y="3374136"/>
            <a:ext cx="731520" cy="274320"/>
          </a:xfrm>
          <a:prstGeom prst="roundRect">
            <a:avLst>
              <a:gd name="adj" fmla="val 20000"/>
            </a:avLst>
          </a:prstGeom>
          <a:solidFill>
            <a:srgbClr val="E6F2EC"/>
          </a:solidFill>
          <a:ln/>
        </p:spPr>
      </p:sp>
      <p:sp>
        <p:nvSpPr>
          <p:cNvPr id="34" name="Text 31"/>
          <p:cNvSpPr txBox="1"/>
          <p:nvPr/>
        </p:nvSpPr>
        <p:spPr>
          <a:xfrm>
            <a:off x="6917436" y="33741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35" name="Text 32"/>
          <p:cNvSpPr txBox="1"/>
          <p:nvPr/>
        </p:nvSpPr>
        <p:spPr>
          <a:xfrm>
            <a:off x="4539996" y="36758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Anatomical consistency</a:t>
            </a:r>
            <a:endParaRPr lang="en-US" sz="1500" dirty="0"/>
          </a:p>
        </p:txBody>
      </p:sp>
      <p:sp>
        <p:nvSpPr>
          <p:cNvPr id="36" name="Text 33"/>
          <p:cNvSpPr txBox="1"/>
          <p:nvPr/>
        </p:nvSpPr>
        <p:spPr>
          <a:xfrm>
            <a:off x="4539996" y="40050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Absolute form diagnosed; ratio form validated</a:t>
            </a:r>
            <a:endParaRPr lang="en-US" sz="1150" dirty="0"/>
          </a:p>
        </p:txBody>
      </p:sp>
      <p:sp>
        <p:nvSpPr>
          <p:cNvPr id="37" name="Shape 34"/>
          <p:cNvSpPr/>
          <p:nvPr/>
        </p:nvSpPr>
        <p:spPr>
          <a:xfrm>
            <a:off x="8074152" y="3246120"/>
            <a:ext cx="3566160" cy="1207008"/>
          </a:xfrm>
          <a:prstGeom prst="roundRect">
            <a:avLst>
              <a:gd name="adj" fmla="val 4545"/>
            </a:avLst>
          </a:prstGeom>
          <a:solidFill>
            <a:srgbClr val="F3F6F9"/>
          </a:solidFill>
          <a:ln w="9525">
            <a:solidFill>
              <a:srgbClr val="DCE3E8"/>
            </a:solidFill>
            <a:prstDash val="solid"/>
          </a:ln>
        </p:spPr>
      </p:sp>
      <p:sp>
        <p:nvSpPr>
          <p:cNvPr id="38" name="Text 35"/>
          <p:cNvSpPr txBox="1"/>
          <p:nvPr/>
        </p:nvSpPr>
        <p:spPr>
          <a:xfrm>
            <a:off x="8302752" y="33832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6</a:t>
            </a:r>
            <a:endParaRPr lang="en-US" sz="1100" dirty="0"/>
          </a:p>
        </p:txBody>
      </p:sp>
      <p:sp>
        <p:nvSpPr>
          <p:cNvPr id="39" name="Shape 36"/>
          <p:cNvSpPr/>
          <p:nvPr/>
        </p:nvSpPr>
        <p:spPr>
          <a:xfrm>
            <a:off x="10680192" y="3374136"/>
            <a:ext cx="731520" cy="274320"/>
          </a:xfrm>
          <a:prstGeom prst="roundRect">
            <a:avLst>
              <a:gd name="adj" fmla="val 20000"/>
            </a:avLst>
          </a:prstGeom>
          <a:solidFill>
            <a:srgbClr val="E6F2EC"/>
          </a:solidFill>
          <a:ln/>
        </p:spPr>
      </p:sp>
      <p:sp>
        <p:nvSpPr>
          <p:cNvPr id="40" name="Text 37"/>
          <p:cNvSpPr txBox="1"/>
          <p:nvPr/>
        </p:nvSpPr>
        <p:spPr>
          <a:xfrm>
            <a:off x="10680192" y="3374136"/>
            <a:ext cx="731520" cy="274320"/>
          </a:xfrm>
          <a:prstGeom prst="rect">
            <a:avLst/>
          </a:prstGeom>
          <a:noFill/>
          <a:ln/>
        </p:spPr>
        <p:txBody>
          <a:bodyPr wrap="square" lIns="0" tIns="0" rIns="0" bIns="0" rtlCol="0" anchor="ctr"/>
          <a:lstStyle/>
          <a:p>
            <a:pPr marL="0" indent="0" algn="ctr">
              <a:buNone/>
            </a:pPr>
            <a:r>
              <a:rPr lang="en-US" sz="1000" b="1" dirty="0">
                <a:solidFill>
                  <a:srgbClr val="2E7D5B"/>
                </a:solidFill>
                <a:latin typeface="Calibri" pitchFamily="34" charset="0"/>
                <a:ea typeface="Calibri" pitchFamily="34" charset="-122"/>
                <a:cs typeface="Calibri" pitchFamily="34" charset="-120"/>
              </a:rPr>
              <a:t>COMPLETE</a:t>
            </a:r>
            <a:endParaRPr lang="en-US" sz="1000" dirty="0"/>
          </a:p>
        </p:txBody>
      </p:sp>
      <p:sp>
        <p:nvSpPr>
          <p:cNvPr id="41" name="Text 38"/>
          <p:cNvSpPr txBox="1"/>
          <p:nvPr/>
        </p:nvSpPr>
        <p:spPr>
          <a:xfrm>
            <a:off x="8302752" y="36758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Metaheuristic optimization</a:t>
            </a:r>
            <a:endParaRPr lang="en-US" sz="1500" dirty="0"/>
          </a:p>
        </p:txBody>
      </p:sp>
      <p:sp>
        <p:nvSpPr>
          <p:cNvPr id="42" name="Text 39"/>
          <p:cNvSpPr txBox="1"/>
          <p:nvPr/>
        </p:nvSpPr>
        <p:spPr>
          <a:xfrm>
            <a:off x="8302752" y="40050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COA, WOA, GWO; 180 trainings; full retrain</a:t>
            </a:r>
            <a:endParaRPr lang="en-US" sz="1150" dirty="0"/>
          </a:p>
        </p:txBody>
      </p:sp>
      <p:sp>
        <p:nvSpPr>
          <p:cNvPr id="43" name="Shape 40"/>
          <p:cNvSpPr/>
          <p:nvPr/>
        </p:nvSpPr>
        <p:spPr>
          <a:xfrm>
            <a:off x="548640" y="4617720"/>
            <a:ext cx="3566160" cy="1207008"/>
          </a:xfrm>
          <a:prstGeom prst="roundRect">
            <a:avLst>
              <a:gd name="adj" fmla="val 4545"/>
            </a:avLst>
          </a:prstGeom>
          <a:solidFill>
            <a:srgbClr val="FFFFFF"/>
          </a:solidFill>
          <a:ln w="9525">
            <a:solidFill>
              <a:srgbClr val="DCE3E8"/>
            </a:solidFill>
            <a:prstDash val="solid"/>
          </a:ln>
        </p:spPr>
      </p:sp>
      <p:sp>
        <p:nvSpPr>
          <p:cNvPr id="44" name="Text 41"/>
          <p:cNvSpPr txBox="1"/>
          <p:nvPr/>
        </p:nvSpPr>
        <p:spPr>
          <a:xfrm>
            <a:off x="777240" y="47548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7</a:t>
            </a:r>
            <a:endParaRPr lang="en-US" sz="1100" dirty="0"/>
          </a:p>
        </p:txBody>
      </p:sp>
      <p:sp>
        <p:nvSpPr>
          <p:cNvPr id="45" name="Shape 42"/>
          <p:cNvSpPr/>
          <p:nvPr/>
        </p:nvSpPr>
        <p:spPr>
          <a:xfrm>
            <a:off x="2921508" y="4745736"/>
            <a:ext cx="964692" cy="274320"/>
          </a:xfrm>
          <a:prstGeom prst="roundRect">
            <a:avLst>
              <a:gd name="adj" fmla="val 20000"/>
            </a:avLst>
          </a:prstGeom>
          <a:solidFill>
            <a:srgbClr val="FBF0DF"/>
          </a:solidFill>
          <a:ln/>
        </p:spPr>
      </p:sp>
      <p:sp>
        <p:nvSpPr>
          <p:cNvPr id="46" name="Text 43"/>
          <p:cNvSpPr txBox="1"/>
          <p:nvPr/>
        </p:nvSpPr>
        <p:spPr>
          <a:xfrm>
            <a:off x="2921508" y="4745736"/>
            <a:ext cx="964692"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IN PROGRESS</a:t>
            </a:r>
            <a:endParaRPr lang="en-US" sz="1000" dirty="0"/>
          </a:p>
        </p:txBody>
      </p:sp>
      <p:sp>
        <p:nvSpPr>
          <p:cNvPr id="47" name="Text 44"/>
          <p:cNvSpPr txBox="1"/>
          <p:nvPr/>
        </p:nvSpPr>
        <p:spPr>
          <a:xfrm>
            <a:off x="777240" y="50474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Ablations</a:t>
            </a:r>
            <a:endParaRPr lang="en-US" sz="1500" dirty="0"/>
          </a:p>
        </p:txBody>
      </p:sp>
      <p:sp>
        <p:nvSpPr>
          <p:cNvPr id="48" name="Text 45"/>
          <p:cNvSpPr txBox="1"/>
          <p:nvPr/>
        </p:nvSpPr>
        <p:spPr>
          <a:xfrm>
            <a:off x="777240" y="53766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4 of 5 runs done; enhancement-only remaining</a:t>
            </a:r>
            <a:endParaRPr lang="en-US" sz="1150" dirty="0"/>
          </a:p>
        </p:txBody>
      </p:sp>
      <p:sp>
        <p:nvSpPr>
          <p:cNvPr id="49" name="Shape 46"/>
          <p:cNvSpPr/>
          <p:nvPr/>
        </p:nvSpPr>
        <p:spPr>
          <a:xfrm>
            <a:off x="4311396" y="4617720"/>
            <a:ext cx="3566160" cy="1207008"/>
          </a:xfrm>
          <a:prstGeom prst="roundRect">
            <a:avLst>
              <a:gd name="adj" fmla="val 4545"/>
            </a:avLst>
          </a:prstGeom>
          <a:solidFill>
            <a:srgbClr val="FFFFFF"/>
          </a:solidFill>
          <a:ln w="9525">
            <a:solidFill>
              <a:srgbClr val="DCE3E8"/>
            </a:solidFill>
            <a:prstDash val="solid"/>
          </a:ln>
        </p:spPr>
      </p:sp>
      <p:sp>
        <p:nvSpPr>
          <p:cNvPr id="50" name="Text 47"/>
          <p:cNvSpPr txBox="1"/>
          <p:nvPr/>
        </p:nvSpPr>
        <p:spPr>
          <a:xfrm>
            <a:off x="4539996" y="47548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8</a:t>
            </a:r>
            <a:endParaRPr lang="en-US" sz="1100" dirty="0"/>
          </a:p>
        </p:txBody>
      </p:sp>
      <p:sp>
        <p:nvSpPr>
          <p:cNvPr id="51" name="Shape 48"/>
          <p:cNvSpPr/>
          <p:nvPr/>
        </p:nvSpPr>
        <p:spPr>
          <a:xfrm>
            <a:off x="6995160" y="4745736"/>
            <a:ext cx="653796" cy="274320"/>
          </a:xfrm>
          <a:prstGeom prst="roundRect">
            <a:avLst>
              <a:gd name="adj" fmla="val 20000"/>
            </a:avLst>
          </a:prstGeom>
          <a:solidFill>
            <a:srgbClr val="FBF0DF"/>
          </a:solidFill>
          <a:ln/>
        </p:spPr>
      </p:sp>
      <p:sp>
        <p:nvSpPr>
          <p:cNvPr id="52" name="Text 49"/>
          <p:cNvSpPr txBox="1"/>
          <p:nvPr/>
        </p:nvSpPr>
        <p:spPr>
          <a:xfrm>
            <a:off x="6995160" y="4745736"/>
            <a:ext cx="653796"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PLANNED</a:t>
            </a:r>
            <a:endParaRPr lang="en-US" sz="1000" dirty="0"/>
          </a:p>
        </p:txBody>
      </p:sp>
      <p:sp>
        <p:nvSpPr>
          <p:cNvPr id="53" name="Text 50"/>
          <p:cNvSpPr txBox="1"/>
          <p:nvPr/>
        </p:nvSpPr>
        <p:spPr>
          <a:xfrm>
            <a:off x="4539996" y="50474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Cross-validation and external test</a:t>
            </a:r>
            <a:endParaRPr lang="en-US" sz="1500" dirty="0"/>
          </a:p>
        </p:txBody>
      </p:sp>
      <p:sp>
        <p:nvSpPr>
          <p:cNvPr id="54" name="Text 51"/>
          <p:cNvSpPr txBox="1"/>
          <p:nvPr/>
        </p:nvSpPr>
        <p:spPr>
          <a:xfrm>
            <a:off x="4539996" y="53766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Five-fold scripts ready; proxy check ready</a:t>
            </a:r>
            <a:endParaRPr lang="en-US" sz="1150" dirty="0"/>
          </a:p>
        </p:txBody>
      </p:sp>
      <p:sp>
        <p:nvSpPr>
          <p:cNvPr id="55" name="Shape 52"/>
          <p:cNvSpPr/>
          <p:nvPr/>
        </p:nvSpPr>
        <p:spPr>
          <a:xfrm>
            <a:off x="8074152" y="4617720"/>
            <a:ext cx="3566160" cy="1207008"/>
          </a:xfrm>
          <a:prstGeom prst="roundRect">
            <a:avLst>
              <a:gd name="adj" fmla="val 4545"/>
            </a:avLst>
          </a:prstGeom>
          <a:solidFill>
            <a:srgbClr val="FFFFFF"/>
          </a:solidFill>
          <a:ln w="9525">
            <a:solidFill>
              <a:srgbClr val="DCE3E8"/>
            </a:solidFill>
            <a:prstDash val="solid"/>
          </a:ln>
        </p:spPr>
      </p:sp>
      <p:sp>
        <p:nvSpPr>
          <p:cNvPr id="56" name="Text 53"/>
          <p:cNvSpPr txBox="1"/>
          <p:nvPr/>
        </p:nvSpPr>
        <p:spPr>
          <a:xfrm>
            <a:off x="8302752" y="4754880"/>
            <a:ext cx="1371600" cy="274320"/>
          </a:xfrm>
          <a:prstGeom prst="rect">
            <a:avLst/>
          </a:prstGeom>
          <a:noFill/>
          <a:ln/>
        </p:spPr>
        <p:txBody>
          <a:bodyPr wrap="square" lIns="0" tIns="0" rIns="0" bIns="0" rtlCol="0" anchor="t"/>
          <a:lstStyle/>
          <a:p>
            <a:pPr marL="0" indent="0">
              <a:buNone/>
            </a:pPr>
            <a:r>
              <a:rPr lang="en-US" sz="1100" b="1" kern="0" spc="200" dirty="0">
                <a:solidFill>
                  <a:srgbClr val="1C7293"/>
                </a:solidFill>
                <a:latin typeface="Calibri" pitchFamily="34" charset="0"/>
                <a:ea typeface="Calibri" pitchFamily="34" charset="-122"/>
                <a:cs typeface="Calibri" pitchFamily="34" charset="-120"/>
              </a:rPr>
              <a:t>PHASE 9</a:t>
            </a:r>
            <a:endParaRPr lang="en-US" sz="1100" dirty="0"/>
          </a:p>
        </p:txBody>
      </p:sp>
      <p:sp>
        <p:nvSpPr>
          <p:cNvPr id="57" name="Shape 54"/>
          <p:cNvSpPr/>
          <p:nvPr/>
        </p:nvSpPr>
        <p:spPr>
          <a:xfrm>
            <a:off x="10757916" y="4745736"/>
            <a:ext cx="653796" cy="274320"/>
          </a:xfrm>
          <a:prstGeom prst="roundRect">
            <a:avLst>
              <a:gd name="adj" fmla="val 20000"/>
            </a:avLst>
          </a:prstGeom>
          <a:solidFill>
            <a:srgbClr val="FBF0DF"/>
          </a:solidFill>
          <a:ln/>
        </p:spPr>
      </p:sp>
      <p:sp>
        <p:nvSpPr>
          <p:cNvPr id="58" name="Text 55"/>
          <p:cNvSpPr txBox="1"/>
          <p:nvPr/>
        </p:nvSpPr>
        <p:spPr>
          <a:xfrm>
            <a:off x="10757916" y="4745736"/>
            <a:ext cx="653796" cy="274320"/>
          </a:xfrm>
          <a:prstGeom prst="rect">
            <a:avLst/>
          </a:prstGeom>
          <a:noFill/>
          <a:ln/>
        </p:spPr>
        <p:txBody>
          <a:bodyPr wrap="square" lIns="0" tIns="0" rIns="0" bIns="0" rtlCol="0" anchor="ctr"/>
          <a:lstStyle/>
          <a:p>
            <a:pPr marL="0" indent="0" algn="ctr">
              <a:buNone/>
            </a:pPr>
            <a:r>
              <a:rPr lang="en-US" sz="1000" b="1" dirty="0">
                <a:solidFill>
                  <a:srgbClr val="8A5A12"/>
                </a:solidFill>
                <a:latin typeface="Calibri" pitchFamily="34" charset="0"/>
                <a:ea typeface="Calibri" pitchFamily="34" charset="-122"/>
                <a:cs typeface="Calibri" pitchFamily="34" charset="-120"/>
              </a:rPr>
              <a:t>PLANNED</a:t>
            </a:r>
            <a:endParaRPr lang="en-US" sz="1000" dirty="0"/>
          </a:p>
        </p:txBody>
      </p:sp>
      <p:sp>
        <p:nvSpPr>
          <p:cNvPr id="59" name="Text 56"/>
          <p:cNvSpPr txBox="1"/>
          <p:nvPr/>
        </p:nvSpPr>
        <p:spPr>
          <a:xfrm>
            <a:off x="8302752" y="5047488"/>
            <a:ext cx="3154680" cy="329184"/>
          </a:xfrm>
          <a:prstGeom prst="rect">
            <a:avLst/>
          </a:prstGeom>
          <a:noFill/>
          <a:ln/>
        </p:spPr>
        <p:txBody>
          <a:bodyPr wrap="square" lIns="0" tIns="0" rIns="0" bIns="0" rtlCol="0" anchor="t"/>
          <a:lstStyle/>
          <a:p>
            <a:pPr marL="0" indent="0">
              <a:buNone/>
            </a:pPr>
            <a:r>
              <a:rPr lang="en-US" sz="1500" b="1" dirty="0">
                <a:solidFill>
                  <a:srgbClr val="1A2233"/>
                </a:solidFill>
                <a:latin typeface="Calibri" pitchFamily="34" charset="0"/>
                <a:ea typeface="Calibri" pitchFamily="34" charset="-122"/>
                <a:cs typeface="Calibri" pitchFamily="34" charset="-120"/>
              </a:rPr>
              <a:t>Write-up</a:t>
            </a:r>
            <a:endParaRPr lang="en-US" sz="1500" dirty="0"/>
          </a:p>
        </p:txBody>
      </p:sp>
      <p:sp>
        <p:nvSpPr>
          <p:cNvPr id="60" name="Text 57"/>
          <p:cNvSpPr txBox="1"/>
          <p:nvPr/>
        </p:nvSpPr>
        <p:spPr>
          <a:xfrm>
            <a:off x="8302752" y="5376672"/>
            <a:ext cx="3154680" cy="365760"/>
          </a:xfrm>
          <a:prstGeom prst="rect">
            <a:avLst/>
          </a:prstGeom>
          <a:noFill/>
          <a:ln/>
        </p:spPr>
        <p:txBody>
          <a:bodyPr wrap="square" lIns="0" tIns="0" rIns="0" bIns="0" rtlCol="0" anchor="t"/>
          <a:lstStyle/>
          <a:p>
            <a:pPr marL="0" indent="0">
              <a:buNone/>
            </a:pPr>
            <a:r>
              <a:rPr lang="en-US" sz="1150" dirty="0">
                <a:solidFill>
                  <a:srgbClr val="5B6B79"/>
                </a:solidFill>
                <a:latin typeface="Calibri" pitchFamily="34" charset="0"/>
                <a:ea typeface="Calibri" pitchFamily="34" charset="-122"/>
                <a:cs typeface="Calibri" pitchFamily="34" charset="-120"/>
              </a:rPr>
              <a:t>Paper draft from results document</a:t>
            </a:r>
            <a:endParaRPr lang="en-US" sz="1150" dirty="0"/>
          </a:p>
        </p:txBody>
      </p:sp>
      <p:sp>
        <p:nvSpPr>
          <p:cNvPr id="61" name="Text 58"/>
          <p:cNvSpPr txBox="1"/>
          <p:nvPr/>
        </p:nvSpPr>
        <p:spPr>
          <a:xfrm>
            <a:off x="548640" y="5943600"/>
            <a:ext cx="11094415" cy="320040"/>
          </a:xfrm>
          <a:prstGeom prst="rect">
            <a:avLst/>
          </a:prstGeom>
          <a:noFill/>
          <a:ln/>
        </p:spPr>
        <p:txBody>
          <a:bodyPr wrap="square" lIns="0" tIns="0" rIns="0" bIns="0" rtlCol="0" anchor="t"/>
          <a:lstStyle/>
          <a:p>
            <a:pPr marL="0" indent="0" algn="ctr">
              <a:buNone/>
            </a:pPr>
            <a:r>
              <a:rPr lang="en-US" sz="1400" b="1" dirty="0">
                <a:solidFill>
                  <a:srgbClr val="21295C"/>
                </a:solidFill>
                <a:latin typeface="Calibri" pitchFamily="34" charset="0"/>
                <a:ea typeface="Calibri" pitchFamily="34" charset="-122"/>
                <a:cs typeface="Calibri" pitchFamily="34" charset="-120"/>
              </a:rPr>
              <a:t>6 of 9 phases complete  ·  Phase 7 in progress  ·  2 phases remaining</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LOOKING AHEAD</a:t>
            </a:r>
            <a:endParaRPr lang="en-US" sz="1200" dirty="0"/>
          </a:p>
        </p:txBody>
      </p:sp>
      <p:sp>
        <p:nvSpPr>
          <p:cNvPr id="3" name="Text 1"/>
          <p:cNvSpPr txBox="1"/>
          <p:nvPr/>
        </p:nvSpPr>
        <p:spPr>
          <a:xfrm>
            <a:off x="548640" y="658368"/>
            <a:ext cx="11094415" cy="640080"/>
          </a:xfrm>
          <a:prstGeom prst="rect">
            <a:avLst/>
          </a:prstGeom>
          <a:noFill/>
          <a:ln/>
        </p:spPr>
        <p:txBody>
          <a:bodyPr wrap="square" lIns="0" tIns="0" rIns="0" bIns="0" rtlCol="0" anchor="ctr"/>
          <a:lstStyle/>
          <a:p>
            <a:pPr marL="0" indent="0">
              <a:buNone/>
            </a:pPr>
            <a:r>
              <a:rPr lang="en-US" sz="3000" b="1" dirty="0">
                <a:solidFill>
                  <a:srgbClr val="21295C"/>
                </a:solidFill>
                <a:latin typeface="Cambria" pitchFamily="34" charset="0"/>
                <a:ea typeface="Cambria" pitchFamily="34" charset="-122"/>
                <a:cs typeface="Cambria" pitchFamily="34" charset="-120"/>
              </a:rPr>
              <a:t>Next Steps</a:t>
            </a:r>
            <a:endParaRPr lang="en-US" sz="30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marL="0" indent="0" algn="r">
              <a:buNone/>
            </a:pPr>
            <a:r>
              <a:rPr lang="en-US" sz="1000" dirty="0">
                <a:solidFill>
                  <a:srgbClr val="5B6B79"/>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548640" y="1920240"/>
            <a:ext cx="420624" cy="420624"/>
          </a:xfrm>
          <a:prstGeom prst="roundRect">
            <a:avLst>
              <a:gd name="adj" fmla="val 17391"/>
            </a:avLst>
          </a:prstGeom>
          <a:solidFill>
            <a:srgbClr val="21295C"/>
          </a:solidFill>
          <a:ln/>
        </p:spPr>
      </p:sp>
      <p:sp>
        <p:nvSpPr>
          <p:cNvPr id="8" name="Text 5"/>
          <p:cNvSpPr txBox="1"/>
          <p:nvPr/>
        </p:nvSpPr>
        <p:spPr>
          <a:xfrm>
            <a:off x="548640" y="19202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9" name="Text 6"/>
          <p:cNvSpPr txBox="1"/>
          <p:nvPr/>
        </p:nvSpPr>
        <p:spPr>
          <a:xfrm>
            <a:off x="1115568" y="1901952"/>
            <a:ext cx="10527487"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Finish Phase 7</a:t>
            </a:r>
            <a:endParaRPr lang="en-US" sz="1600" dirty="0"/>
          </a:p>
        </p:txBody>
      </p:sp>
      <p:sp>
        <p:nvSpPr>
          <p:cNvPr id="10" name="Text 7"/>
          <p:cNvSpPr txBox="1"/>
          <p:nvPr/>
        </p:nvSpPr>
        <p:spPr>
          <a:xfrm>
            <a:off x="1115568" y="2231136"/>
            <a:ext cx="10527487" cy="41148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Run the last ablation, optimized enhancement with equal weights, to isolate the contribution of enhancement on its own.</a:t>
            </a:r>
            <a:endParaRPr lang="en-US" sz="1300" dirty="0"/>
          </a:p>
        </p:txBody>
      </p:sp>
      <p:sp>
        <p:nvSpPr>
          <p:cNvPr id="11" name="Shape 8"/>
          <p:cNvSpPr/>
          <p:nvPr/>
        </p:nvSpPr>
        <p:spPr>
          <a:xfrm>
            <a:off x="548640" y="2770632"/>
            <a:ext cx="420624" cy="420624"/>
          </a:xfrm>
          <a:prstGeom prst="roundRect">
            <a:avLst>
              <a:gd name="adj" fmla="val 17391"/>
            </a:avLst>
          </a:prstGeom>
          <a:solidFill>
            <a:srgbClr val="21295C"/>
          </a:solidFill>
          <a:ln/>
        </p:spPr>
      </p:sp>
      <p:sp>
        <p:nvSpPr>
          <p:cNvPr id="12" name="Text 9"/>
          <p:cNvSpPr txBox="1"/>
          <p:nvPr/>
        </p:nvSpPr>
        <p:spPr>
          <a:xfrm>
            <a:off x="548640" y="277063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3" name="Text 10"/>
          <p:cNvSpPr txBox="1"/>
          <p:nvPr/>
        </p:nvSpPr>
        <p:spPr>
          <a:xfrm>
            <a:off x="1115568" y="2752344"/>
            <a:ext cx="10527487"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Phase 8: five-fold cross-validation</a:t>
            </a:r>
            <a:endParaRPr lang="en-US" sz="1600" dirty="0"/>
          </a:p>
        </p:txBody>
      </p:sp>
      <p:sp>
        <p:nvSpPr>
          <p:cNvPr id="14" name="Text 11"/>
          <p:cNvSpPr txBox="1"/>
          <p:nvPr/>
        </p:nvSpPr>
        <p:spPr>
          <a:xfrm>
            <a:off x="1115568" y="3081528"/>
            <a:ext cx="10527487" cy="41148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Evaluate optimized and equal-weight configurations under the URI-CADS protocol, for a direct comparison with 0.8741 AUC and error bars.</a:t>
            </a:r>
            <a:endParaRPr lang="en-US" sz="1300" dirty="0"/>
          </a:p>
        </p:txBody>
      </p:sp>
      <p:sp>
        <p:nvSpPr>
          <p:cNvPr id="15" name="Shape 12"/>
          <p:cNvSpPr/>
          <p:nvPr/>
        </p:nvSpPr>
        <p:spPr>
          <a:xfrm>
            <a:off x="548640" y="3621024"/>
            <a:ext cx="420624" cy="420624"/>
          </a:xfrm>
          <a:prstGeom prst="roundRect">
            <a:avLst>
              <a:gd name="adj" fmla="val 17391"/>
            </a:avLst>
          </a:prstGeom>
          <a:solidFill>
            <a:srgbClr val="21295C"/>
          </a:solidFill>
          <a:ln/>
        </p:spPr>
      </p:sp>
      <p:sp>
        <p:nvSpPr>
          <p:cNvPr id="16" name="Text 13"/>
          <p:cNvSpPr txBox="1"/>
          <p:nvPr/>
        </p:nvSpPr>
        <p:spPr>
          <a:xfrm>
            <a:off x="548640" y="362102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7" name="Text 14"/>
          <p:cNvSpPr txBox="1"/>
          <p:nvPr/>
        </p:nvSpPr>
        <p:spPr>
          <a:xfrm>
            <a:off x="1115568" y="3602736"/>
            <a:ext cx="10527487"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Validate the search proxy</a:t>
            </a:r>
            <a:endParaRPr lang="en-US" sz="1600" dirty="0"/>
          </a:p>
        </p:txBody>
      </p:sp>
      <p:sp>
        <p:nvSpPr>
          <p:cNvPr id="18" name="Text 15"/>
          <p:cNvSpPr txBox="1"/>
          <p:nvPr/>
        </p:nvSpPr>
        <p:spPr>
          <a:xfrm>
            <a:off x="1115568" y="3931920"/>
            <a:ext cx="10527487" cy="41148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Retrain the WOA and GWO winners at full fidelity and check whether search fitness predicts final performance.</a:t>
            </a:r>
            <a:endParaRPr lang="en-US" sz="1300" dirty="0"/>
          </a:p>
        </p:txBody>
      </p:sp>
      <p:sp>
        <p:nvSpPr>
          <p:cNvPr id="19" name="Shape 16"/>
          <p:cNvSpPr/>
          <p:nvPr/>
        </p:nvSpPr>
        <p:spPr>
          <a:xfrm>
            <a:off x="548640" y="4471416"/>
            <a:ext cx="420624" cy="420624"/>
          </a:xfrm>
          <a:prstGeom prst="roundRect">
            <a:avLst>
              <a:gd name="adj" fmla="val 17391"/>
            </a:avLst>
          </a:prstGeom>
          <a:solidFill>
            <a:srgbClr val="21295C"/>
          </a:solidFill>
          <a:ln/>
        </p:spPr>
      </p:sp>
      <p:sp>
        <p:nvSpPr>
          <p:cNvPr id="20" name="Text 17"/>
          <p:cNvSpPr txBox="1"/>
          <p:nvPr/>
        </p:nvSpPr>
        <p:spPr>
          <a:xfrm>
            <a:off x="548640" y="447141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1" name="Text 18"/>
          <p:cNvSpPr txBox="1"/>
          <p:nvPr/>
        </p:nvSpPr>
        <p:spPr>
          <a:xfrm>
            <a:off x="1115568" y="4453128"/>
            <a:ext cx="10527487"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Improve the optimizer study</a:t>
            </a:r>
            <a:endParaRPr lang="en-US" sz="1600" dirty="0"/>
          </a:p>
        </p:txBody>
      </p:sp>
      <p:sp>
        <p:nvSpPr>
          <p:cNvPr id="22" name="Text 19"/>
          <p:cNvSpPr txBox="1"/>
          <p:nvPr/>
        </p:nvSpPr>
        <p:spPr>
          <a:xfrm>
            <a:off x="1115568" y="4782312"/>
            <a:ext cx="10527487" cy="41148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Longer evaluations, a fitness that blocks regression on any task, and a narrower weight range so no head can be switched off.</a:t>
            </a:r>
            <a:endParaRPr lang="en-US" sz="1300" dirty="0"/>
          </a:p>
        </p:txBody>
      </p:sp>
      <p:sp>
        <p:nvSpPr>
          <p:cNvPr id="23" name="Shape 20"/>
          <p:cNvSpPr/>
          <p:nvPr/>
        </p:nvSpPr>
        <p:spPr>
          <a:xfrm>
            <a:off x="548640" y="5321808"/>
            <a:ext cx="420624" cy="420624"/>
          </a:xfrm>
          <a:prstGeom prst="roundRect">
            <a:avLst>
              <a:gd name="adj" fmla="val 17391"/>
            </a:avLst>
          </a:prstGeom>
          <a:solidFill>
            <a:srgbClr val="21295C"/>
          </a:solidFill>
          <a:ln/>
        </p:spPr>
      </p:sp>
      <p:sp>
        <p:nvSpPr>
          <p:cNvPr id="24" name="Text 21"/>
          <p:cNvSpPr txBox="1"/>
          <p:nvPr/>
        </p:nvSpPr>
        <p:spPr>
          <a:xfrm>
            <a:off x="548640" y="5321808"/>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5" name="Text 22"/>
          <p:cNvSpPr txBox="1"/>
          <p:nvPr/>
        </p:nvSpPr>
        <p:spPr>
          <a:xfrm>
            <a:off x="1115568" y="5303520"/>
            <a:ext cx="10527487" cy="329184"/>
          </a:xfrm>
          <a:prstGeom prst="rect">
            <a:avLst/>
          </a:prstGeom>
          <a:noFill/>
          <a:ln/>
        </p:spPr>
        <p:txBody>
          <a:bodyPr wrap="square" lIns="0" tIns="0" rIns="0" bIns="0" rtlCol="0" anchor="t"/>
          <a:lstStyle/>
          <a:p>
            <a:pPr marL="0" indent="0">
              <a:buNone/>
            </a:pPr>
            <a:r>
              <a:rPr lang="en-US" sz="1600" b="1" dirty="0">
                <a:solidFill>
                  <a:srgbClr val="1A2233"/>
                </a:solidFill>
                <a:latin typeface="Calibri" pitchFamily="34" charset="0"/>
                <a:ea typeface="Calibri" pitchFamily="34" charset="-122"/>
                <a:cs typeface="Calibri" pitchFamily="34" charset="-120"/>
              </a:rPr>
              <a:t>External validation and write-up</a:t>
            </a:r>
            <a:endParaRPr lang="en-US" sz="1600" dirty="0"/>
          </a:p>
        </p:txBody>
      </p:sp>
      <p:sp>
        <p:nvSpPr>
          <p:cNvPr id="26" name="Text 23"/>
          <p:cNvSpPr txBox="1"/>
          <p:nvPr/>
        </p:nvSpPr>
        <p:spPr>
          <a:xfrm>
            <a:off x="1115568" y="5632704"/>
            <a:ext cx="10527487" cy="411480"/>
          </a:xfrm>
          <a:prstGeom prst="rect">
            <a:avLst/>
          </a:prstGeom>
          <a:noFill/>
          <a:ln/>
        </p:spPr>
        <p:txBody>
          <a:bodyPr wrap="square" lIns="0" tIns="0" rIns="0" bIns="0" rtlCol="0" anchor="t"/>
          <a:lstStyle/>
          <a:p>
            <a:pPr marL="0" indent="0">
              <a:buNone/>
            </a:pPr>
            <a:r>
              <a:rPr lang="en-US" sz="1300" dirty="0">
                <a:solidFill>
                  <a:srgbClr val="5B6B79"/>
                </a:solidFill>
                <a:latin typeface="Calibri" pitchFamily="34" charset="0"/>
                <a:ea typeface="Calibri" pitchFamily="34" charset="-122"/>
                <a:cs typeface="Calibri" pitchFamily="34" charset="-120"/>
              </a:rPr>
              <a:t>Test on a second cohort, then draft the paper from the accumulated results document (Phase 9).</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1295C"/>
        </a:solidFill>
        <a:effectLst/>
      </p:bgPr>
    </p:bg>
    <p:spTree>
      <p:nvGrpSpPr>
        <p:cNvPr id="1" name=""/>
        <p:cNvGrpSpPr/>
        <p:nvPr/>
      </p:nvGrpSpPr>
      <p:grpSpPr>
        <a:xfrm>
          <a:off x="0" y="0"/>
          <a:ext cx="0" cy="0"/>
          <a:chOff x="0" y="0"/>
          <a:chExt cx="0" cy="0"/>
        </a:xfrm>
      </p:grpSpPr>
      <p:sp>
        <p:nvSpPr>
          <p:cNvPr id="3" name="Text 0"/>
          <p:cNvSpPr txBox="1"/>
          <p:nvPr/>
        </p:nvSpPr>
        <p:spPr>
          <a:xfrm>
            <a:off x="731520" y="731520"/>
            <a:ext cx="7315200" cy="320040"/>
          </a:xfrm>
          <a:prstGeom prst="rect">
            <a:avLst/>
          </a:prstGeom>
          <a:noFill/>
          <a:ln/>
        </p:spPr>
        <p:txBody>
          <a:bodyPr wrap="square" lIns="0" tIns="0" rIns="0" bIns="0" rtlCol="0" anchor="t"/>
          <a:lstStyle/>
          <a:p>
            <a:pPr marL="0" indent="0">
              <a:buNone/>
            </a:pPr>
            <a:r>
              <a:rPr lang="en-US" sz="1300" b="1" kern="0" spc="300" dirty="0">
                <a:solidFill>
                  <a:srgbClr val="CADCFC"/>
                </a:solidFill>
                <a:latin typeface="Calibri" pitchFamily="34" charset="0"/>
                <a:ea typeface="Calibri" pitchFamily="34" charset="-122"/>
                <a:cs typeface="Calibri" pitchFamily="34" charset="-120"/>
              </a:rPr>
              <a:t>CONCLUSION</a:t>
            </a:r>
            <a:endParaRPr lang="en-US" sz="1300" dirty="0"/>
          </a:p>
        </p:txBody>
      </p:sp>
      <p:sp>
        <p:nvSpPr>
          <p:cNvPr id="4" name="Text 1"/>
          <p:cNvSpPr txBox="1"/>
          <p:nvPr/>
        </p:nvSpPr>
        <p:spPr>
          <a:xfrm>
            <a:off x="731520" y="1097280"/>
            <a:ext cx="10698480" cy="8229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Where We Stand</a:t>
            </a:r>
            <a:endParaRPr lang="en-US" sz="4000" dirty="0"/>
          </a:p>
        </p:txBody>
      </p:sp>
      <p:sp>
        <p:nvSpPr>
          <p:cNvPr id="5" name="Text 2"/>
          <p:cNvSpPr txBox="1"/>
          <p:nvPr/>
        </p:nvSpPr>
        <p:spPr>
          <a:xfrm>
            <a:off x="731520" y="2148840"/>
            <a:ext cx="10424160" cy="3108960"/>
          </a:xfrm>
          <a:prstGeom prst="rect">
            <a:avLst/>
          </a:prstGeom>
          <a:noFill/>
          <a:ln/>
        </p:spPr>
        <p:txBody>
          <a:bodyPr wrap="square" lIns="0" tIns="0" rIns="0" bIns="0" rtlCol="0" anchor="t"/>
          <a:lstStyle/>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One lightweight network (24.4 M parameters) reaches diagnosis AUC 0.901, kidney Dice 0.895 and lesion Dice 0.488 on lesion-bearing images</a:t>
            </a:r>
            <a:endParaRPr lang="en-US" sz="1400" dirty="0"/>
          </a:p>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A correctly formulated anatomical constraint cuts out-of-kidney lesion predictions by 77% without hurting diagnosis</a:t>
            </a:r>
            <a:endParaRPr lang="en-US" sz="1400" dirty="0"/>
          </a:p>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The optimizer study is complete and fair: COA leads, but the search setup matters as much as the algorithm</a:t>
            </a:r>
            <a:endParaRPr lang="en-US" sz="1400" dirty="0"/>
          </a:p>
          <a:p>
            <a:pPr marL="177800" indent="-1778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Cross-validation and proxy validation are scripted and ready to run</a:t>
            </a:r>
            <a:endParaRPr lang="en-US" sz="1400" dirty="0"/>
          </a:p>
        </p:txBody>
      </p:sp>
      <p:sp>
        <p:nvSpPr>
          <p:cNvPr id="6" name="Text 3"/>
          <p:cNvSpPr txBox="1"/>
          <p:nvPr/>
        </p:nvSpPr>
        <p:spPr>
          <a:xfrm>
            <a:off x="731520" y="5532120"/>
            <a:ext cx="10698480" cy="548640"/>
          </a:xfrm>
          <a:prstGeom prst="rect">
            <a:avLst/>
          </a:prstGeom>
          <a:noFill/>
          <a:ln/>
        </p:spPr>
        <p:txBody>
          <a:bodyPr wrap="square" lIns="0" tIns="0" rIns="0" bIns="0" rtlCol="0" anchor="t"/>
          <a:lstStyle/>
          <a:p>
            <a:pPr marL="0" indent="0">
              <a:buNone/>
            </a:pPr>
            <a:r>
              <a:rPr lang="en-US" sz="2400" b="1" dirty="0">
                <a:solidFill>
                  <a:srgbClr val="CADCFC"/>
                </a:solidFill>
                <a:latin typeface="Cambria" pitchFamily="34" charset="0"/>
                <a:ea typeface="Cambria" pitchFamily="34" charset="-122"/>
                <a:cs typeface="Cambria" pitchFamily="34" charset="-120"/>
              </a:rPr>
              <a:t>Thank you.</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6585</Words>
  <Application>Microsoft Office PowerPoint</Application>
  <PresentationFormat>Widescreen</PresentationFormat>
  <Paragraphs>666</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Optimization-Based Deep Learning Framework for Kidney Disease Detection and Segmentation</dc:title>
  <dc:subject>PptxGenJS Presentation</dc:subject>
  <dc:creator>Anubhav Rawat, Kaustubh</dc:creator>
  <cp:lastModifiedBy>Anubhav Rawat</cp:lastModifiedBy>
  <cp:revision>5</cp:revision>
  <dcterms:created xsi:type="dcterms:W3CDTF">2026-09-15T06:19:54Z</dcterms:created>
  <dcterms:modified xsi:type="dcterms:W3CDTF">2026-09-15T09:14:04Z</dcterms:modified>
</cp:coreProperties>
</file>